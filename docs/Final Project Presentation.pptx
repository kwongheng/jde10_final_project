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8" r:id="rId4"/>
  </p:sldMasterIdLst>
  <p:notesMasterIdLst>
    <p:notesMasterId r:id="rId44"/>
  </p:notesMasterIdLst>
  <p:sldIdLst>
    <p:sldId id="256" r:id="rId5"/>
    <p:sldId id="306" r:id="rId6"/>
    <p:sldId id="267" r:id="rId7"/>
    <p:sldId id="292" r:id="rId8"/>
    <p:sldId id="266" r:id="rId9"/>
    <p:sldId id="259" r:id="rId10"/>
    <p:sldId id="260" r:id="rId11"/>
    <p:sldId id="261" r:id="rId12"/>
    <p:sldId id="272" r:id="rId13"/>
    <p:sldId id="289" r:id="rId14"/>
    <p:sldId id="288" r:id="rId15"/>
    <p:sldId id="290" r:id="rId16"/>
    <p:sldId id="275" r:id="rId17"/>
    <p:sldId id="274" r:id="rId18"/>
    <p:sldId id="276" r:id="rId19"/>
    <p:sldId id="277" r:id="rId20"/>
    <p:sldId id="279" r:id="rId21"/>
    <p:sldId id="293" r:id="rId22"/>
    <p:sldId id="311" r:id="rId23"/>
    <p:sldId id="300" r:id="rId24"/>
    <p:sldId id="301" r:id="rId25"/>
    <p:sldId id="302" r:id="rId26"/>
    <p:sldId id="303" r:id="rId27"/>
    <p:sldId id="304" r:id="rId28"/>
    <p:sldId id="305" r:id="rId29"/>
    <p:sldId id="257" r:id="rId30"/>
    <p:sldId id="285" r:id="rId31"/>
    <p:sldId id="258" r:id="rId32"/>
    <p:sldId id="284" r:id="rId33"/>
    <p:sldId id="286" r:id="rId34"/>
    <p:sldId id="310" r:id="rId35"/>
    <p:sldId id="309" r:id="rId36"/>
    <p:sldId id="291" r:id="rId37"/>
    <p:sldId id="283" r:id="rId38"/>
    <p:sldId id="262" r:id="rId39"/>
    <p:sldId id="308" r:id="rId40"/>
    <p:sldId id="312" r:id="rId41"/>
    <p:sldId id="313" r:id="rId42"/>
    <p:sldId id="31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amp; context" id="{1035CF8A-E3AB-41FA-A661-B0A84B6088F2}">
          <p14:sldIdLst>
            <p14:sldId id="256"/>
            <p14:sldId id="306"/>
            <p14:sldId id="267"/>
            <p14:sldId id="292"/>
            <p14:sldId id="266"/>
          </p14:sldIdLst>
        </p14:section>
        <p14:section name="Technical Architecture " id="{D690B516-3193-4ECC-A0E7-803CAA67E1BA}">
          <p14:sldIdLst>
            <p14:sldId id="259"/>
            <p14:sldId id="260"/>
          </p14:sldIdLst>
        </p14:section>
        <p14:section name="Data engineering" id="{ABB5337C-D09F-4C48-A0CD-9E17F7B2DFB9}">
          <p14:sldIdLst>
            <p14:sldId id="261"/>
            <p14:sldId id="272"/>
            <p14:sldId id="289"/>
            <p14:sldId id="288"/>
            <p14:sldId id="290"/>
            <p14:sldId id="275"/>
            <p14:sldId id="274"/>
            <p14:sldId id="276"/>
            <p14:sldId id="277"/>
            <p14:sldId id="279"/>
          </p14:sldIdLst>
        </p14:section>
        <p14:section name="Insights on dual model approach" id="{F47D09FB-DE20-4318-88CC-C2154CA571D5}">
          <p14:sldIdLst>
            <p14:sldId id="293"/>
            <p14:sldId id="311"/>
            <p14:sldId id="300"/>
            <p14:sldId id="301"/>
            <p14:sldId id="302"/>
            <p14:sldId id="303"/>
            <p14:sldId id="304"/>
            <p14:sldId id="305"/>
            <p14:sldId id="257"/>
            <p14:sldId id="285"/>
            <p14:sldId id="258"/>
            <p14:sldId id="284"/>
            <p14:sldId id="286"/>
            <p14:sldId id="310"/>
            <p14:sldId id="309"/>
          </p14:sldIdLst>
        </p14:section>
        <p14:section name="Archives" id="{083FA85D-9DA3-4444-9CE4-A2C9B9E63E39}">
          <p14:sldIdLst>
            <p14:sldId id="291"/>
            <p14:sldId id="283"/>
            <p14:sldId id="262"/>
            <p14:sldId id="308"/>
            <p14:sldId id="312"/>
            <p14:sldId id="313"/>
            <p14:sldId id="31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F5C542"/>
    <a:srgbClr val="022549"/>
    <a:srgbClr val="1F8FE5"/>
    <a:srgbClr val="0B1F3A"/>
    <a:srgbClr val="071A2F"/>
    <a:srgbClr val="163E64"/>
    <a:srgbClr val="0D823B"/>
    <a:srgbClr val="163D63"/>
    <a:srgbClr val="5C33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25" dt="2026-10-06T02:49:27.802"/>
    <p1510:client id="{04AA7AC7-5E83-B3E9-C29C-DEE14C89CC58}" v="1875" dt="2026-10-05T18:24:24.708"/>
    <p1510:client id="{1D2FB395-69ED-FBCB-9C3E-A58248F44E65}" v="365" dt="2026-10-06T00:23:47.257"/>
    <p1510:client id="{244DD740-1520-602A-E29A-875284C16A40}" v="459" dt="2026-10-06T02:49:14.440"/>
    <p1510:client id="{28CCE737-3364-F9C7-AD3B-C0A9B8527ECD}" v="889" dt="2026-10-05T08:31:51.553"/>
    <p1510:client id="{2F6A54DD-1CDC-60E6-C65A-1EC8EEA3B319}" v="17" dt="2026-10-04T23:40:35.409"/>
    <p1510:client id="{3132E561-05E4-7A70-8F97-FD6B6D993DE3}" v="281" dt="2026-10-05T05:05:07.139"/>
    <p1510:client id="{3F79790B-B2A5-7766-AAAC-C0485F54F416}" v="35" dt="2026-10-06T02:21:02.801"/>
    <p1510:client id="{40BCBF4C-E4FA-21E0-34D8-D098ABEDBD66}" v="608" dt="2026-10-05T02:35:41.758"/>
    <p1510:client id="{521F52B4-A91B-F756-3AA7-969741C585FF}" v="1315" dt="2026-10-05T05:07:51.508"/>
    <p1510:client id="{667DCD3C-7F8E-DD30-0C36-897F89927290}" v="126" dt="2026-10-05T23:23:36.178"/>
    <p1510:client id="{6E09D44D-ED5E-F8D5-C7D5-0BEB4D34327C}" v="1" dt="2026-10-06T02:34:11.427"/>
    <p1510:client id="{B561E502-15C8-CB56-3BDD-B19895C76327}" v="1534" dt="2026-10-04T18:49:34.066"/>
    <p1510:client id="{DCA72535-4F2F-D691-AB06-E2196602010B}" v="223" dt="2026-10-06T01:35:34.832"/>
    <p1510:client id="{EC117D86-567A-B722-98DF-CC394E468743}" v="3" dt="2026-10-04T22:07:19.577"/>
    <p1510:client id="{F4EDD65C-9C11-7B43-0576-305FA5980003}" v="10" dt="2026-10-05T07:07:30.5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E6D8A-90A9-4111-9D13-EA87FEEC8D84}" type="datetimeFigureOut">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FB372-5A58-4E06-97F0-041ECEE07415}" type="slidenum">
              <a:t>‹#›</a:t>
            </a:fld>
            <a:endParaRPr lang="en-US"/>
          </a:p>
        </p:txBody>
      </p:sp>
    </p:spTree>
    <p:extLst>
      <p:ext uri="{BB962C8B-B14F-4D97-AF65-F5344CB8AC3E}">
        <p14:creationId xmlns:p14="http://schemas.microsoft.com/office/powerpoint/2010/main" val="3038384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Alternative subtitle: </a:t>
            </a:r>
            <a:r>
              <a:rPr lang="en-US"/>
              <a:t>Turning Kaggle NHL Data into Winning Insights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4EFB372-5A58-4E06-97F0-041ECEE07415}" type="slidenum">
              <a:t>1</a:t>
            </a:fld>
            <a:endParaRPr lang="en-US"/>
          </a:p>
        </p:txBody>
      </p:sp>
    </p:spTree>
    <p:extLst>
      <p:ext uri="{BB962C8B-B14F-4D97-AF65-F5344CB8AC3E}">
        <p14:creationId xmlns:p14="http://schemas.microsoft.com/office/powerpoint/2010/main" val="1964837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ts val="1000"/>
              </a:spcBef>
            </a:pPr>
            <a:r>
              <a:rPr lang="en-US"/>
              <a:t>Lack domain knowledge, need to under the game of ice hockey</a:t>
            </a:r>
          </a:p>
          <a:p>
            <a:pPr>
              <a:lnSpc>
                <a:spcPct val="80000"/>
              </a:lnSpc>
              <a:spcBef>
                <a:spcPts val="1000"/>
              </a:spcBef>
            </a:pPr>
            <a:r>
              <a:rPr lang="en-US"/>
              <a:t>Azure Fabric free edition limitation</a:t>
            </a:r>
          </a:p>
          <a:p>
            <a:pPr lvl="1">
              <a:lnSpc>
                <a:spcPct val="80000"/>
              </a:lnSpc>
              <a:spcBef>
                <a:spcPts val="1000"/>
              </a:spcBef>
              <a:buFont typeface="Courier New,monospace"/>
              <a:buChar char="•"/>
            </a:pPr>
            <a:r>
              <a:rPr lang="en-US"/>
              <a:t>Cannot connect to </a:t>
            </a:r>
            <a:r>
              <a:rPr lang="en-US" err="1"/>
              <a:t>github</a:t>
            </a:r>
            <a:r>
              <a:rPr lang="en-US"/>
              <a:t>, require paid account to setup DevOps</a:t>
            </a:r>
          </a:p>
          <a:p>
            <a:pPr lvl="1">
              <a:lnSpc>
                <a:spcPct val="80000"/>
              </a:lnSpc>
              <a:spcBef>
                <a:spcPts val="1000"/>
              </a:spcBef>
              <a:buFont typeface="Courier New,monospace"/>
              <a:buChar char="•"/>
            </a:pPr>
            <a:r>
              <a:rPr lang="en-US"/>
              <a:t>Only those with paid accounts or accounts longer than 90 days can create ON account to get free account</a:t>
            </a:r>
          </a:p>
          <a:p>
            <a:pPr lvl="1">
              <a:lnSpc>
                <a:spcPct val="80000"/>
              </a:lnSpc>
              <a:spcBef>
                <a:spcPts val="1000"/>
              </a:spcBef>
              <a:buFont typeface="Courier New,monospace"/>
              <a:buChar char="•"/>
            </a:pPr>
            <a:r>
              <a:rPr lang="en-US"/>
              <a:t>Don't have access to data factory, use pipelines, no orchestration or loading of </a:t>
            </a:r>
            <a:r>
              <a:rPr lang="en-US" err="1"/>
              <a:t>datalake</a:t>
            </a:r>
            <a:r>
              <a:rPr lang="en-US"/>
              <a:t> for example, all notebooks must be connected correct for execution.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4EFB372-5A58-4E06-97F0-041ECEE07415}" type="slidenum">
              <a:rPr lang="en-US"/>
              <a:t>7</a:t>
            </a:fld>
            <a:endParaRPr lang="en-US"/>
          </a:p>
        </p:txBody>
      </p:sp>
    </p:spTree>
    <p:extLst>
      <p:ext uri="{BB962C8B-B14F-4D97-AF65-F5344CB8AC3E}">
        <p14:creationId xmlns:p14="http://schemas.microsoft.com/office/powerpoint/2010/main" val="3553948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80000"/>
              </a:lnSpc>
              <a:spcBef>
                <a:spcPts val="1000"/>
              </a:spcBef>
              <a:buFont typeface="Calibri,Sans-Serif"/>
              <a:buChar char="-"/>
            </a:pPr>
            <a:r>
              <a:rPr lang="en-US"/>
              <a:t>Duplicated rows: identified in raw CSVs (do we pre-clean or leave it to silver phase?)</a:t>
            </a:r>
          </a:p>
          <a:p>
            <a:pPr marL="285750" indent="-285750">
              <a:lnSpc>
                <a:spcPct val="80000"/>
              </a:lnSpc>
              <a:spcBef>
                <a:spcPts val="1000"/>
              </a:spcBef>
              <a:buFont typeface="Calibri,Sans-Serif"/>
              <a:buChar char="-"/>
            </a:pPr>
            <a:r>
              <a:rPr lang="en-US"/>
              <a:t>Referential integrity: Enforced valid foreign keys across: </a:t>
            </a:r>
            <a:r>
              <a:rPr lang="en-US" err="1"/>
              <a:t>team_id</a:t>
            </a:r>
            <a:r>
              <a:rPr lang="en-US"/>
              <a:t>, </a:t>
            </a:r>
            <a:r>
              <a:rPr lang="en-US" err="1"/>
              <a:t>player_id</a:t>
            </a:r>
            <a:r>
              <a:rPr lang="en-US"/>
              <a:t> and </a:t>
            </a:r>
            <a:r>
              <a:rPr lang="en-US" err="1"/>
              <a:t>game_id</a:t>
            </a:r>
            <a:endParaRPr lang="en-US"/>
          </a:p>
          <a:p>
            <a:pPr marL="514350" lvl="1" indent="-285750">
              <a:lnSpc>
                <a:spcPct val="80000"/>
              </a:lnSpc>
              <a:spcBef>
                <a:spcPts val="1000"/>
              </a:spcBef>
              <a:buFont typeface="Courier New,monospace"/>
              <a:buChar char="•"/>
            </a:pPr>
            <a:endParaRPr lang="en-US"/>
          </a:p>
          <a:p>
            <a:pPr marL="285750" indent="-285750">
              <a:lnSpc>
                <a:spcPct val="80000"/>
              </a:lnSpc>
              <a:spcBef>
                <a:spcPts val="1000"/>
              </a:spcBef>
              <a:buFont typeface="Calibri,Sans-Serif"/>
              <a:buChar char="-"/>
            </a:pPr>
            <a:r>
              <a:rPr lang="en-US"/>
              <a:t>Handling null values:</a:t>
            </a:r>
          </a:p>
          <a:p>
            <a:pPr marL="514350" lvl="1" indent="-285750">
              <a:lnSpc>
                <a:spcPct val="80000"/>
              </a:lnSpc>
              <a:spcBef>
                <a:spcPts val="1000"/>
              </a:spcBef>
              <a:buFont typeface="Courier New,monospace"/>
              <a:buChar char="•"/>
            </a:pPr>
            <a:r>
              <a:rPr lang="en-US"/>
              <a:t>Expected null values</a:t>
            </a:r>
          </a:p>
          <a:p>
            <a:pPr marL="514350" lvl="1" indent="-285750">
              <a:lnSpc>
                <a:spcPct val="80000"/>
              </a:lnSpc>
              <a:spcBef>
                <a:spcPts val="1000"/>
              </a:spcBef>
              <a:buFont typeface="Courier New,monospace"/>
              <a:buChar char="•"/>
            </a:pPr>
            <a:r>
              <a:rPr lang="en-US"/>
              <a:t>Filing "Nationality" with "None"</a:t>
            </a:r>
          </a:p>
          <a:p>
            <a:pPr marL="285750" indent="-285750">
              <a:lnSpc>
                <a:spcPct val="80000"/>
              </a:lnSpc>
              <a:spcBef>
                <a:spcPts val="1000"/>
              </a:spcBef>
              <a:buFont typeface="Calibri,Sans-Serif"/>
              <a:buChar char="-"/>
            </a:pPr>
            <a:r>
              <a:rPr lang="en-US"/>
              <a:t>Data, expect </a:t>
            </a:r>
            <a:r>
              <a:rPr lang="en-US" err="1"/>
              <a:t>player_info</a:t>
            </a:r>
            <a:r>
              <a:rPr lang="en-US"/>
              <a:t> and </a:t>
            </a:r>
            <a:r>
              <a:rPr lang="en-US" err="1"/>
              <a:t>team_info</a:t>
            </a:r>
            <a:r>
              <a:rPr lang="en-US"/>
              <a:t> row to update over time, e.g. change of nationality, play position or team name changed</a:t>
            </a:r>
          </a:p>
          <a:p>
            <a:pPr marL="285750" indent="-285750">
              <a:lnSpc>
                <a:spcPct val="80000"/>
              </a:lnSpc>
              <a:spcBef>
                <a:spcPts val="1000"/>
              </a:spcBef>
              <a:buFont typeface="Calibri,Sans-Serif"/>
              <a:buChar char="-"/>
            </a:pPr>
            <a:r>
              <a:rPr lang="en-US"/>
              <a:t>The rest only expect new games to be added, should not have up dated/deleted rows</a:t>
            </a:r>
          </a:p>
          <a:p>
            <a:pPr marL="285750" indent="-285750">
              <a:lnSpc>
                <a:spcPct val="80000"/>
              </a:lnSpc>
              <a:spcBef>
                <a:spcPts val="1000"/>
              </a:spcBef>
              <a:buFont typeface="Calibri,Sans-Serif"/>
              <a:buChar char="-"/>
            </a:pPr>
            <a:r>
              <a:rPr lang="en-US"/>
              <a:t>Column selection</a:t>
            </a:r>
          </a:p>
          <a:p>
            <a:pPr marL="285750" indent="-285750">
              <a:lnSpc>
                <a:spcPct val="80000"/>
              </a:lnSpc>
              <a:spcBef>
                <a:spcPts val="1000"/>
              </a:spcBef>
              <a:buFont typeface="Calibri,Sans-Serif"/>
              <a:buChar char="-"/>
            </a:pPr>
            <a:r>
              <a:rPr lang="en-US"/>
              <a:t>Valid values (e.g. types, position)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4EFB372-5A58-4E06-97F0-041ECEE07415}" type="slidenum">
              <a:rPr lang="en-US"/>
              <a:t>9</a:t>
            </a:fld>
            <a:endParaRPr lang="en-US"/>
          </a:p>
        </p:txBody>
      </p:sp>
    </p:spTree>
    <p:extLst>
      <p:ext uri="{BB962C8B-B14F-4D97-AF65-F5344CB8AC3E}">
        <p14:creationId xmlns:p14="http://schemas.microsoft.com/office/powerpoint/2010/main" val="3826136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80000"/>
              </a:lnSpc>
              <a:spcBef>
                <a:spcPts val="1000"/>
              </a:spcBef>
              <a:buFont typeface="Calibri,Sans-Serif"/>
              <a:buChar char="-"/>
            </a:pPr>
            <a:r>
              <a:rPr lang="en-US"/>
              <a:t>Original assumption, one time download, tables recreated every run</a:t>
            </a:r>
          </a:p>
          <a:p>
            <a:pPr marL="285750" indent="-285750">
              <a:lnSpc>
                <a:spcPct val="80000"/>
              </a:lnSpc>
              <a:spcBef>
                <a:spcPts val="1000"/>
              </a:spcBef>
              <a:buFont typeface="Calibri,Sans-Serif"/>
              <a:buChar char="-"/>
            </a:pPr>
            <a:r>
              <a:rPr lang="en-US"/>
              <a:t>What if new data came in, example from new seasons?</a:t>
            </a:r>
            <a:endParaRPr lang="en-US">
              <a:ea typeface="Calibri"/>
              <a:cs typeface="Calibri"/>
            </a:endParaRPr>
          </a:p>
          <a:p>
            <a:pPr marL="514350" lvl="1" indent="-285750">
              <a:lnSpc>
                <a:spcPct val="80000"/>
              </a:lnSpc>
              <a:spcBef>
                <a:spcPts val="1000"/>
              </a:spcBef>
              <a:buFont typeface="Courier New,monospace"/>
              <a:buChar char="•"/>
            </a:pPr>
            <a:r>
              <a:rPr lang="en-US"/>
              <a:t>Assumption: </a:t>
            </a:r>
            <a:endParaRPr lang="en-US">
              <a:ea typeface="Calibri"/>
              <a:cs typeface="Calibri"/>
            </a:endParaRPr>
          </a:p>
          <a:p>
            <a:pPr marL="742950" lvl="2" indent="-285750">
              <a:lnSpc>
                <a:spcPct val="80000"/>
              </a:lnSpc>
              <a:spcBef>
                <a:spcPts val="1000"/>
              </a:spcBef>
              <a:buFont typeface="Wingdings,sans-serif"/>
              <a:buChar char="•"/>
            </a:pPr>
            <a:r>
              <a:rPr lang="en-US"/>
              <a:t>the csv file name is always the same, but contents can be different</a:t>
            </a:r>
            <a:endParaRPr lang="en-US">
              <a:ea typeface="Calibri"/>
              <a:cs typeface="Calibri"/>
            </a:endParaRPr>
          </a:p>
          <a:p>
            <a:pPr marL="742950" lvl="2" indent="-285750">
              <a:lnSpc>
                <a:spcPct val="80000"/>
              </a:lnSpc>
              <a:spcBef>
                <a:spcPts val="1000"/>
              </a:spcBef>
              <a:buFont typeface="Wingdings,sans-serif"/>
              <a:buChar char="•"/>
            </a:pPr>
            <a:r>
              <a:rPr lang="en-US"/>
              <a:t>Updates to rows in </a:t>
            </a:r>
            <a:r>
              <a:rPr lang="en-US" err="1"/>
              <a:t>player_info</a:t>
            </a:r>
            <a:r>
              <a:rPr lang="en-US"/>
              <a:t> and </a:t>
            </a:r>
            <a:r>
              <a:rPr lang="en-US" err="1"/>
              <a:t>team_info</a:t>
            </a:r>
            <a:r>
              <a:rPr lang="en-US"/>
              <a:t> file over time:</a:t>
            </a:r>
            <a:endParaRPr lang="en-US">
              <a:ea typeface="Calibri"/>
              <a:cs typeface="Calibri"/>
            </a:endParaRPr>
          </a:p>
          <a:p>
            <a:pPr marL="971550" lvl="3" indent="-285750">
              <a:lnSpc>
                <a:spcPct val="80000"/>
              </a:lnSpc>
              <a:spcBef>
                <a:spcPts val="1000"/>
              </a:spcBef>
              <a:buFont typeface="Calibri,Sans-Serif"/>
              <a:buChar char="•"/>
            </a:pPr>
            <a:r>
              <a:rPr lang="en-US"/>
              <a:t>Nationality, play position, team name, abbreviation</a:t>
            </a:r>
            <a:endParaRPr lang="en-US">
              <a:ea typeface="Calibri"/>
              <a:cs typeface="Calibri"/>
            </a:endParaRPr>
          </a:p>
          <a:p>
            <a:pPr marL="742950" lvl="2" indent="-285750">
              <a:lnSpc>
                <a:spcPct val="80000"/>
              </a:lnSpc>
              <a:spcBef>
                <a:spcPts val="1000"/>
              </a:spcBef>
              <a:buFont typeface="Wingdings,sans-serif"/>
              <a:buChar char="•"/>
            </a:pPr>
            <a:r>
              <a:rPr lang="en-US"/>
              <a:t>All other files should only contain new rows, not updated rows</a:t>
            </a:r>
            <a:endParaRPr lang="en-US">
              <a:ea typeface="Calibri"/>
              <a:cs typeface="Calibri"/>
            </a:endParaRPr>
          </a:p>
          <a:p>
            <a:pPr marL="285750" indent="-285750">
              <a:lnSpc>
                <a:spcPct val="80000"/>
              </a:lnSpc>
              <a:spcBef>
                <a:spcPts val="1000"/>
              </a:spcBef>
              <a:buFont typeface="Calibri,Sans-Serif"/>
              <a:buChar char="-"/>
            </a:pPr>
            <a:r>
              <a:rPr lang="en-US"/>
              <a:t>Create audit columns:</a:t>
            </a:r>
            <a:endParaRPr lang="en-US">
              <a:ea typeface="Calibri"/>
              <a:cs typeface="Calibri"/>
            </a:endParaRPr>
          </a:p>
          <a:p>
            <a:pPr marL="514350" lvl="1" indent="-285750">
              <a:lnSpc>
                <a:spcPct val="80000"/>
              </a:lnSpc>
              <a:spcBef>
                <a:spcPts val="1000"/>
              </a:spcBef>
              <a:buFont typeface="Courier New,monospace"/>
              <a:buChar char="•"/>
            </a:pPr>
            <a:r>
              <a:rPr lang="en-US"/>
              <a:t>CSV download:</a:t>
            </a:r>
            <a:endParaRPr lang="en-US">
              <a:ea typeface="Calibri"/>
              <a:cs typeface="Calibri"/>
            </a:endParaRPr>
          </a:p>
          <a:p>
            <a:pPr marL="742950" lvl="2" indent="-285750">
              <a:lnSpc>
                <a:spcPct val="80000"/>
              </a:lnSpc>
              <a:spcBef>
                <a:spcPts val="1000"/>
              </a:spcBef>
              <a:buFont typeface="Wingdings,sans-serif"/>
              <a:buChar char="•"/>
            </a:pPr>
            <a:r>
              <a:rPr lang="en-US"/>
              <a:t>Table: </a:t>
            </a:r>
            <a:r>
              <a:rPr lang="en-US" err="1"/>
              <a:t>dbo_file_manifest</a:t>
            </a:r>
            <a:r>
              <a:rPr lang="en-US"/>
              <a:t> (tracks content changes)</a:t>
            </a:r>
            <a:endParaRPr lang="en-US">
              <a:ea typeface="Calibri"/>
              <a:cs typeface="Calibri"/>
            </a:endParaRPr>
          </a:p>
          <a:p>
            <a:pPr marL="171450" indent="-171450">
              <a:buFont typeface="Arial"/>
              <a:buChar char="•"/>
            </a:pPr>
            <a:endParaRPr lang="en-US"/>
          </a:p>
        </p:txBody>
      </p:sp>
      <p:sp>
        <p:nvSpPr>
          <p:cNvPr id="4" name="Slide Number Placeholder 3"/>
          <p:cNvSpPr>
            <a:spLocks noGrp="1"/>
          </p:cNvSpPr>
          <p:nvPr>
            <p:ph type="sldNum" sz="quarter" idx="5"/>
          </p:nvPr>
        </p:nvSpPr>
        <p:spPr/>
        <p:txBody>
          <a:bodyPr/>
          <a:lstStyle/>
          <a:p>
            <a:fld id="{04EFB372-5A58-4E06-97F0-041ECEE07415}" type="slidenum">
              <a:rPr lang="en-US"/>
              <a:t>13</a:t>
            </a:fld>
            <a:endParaRPr lang="en-US"/>
          </a:p>
        </p:txBody>
      </p:sp>
    </p:spTree>
    <p:extLst>
      <p:ext uri="{BB962C8B-B14F-4D97-AF65-F5344CB8AC3E}">
        <p14:creationId xmlns:p14="http://schemas.microsoft.com/office/powerpoint/2010/main" val="202981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lvl="1" indent="-285750">
              <a:lnSpc>
                <a:spcPct val="80000"/>
              </a:lnSpc>
              <a:spcBef>
                <a:spcPts val="1000"/>
              </a:spcBef>
              <a:buFont typeface="Calibri,Sans-Serif"/>
              <a:buChar char="•"/>
            </a:pPr>
            <a:r>
              <a:rPr lang="en-US"/>
              <a:t>Bronze tables:</a:t>
            </a:r>
          </a:p>
          <a:p>
            <a:pPr marL="742950" lvl="2" indent="-285750">
              <a:lnSpc>
                <a:spcPct val="80000"/>
              </a:lnSpc>
              <a:spcBef>
                <a:spcPts val="1000"/>
              </a:spcBef>
              <a:buFont typeface="Wingdings,sans-serif"/>
              <a:buChar char="•"/>
            </a:pPr>
            <a:r>
              <a:rPr lang="en-US"/>
              <a:t>Only append new and updated rows</a:t>
            </a:r>
          </a:p>
          <a:p>
            <a:pPr marL="742950" lvl="2" indent="-285750">
              <a:lnSpc>
                <a:spcPct val="80000"/>
              </a:lnSpc>
              <a:spcBef>
                <a:spcPts val="1000"/>
              </a:spcBef>
              <a:buFont typeface="Wingdings,sans-serif"/>
              <a:buChar char="•"/>
            </a:pPr>
            <a:r>
              <a:rPr lang="en-US"/>
              <a:t>Add audit columns:</a:t>
            </a:r>
            <a:endParaRPr lang="en-US">
              <a:ea typeface="Calibri"/>
              <a:cs typeface="Calibri"/>
            </a:endParaRPr>
          </a:p>
          <a:p>
            <a:pPr marL="971550" lvl="3" indent="-285750">
              <a:lnSpc>
                <a:spcPct val="80000"/>
              </a:lnSpc>
              <a:spcBef>
                <a:spcPts val="1000"/>
              </a:spcBef>
              <a:buFont typeface="Calibri,Sans-Serif"/>
              <a:buChar char="•"/>
            </a:pPr>
            <a:r>
              <a:rPr lang="en-US"/>
              <a:t>_</a:t>
            </a:r>
            <a:r>
              <a:rPr lang="en-US" err="1"/>
              <a:t>ingested_timestamp</a:t>
            </a:r>
            <a:endParaRPr lang="en-US" err="1">
              <a:ea typeface="Calibri"/>
              <a:cs typeface="Calibri"/>
            </a:endParaRPr>
          </a:p>
          <a:p>
            <a:pPr marL="971550" lvl="3" indent="-285750">
              <a:lnSpc>
                <a:spcPct val="80000"/>
              </a:lnSpc>
              <a:spcBef>
                <a:spcPts val="1000"/>
              </a:spcBef>
              <a:buFont typeface="Calibri,Sans-Serif"/>
              <a:buChar char="•"/>
            </a:pPr>
            <a:r>
              <a:rPr lang="en-US"/>
              <a:t>_source</a:t>
            </a:r>
            <a:endParaRPr lang="en-US">
              <a:ea typeface="Calibri"/>
              <a:cs typeface="Calibri"/>
            </a:endParaRPr>
          </a:p>
          <a:p>
            <a:pPr marL="971550" lvl="3" indent="-285750">
              <a:lnSpc>
                <a:spcPct val="80000"/>
              </a:lnSpc>
              <a:spcBef>
                <a:spcPts val="1000"/>
              </a:spcBef>
              <a:buFont typeface="Calibri,Sans-Serif"/>
              <a:buChar char="•"/>
            </a:pPr>
            <a:r>
              <a:rPr lang="en-US"/>
              <a:t>_</a:t>
            </a:r>
            <a:r>
              <a:rPr lang="en-US" err="1"/>
              <a:t>row_hash</a:t>
            </a:r>
            <a:endParaRPr lang="en-US" err="1">
              <a:ea typeface="Calibri"/>
              <a:cs typeface="Calibri"/>
            </a:endParaRPr>
          </a:p>
          <a:p>
            <a:pPr marL="742950" lvl="2" indent="-285750">
              <a:lnSpc>
                <a:spcPct val="80000"/>
              </a:lnSpc>
              <a:spcBef>
                <a:spcPts val="1000"/>
              </a:spcBef>
              <a:buFont typeface="Wingdings,sans-serif"/>
              <a:buChar char="•"/>
            </a:pPr>
            <a:r>
              <a:rPr lang="en-US"/>
              <a:t>Use </a:t>
            </a:r>
            <a:r>
              <a:rPr lang="en-US" err="1"/>
              <a:t>Deltatable</a:t>
            </a:r>
            <a:r>
              <a:rPr lang="en-US"/>
              <a:t> merge:</a:t>
            </a:r>
            <a:endParaRPr lang="en-US">
              <a:ea typeface="Calibri"/>
              <a:cs typeface="Calibri"/>
            </a:endParaRPr>
          </a:p>
          <a:p>
            <a:pPr marL="971550" lvl="3" indent="-285750">
              <a:lnSpc>
                <a:spcPct val="80000"/>
              </a:lnSpc>
              <a:spcBef>
                <a:spcPts val="1000"/>
              </a:spcBef>
              <a:buFont typeface="Calibri,Sans-Serif"/>
              <a:buChar char="•"/>
            </a:pPr>
            <a:r>
              <a:rPr lang="en-US"/>
              <a:t>On _</a:t>
            </a:r>
            <a:r>
              <a:rPr lang="en-US" err="1"/>
              <a:t>row_hash</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04EFB372-5A58-4E06-97F0-041ECEE07415}" type="slidenum">
              <a:rPr lang="en-US"/>
              <a:t>14</a:t>
            </a:fld>
            <a:endParaRPr lang="en-US"/>
          </a:p>
        </p:txBody>
      </p:sp>
    </p:spTree>
    <p:extLst>
      <p:ext uri="{BB962C8B-B14F-4D97-AF65-F5344CB8AC3E}">
        <p14:creationId xmlns:p14="http://schemas.microsoft.com/office/powerpoint/2010/main" val="203244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Sans-Serif"/>
              <a:buChar char="-"/>
            </a:pPr>
            <a:r>
              <a:rPr lang="en-US"/>
              <a:t>Silver phase</a:t>
            </a:r>
          </a:p>
          <a:p>
            <a:pPr marL="742950" lvl="1" indent="-285750">
              <a:buFont typeface="Courier New,monospace"/>
              <a:buChar char="•"/>
            </a:pPr>
            <a:r>
              <a:rPr lang="en-US"/>
              <a:t>Read only new or updated rows from </a:t>
            </a:r>
            <a:r>
              <a:rPr lang="en-US" err="1"/>
              <a:t>bronzetable</a:t>
            </a:r>
            <a:endParaRPr lang="en-US" err="1">
              <a:ea typeface="Calibri"/>
              <a:cs typeface="Calibri"/>
            </a:endParaRPr>
          </a:p>
          <a:p>
            <a:pPr marL="742950" lvl="1" indent="-285750">
              <a:buFont typeface="Courier New,monospace"/>
              <a:buChar char="•"/>
            </a:pPr>
            <a:r>
              <a:rPr lang="en-US"/>
              <a:t>base silver tables -&gt; SCD Type 1 tables</a:t>
            </a:r>
            <a:endParaRPr lang="en-US">
              <a:ea typeface="Calibri"/>
              <a:cs typeface="Calibri"/>
            </a:endParaRPr>
          </a:p>
          <a:p>
            <a:pPr marL="742950" indent="-285750">
              <a:buFont typeface="Calibri,Sans-Serif"/>
              <a:buChar char="-"/>
            </a:pPr>
            <a:r>
              <a:rPr lang="en-US"/>
              <a:t>Adds column:</a:t>
            </a:r>
            <a:endParaRPr lang="en-US">
              <a:ea typeface="Calibri"/>
              <a:cs typeface="Calibri"/>
            </a:endParaRPr>
          </a:p>
          <a:p>
            <a:pPr marL="1200150" lvl="1" indent="-285750">
              <a:buFont typeface="Courier New,monospace"/>
              <a:buChar char="•"/>
            </a:pPr>
            <a:r>
              <a:rPr lang="en-US"/>
              <a:t>_</a:t>
            </a:r>
            <a:r>
              <a:rPr lang="en-US" err="1"/>
              <a:t>bronze_ingested_timestamp</a:t>
            </a:r>
            <a:endParaRPr lang="en-US" err="1">
              <a:ea typeface="Calibri"/>
              <a:cs typeface="Calibri"/>
            </a:endParaRPr>
          </a:p>
          <a:p>
            <a:pPr marL="742950" lvl="1" indent="-285750">
              <a:buFont typeface="Courier New,monospace"/>
              <a:buChar char="•"/>
            </a:pPr>
            <a:r>
              <a:rPr lang="en-US"/>
              <a:t>Use </a:t>
            </a:r>
            <a:r>
              <a:rPr lang="en-US" err="1"/>
              <a:t>Deltatable</a:t>
            </a:r>
            <a:r>
              <a:rPr lang="en-US"/>
              <a:t> to </a:t>
            </a:r>
            <a:r>
              <a:rPr lang="en-US" err="1"/>
              <a:t>upsert</a:t>
            </a:r>
            <a:endParaRPr lang="en-US" err="1">
              <a:ea typeface="Calibri"/>
              <a:cs typeface="Calibri"/>
            </a:endParaRPr>
          </a:p>
          <a:p>
            <a:pPr marL="1200150" lvl="2" indent="-285750">
              <a:buFont typeface="Wingdings,sans-serif"/>
              <a:buChar char="•"/>
            </a:pPr>
            <a:r>
              <a:rPr lang="en-US"/>
              <a:t>On primary keys AND</a:t>
            </a:r>
            <a:endParaRPr lang="en-US">
              <a:ea typeface="Calibri"/>
              <a:cs typeface="Calibri"/>
            </a:endParaRPr>
          </a:p>
          <a:p>
            <a:pPr marL="1200150" lvl="2" indent="-285750">
              <a:buFont typeface="Wingdings,sans-serif"/>
              <a:buChar char="•"/>
            </a:pPr>
            <a:r>
              <a:rPr lang="en-US"/>
              <a:t>latest ingested timestamp</a:t>
            </a:r>
            <a:endParaRPr lang="en-US">
              <a:ea typeface="Calibri"/>
              <a:cs typeface="Calibri"/>
            </a:endParaRPr>
          </a:p>
          <a:p>
            <a:pPr marL="742950" lvl="1" indent="-285750">
              <a:buFont typeface="Courier New,monospace"/>
              <a:buChar char="•"/>
            </a:pPr>
            <a:r>
              <a:rPr lang="en-US"/>
              <a:t>Intermediate silver tables recreated each run</a:t>
            </a:r>
            <a:endParaRPr lang="en-US">
              <a:ea typeface="Calibri"/>
              <a:cs typeface="Calibri"/>
            </a:endParaRPr>
          </a:p>
          <a:p>
            <a:pPr marL="285750" indent="-285750">
              <a:buFont typeface="Calibri,Sans-Serif"/>
              <a:buChar char="-"/>
            </a:pPr>
            <a:r>
              <a:rPr lang="en-US"/>
              <a:t>Gold phase</a:t>
            </a:r>
            <a:endParaRPr lang="en-US">
              <a:ea typeface="Calibri"/>
              <a:cs typeface="Calibri"/>
            </a:endParaRPr>
          </a:p>
          <a:p>
            <a:pPr marL="742950" lvl="1" indent="-285750">
              <a:buFont typeface="Courier New,monospace"/>
              <a:buChar char="•"/>
            </a:pPr>
            <a:r>
              <a:rPr lang="en-US"/>
              <a:t>Tables are created with each run</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04EFB372-5A58-4E06-97F0-041ECEE07415}" type="slidenum">
              <a:rPr lang="en-US"/>
              <a:t>15</a:t>
            </a:fld>
            <a:endParaRPr lang="en-US"/>
          </a:p>
        </p:txBody>
      </p:sp>
    </p:spTree>
    <p:extLst>
      <p:ext uri="{BB962C8B-B14F-4D97-AF65-F5344CB8AC3E}">
        <p14:creationId xmlns:p14="http://schemas.microsoft.com/office/powerpoint/2010/main" val="2257425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ffectLst/>
                <a:latin typeface="Google Sans Text"/>
              </a:rPr>
              <a:t>Let's talk about the brain behind this entire operation - Our machine learning model. </a:t>
            </a:r>
          </a:p>
          <a:p>
            <a:r>
              <a:rPr lang="en-US">
                <a:effectLst/>
                <a:latin typeface="Google Sans Text"/>
              </a:rPr>
              <a:t>You might be asking, </a:t>
            </a:r>
            <a:r>
              <a:rPr lang="en-US" i="1">
                <a:effectLst/>
                <a:latin typeface="Google Sans Text"/>
              </a:rPr>
              <a:t>'Why did we pick Logistic Regression? </a:t>
            </a:r>
          </a:p>
          <a:p>
            <a:r>
              <a:rPr lang="en-US" i="1">
                <a:effectLst/>
                <a:latin typeface="Google Sans Text"/>
              </a:rPr>
              <a:t>Isn't that the old-school math tool from the 90s? </a:t>
            </a:r>
          </a:p>
          <a:p>
            <a:r>
              <a:rPr lang="en-US" i="1">
                <a:effectLst/>
                <a:latin typeface="Google Sans Text"/>
              </a:rPr>
              <a:t>Why not use a Deep Neural Network or Decision Tree model?’</a:t>
            </a:r>
          </a:p>
          <a:p>
            <a:endParaRPr lang="en-US" i="1">
              <a:effectLst/>
              <a:latin typeface="Google Sans Text"/>
            </a:endParaRPr>
          </a:p>
          <a:p>
            <a:pPr>
              <a:buFont typeface="Arial" panose="020B0604020202020204" pitchFamily="34" charset="0"/>
              <a:buChar char="•"/>
            </a:pPr>
            <a:r>
              <a:rPr lang="en-US" b="1">
                <a:effectLst/>
                <a:latin typeface="Google Sans Text"/>
              </a:rPr>
              <a:t>Option A: </a:t>
            </a:r>
            <a:r>
              <a:rPr lang="en-US">
                <a:effectLst/>
                <a:latin typeface="Google Sans Text"/>
              </a:rPr>
              <a:t>A genius model who overthinks every single detail, including what tie the goalie wore pre-game to the arena. Over-thinking on outlier non-gameplay data. That’s what high-tech models like Neural Networks or Decision Trees do on sports data: they overfit to pure noise. </a:t>
            </a:r>
          </a:p>
          <a:p>
            <a:pPr>
              <a:buFont typeface="Arial" panose="020B0604020202020204" pitchFamily="34" charset="0"/>
              <a:buChar char="•"/>
            </a:pPr>
            <a:r>
              <a:rPr lang="en-US" b="1"/>
              <a:t>Option B:</a:t>
            </a:r>
            <a:r>
              <a:rPr lang="en-US"/>
              <a:t> Logistic Regression: a calm, disciplined accountant who looks strictly at the core stats, calculates the exact probabilities, and tells you flat out, </a:t>
            </a:r>
            <a:r>
              <a:rPr lang="en-US" i="1"/>
              <a:t>'Hey, we have a 68% chance here, and the payout makes sense’</a:t>
            </a:r>
            <a:r>
              <a:rPr lang="en-US"/>
              <a:t>. </a:t>
            </a:r>
          </a:p>
          <a:p>
            <a:pPr>
              <a:buFont typeface="Arial" panose="020B0604020202020204" pitchFamily="34" charset="0"/>
              <a:buChar char="•"/>
            </a:pPr>
            <a:endParaRPr lang="en-US">
              <a:effectLst/>
              <a:latin typeface="Google Sans Text"/>
            </a:endParaRPr>
          </a:p>
          <a:p>
            <a:r>
              <a:rPr lang="en-US" b="0">
                <a:effectLst/>
                <a:latin typeface="Google Sans Text"/>
              </a:rPr>
              <a:t>Here is why it works so well with our specific data:</a:t>
            </a:r>
          </a:p>
          <a:p>
            <a:pPr>
              <a:buFont typeface="+mj-lt"/>
              <a:buAutoNum type="arabicPeriod"/>
            </a:pPr>
            <a:r>
              <a:rPr lang="en-US" b="1">
                <a:effectLst/>
                <a:latin typeface="Google Sans Text"/>
              </a:rPr>
              <a:t>It talks in pure probabilities:</a:t>
            </a:r>
            <a:r>
              <a:rPr lang="en-US">
                <a:effectLst/>
                <a:latin typeface="Google Sans Text"/>
              </a:rPr>
              <a:t> To calculate Expected Value (EV%), we need exact win percentages, not a wild guess. </a:t>
            </a:r>
          </a:p>
          <a:p>
            <a:pPr>
              <a:buFont typeface="+mj-lt"/>
              <a:buAutoNum type="arabicPeriod"/>
            </a:pPr>
            <a:r>
              <a:rPr lang="en-US" b="1"/>
              <a:t>It thrives on our "Gap Features":</a:t>
            </a:r>
            <a:r>
              <a:rPr lang="en-US"/>
              <a:t> We feed the model simple comparative metrics - like Team A’s scoring power minus Team B’s defense. </a:t>
            </a:r>
          </a:p>
          <a:p>
            <a:pPr>
              <a:buFont typeface="+mj-lt"/>
              <a:buAutoNum type="arabicPeriod"/>
            </a:pPr>
            <a:r>
              <a:rPr lang="en-US" b="1"/>
              <a:t>It doesn't panic over random luck:</a:t>
            </a:r>
            <a:r>
              <a:rPr lang="en-US"/>
              <a:t> This model stays simple, it doesn't get distracted by one crazy blowout game last Tuesday.</a:t>
            </a:r>
            <a:endParaRPr lang="en-US">
              <a:effectLst/>
              <a:latin typeface="Google Sans Text"/>
            </a:endParaRPr>
          </a:p>
          <a:p>
            <a:endParaRPr lang="en-US">
              <a:effectLst/>
              <a:latin typeface="Google Sans Text"/>
            </a:endParaRPr>
          </a:p>
          <a:p>
            <a:endParaRPr lang="en-US"/>
          </a:p>
        </p:txBody>
      </p:sp>
      <p:sp>
        <p:nvSpPr>
          <p:cNvPr id="4" name="Slide Number Placeholder 3"/>
          <p:cNvSpPr>
            <a:spLocks noGrp="1"/>
          </p:cNvSpPr>
          <p:nvPr>
            <p:ph type="sldNum" sz="quarter" idx="5"/>
          </p:nvPr>
        </p:nvSpPr>
        <p:spPr/>
        <p:txBody>
          <a:bodyPr/>
          <a:lstStyle/>
          <a:p>
            <a:fld id="{04EFB372-5A58-4E06-97F0-041ECEE07415}" type="slidenum">
              <a:rPr lang="en-US" smtClean="0"/>
              <a:t>18</a:t>
            </a:fld>
            <a:endParaRPr lang="en-US"/>
          </a:p>
        </p:txBody>
      </p:sp>
    </p:spTree>
    <p:extLst>
      <p:ext uri="{BB962C8B-B14F-4D97-AF65-F5344CB8AC3E}">
        <p14:creationId xmlns:p14="http://schemas.microsoft.com/office/powerpoint/2010/main" val="631816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F98EB-5A71-A2BB-30CE-F2FB0F65C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8411C-6934-C285-3C31-95021BAED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B4BDD-94E4-AF00-3D3E-0622BA293F47}"/>
              </a:ext>
            </a:extLst>
          </p:cNvPr>
          <p:cNvSpPr>
            <a:spLocks noGrp="1"/>
          </p:cNvSpPr>
          <p:nvPr>
            <p:ph type="body" idx="1"/>
          </p:nvPr>
        </p:nvSpPr>
        <p:spPr/>
        <p:txBody>
          <a:bodyPr/>
          <a:lstStyle/>
          <a:p>
            <a:r>
              <a:rPr lang="en-US">
                <a:effectLst/>
                <a:latin typeface="Google Sans Text"/>
              </a:rPr>
              <a:t>Let's talk about the brain behind this entire operation - Our machine learning model. </a:t>
            </a:r>
          </a:p>
          <a:p>
            <a:r>
              <a:rPr lang="en-US">
                <a:effectLst/>
                <a:latin typeface="Google Sans Text"/>
              </a:rPr>
              <a:t>You might be asking, </a:t>
            </a:r>
            <a:r>
              <a:rPr lang="en-US" i="1">
                <a:effectLst/>
                <a:latin typeface="Google Sans Text"/>
              </a:rPr>
              <a:t>'Why did we pick Logistic Regression? </a:t>
            </a:r>
          </a:p>
          <a:p>
            <a:r>
              <a:rPr lang="en-US" i="1">
                <a:effectLst/>
                <a:latin typeface="Google Sans Text"/>
              </a:rPr>
              <a:t>Isn't that the old-school math tool from the 90s? </a:t>
            </a:r>
          </a:p>
          <a:p>
            <a:r>
              <a:rPr lang="en-US" i="1">
                <a:effectLst/>
                <a:latin typeface="Google Sans Text"/>
              </a:rPr>
              <a:t>Why not use a Deep Neural Network or Decision Tree model?’</a:t>
            </a:r>
          </a:p>
          <a:p>
            <a:endParaRPr lang="en-US" i="1">
              <a:effectLst/>
              <a:latin typeface="Google Sans Text"/>
            </a:endParaRPr>
          </a:p>
          <a:p>
            <a:pPr>
              <a:buFont typeface="Arial" panose="020B0604020202020204" pitchFamily="34" charset="0"/>
              <a:buChar char="•"/>
            </a:pPr>
            <a:r>
              <a:rPr lang="en-US" b="1">
                <a:effectLst/>
                <a:latin typeface="Google Sans Text"/>
              </a:rPr>
              <a:t>Option A: </a:t>
            </a:r>
            <a:r>
              <a:rPr lang="en-US">
                <a:effectLst/>
                <a:latin typeface="Google Sans Text"/>
              </a:rPr>
              <a:t>A genius model who overthinks every single detail, including what tie the goalie wore pre-game to the arena. Over-thinking on outlier non-gameplay data. That’s what high-tech models like Neural Networks or Decision Trees do on sports data: they overfit to pure noise. </a:t>
            </a:r>
          </a:p>
          <a:p>
            <a:pPr>
              <a:buFont typeface="Arial" panose="020B0604020202020204" pitchFamily="34" charset="0"/>
              <a:buChar char="•"/>
            </a:pPr>
            <a:r>
              <a:rPr lang="en-US" b="1"/>
              <a:t>Option B:</a:t>
            </a:r>
            <a:r>
              <a:rPr lang="en-US"/>
              <a:t> Logistic Regression: a calm, disciplined accountant who looks strictly at the core stats, calculates the exact probabilities, and tells you flat out, </a:t>
            </a:r>
            <a:r>
              <a:rPr lang="en-US" i="1"/>
              <a:t>'Hey, we have a 68% chance here, and the payout makes sense’</a:t>
            </a:r>
            <a:r>
              <a:rPr lang="en-US"/>
              <a:t>. </a:t>
            </a:r>
          </a:p>
          <a:p>
            <a:pPr>
              <a:buFont typeface="Arial" panose="020B0604020202020204" pitchFamily="34" charset="0"/>
              <a:buChar char="•"/>
            </a:pPr>
            <a:endParaRPr lang="en-US">
              <a:effectLst/>
              <a:latin typeface="Google Sans Text"/>
            </a:endParaRPr>
          </a:p>
          <a:p>
            <a:r>
              <a:rPr lang="en-US" b="0">
                <a:effectLst/>
                <a:latin typeface="Google Sans Text"/>
              </a:rPr>
              <a:t>Here is why it works so well with our specific data:</a:t>
            </a:r>
          </a:p>
          <a:p>
            <a:pPr>
              <a:buFont typeface="+mj-lt"/>
              <a:buAutoNum type="arabicPeriod"/>
            </a:pPr>
            <a:r>
              <a:rPr lang="en-US" b="1">
                <a:effectLst/>
                <a:latin typeface="Google Sans Text"/>
              </a:rPr>
              <a:t>It talks in pure probabilities:</a:t>
            </a:r>
            <a:r>
              <a:rPr lang="en-US">
                <a:effectLst/>
                <a:latin typeface="Google Sans Text"/>
              </a:rPr>
              <a:t> To calculate Expected Value (EV%), we need exact win percentages, not a wild guess. </a:t>
            </a:r>
          </a:p>
          <a:p>
            <a:pPr>
              <a:buFont typeface="+mj-lt"/>
              <a:buAutoNum type="arabicPeriod"/>
            </a:pPr>
            <a:r>
              <a:rPr lang="en-US" b="1"/>
              <a:t>It thrives on our "Gap Features":</a:t>
            </a:r>
            <a:r>
              <a:rPr lang="en-US"/>
              <a:t> We feed the model simple comparative metrics - like Team A’s scoring power minus Team B’s defense. </a:t>
            </a:r>
          </a:p>
          <a:p>
            <a:pPr>
              <a:buFont typeface="+mj-lt"/>
              <a:buAutoNum type="arabicPeriod"/>
            </a:pPr>
            <a:r>
              <a:rPr lang="en-US" b="1"/>
              <a:t>It doesn't panic over random luck:</a:t>
            </a:r>
            <a:r>
              <a:rPr lang="en-US"/>
              <a:t> This model stays simple, it doesn't get distracted by one crazy blowout game last Tuesday.</a:t>
            </a:r>
            <a:endParaRPr lang="en-US">
              <a:effectLst/>
              <a:latin typeface="Google Sans Text"/>
            </a:endParaRPr>
          </a:p>
          <a:p>
            <a:endParaRPr lang="en-US">
              <a:effectLst/>
              <a:latin typeface="Google Sans Text"/>
            </a:endParaRPr>
          </a:p>
          <a:p>
            <a:endParaRPr lang="en-US"/>
          </a:p>
        </p:txBody>
      </p:sp>
      <p:sp>
        <p:nvSpPr>
          <p:cNvPr id="4" name="Slide Number Placeholder 3">
            <a:extLst>
              <a:ext uri="{FF2B5EF4-FFF2-40B4-BE49-F238E27FC236}">
                <a16:creationId xmlns:a16="http://schemas.microsoft.com/office/drawing/2014/main" id="{96157F0F-E267-1110-4F3B-9677CBF44189}"/>
              </a:ext>
            </a:extLst>
          </p:cNvPr>
          <p:cNvSpPr>
            <a:spLocks noGrp="1"/>
          </p:cNvSpPr>
          <p:nvPr>
            <p:ph type="sldNum" sz="quarter" idx="5"/>
          </p:nvPr>
        </p:nvSpPr>
        <p:spPr/>
        <p:txBody>
          <a:bodyPr/>
          <a:lstStyle/>
          <a:p>
            <a:fld id="{04EFB372-5A58-4E06-97F0-041ECEE07415}" type="slidenum">
              <a:rPr lang="en-US" smtClean="0"/>
              <a:t>19</a:t>
            </a:fld>
            <a:endParaRPr lang="en-US"/>
          </a:p>
        </p:txBody>
      </p:sp>
    </p:spTree>
    <p:extLst>
      <p:ext uri="{BB962C8B-B14F-4D97-AF65-F5344CB8AC3E}">
        <p14:creationId xmlns:p14="http://schemas.microsoft.com/office/powerpoint/2010/main" val="1322919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ffectLst/>
                <a:latin typeface="Google Sans Text"/>
              </a:rPr>
              <a:t>Let's talk about the brain behind this entire operation - Our machine learning model. </a:t>
            </a:r>
          </a:p>
          <a:p>
            <a:r>
              <a:rPr lang="en-US">
                <a:effectLst/>
                <a:latin typeface="Google Sans Text"/>
              </a:rPr>
              <a:t>You might be asking, </a:t>
            </a:r>
            <a:r>
              <a:rPr lang="en-US" i="1">
                <a:effectLst/>
                <a:latin typeface="Google Sans Text"/>
              </a:rPr>
              <a:t>'Why did we pick Logistic Regression? </a:t>
            </a:r>
          </a:p>
          <a:p>
            <a:r>
              <a:rPr lang="en-US" i="1">
                <a:effectLst/>
                <a:latin typeface="Google Sans Text"/>
              </a:rPr>
              <a:t>Isn't that the old-school math tool from the 90s? </a:t>
            </a:r>
          </a:p>
          <a:p>
            <a:r>
              <a:rPr lang="en-US" i="1">
                <a:effectLst/>
                <a:latin typeface="Google Sans Text"/>
              </a:rPr>
              <a:t>Why not use a Deep Neural Network or Decision Tree model?’</a:t>
            </a:r>
          </a:p>
          <a:p>
            <a:endParaRPr lang="en-US" i="1">
              <a:effectLst/>
              <a:latin typeface="Google Sans Text"/>
            </a:endParaRPr>
          </a:p>
          <a:p>
            <a:pPr>
              <a:buFont typeface="Arial" panose="020B0604020202020204" pitchFamily="34" charset="0"/>
              <a:buChar char="•"/>
            </a:pPr>
            <a:r>
              <a:rPr lang="en-US" b="1">
                <a:effectLst/>
                <a:latin typeface="Google Sans Text"/>
              </a:rPr>
              <a:t>Option A: </a:t>
            </a:r>
            <a:r>
              <a:rPr lang="en-US">
                <a:effectLst/>
                <a:latin typeface="Google Sans Text"/>
              </a:rPr>
              <a:t>A genius model who overthinks every single detail, including what tie the goalie wore pre-game to the arena. Over-thinking on outlier non-gameplay data. That’s what high-tech models like Neural Networks or Decision Trees do on sports data: they overfit to pure noise. </a:t>
            </a:r>
          </a:p>
          <a:p>
            <a:pPr>
              <a:buFont typeface="Arial" panose="020B0604020202020204" pitchFamily="34" charset="0"/>
              <a:buChar char="•"/>
            </a:pPr>
            <a:r>
              <a:rPr lang="en-US" b="1"/>
              <a:t>Option B:</a:t>
            </a:r>
            <a:r>
              <a:rPr lang="en-US"/>
              <a:t> Logistic Regression: a calm, disciplined accountant who looks strictly at the core stats, calculates the exact probabilities, and tells you flat out, </a:t>
            </a:r>
            <a:r>
              <a:rPr lang="en-US" i="1"/>
              <a:t>'Hey, we have a 68% chance here, and the payout makes sense’</a:t>
            </a:r>
            <a:r>
              <a:rPr lang="en-US"/>
              <a:t>. </a:t>
            </a:r>
          </a:p>
          <a:p>
            <a:pPr>
              <a:buFont typeface="Arial" panose="020B0604020202020204" pitchFamily="34" charset="0"/>
              <a:buChar char="•"/>
            </a:pPr>
            <a:endParaRPr lang="en-US">
              <a:effectLst/>
              <a:latin typeface="Google Sans Text"/>
            </a:endParaRPr>
          </a:p>
          <a:p>
            <a:r>
              <a:rPr lang="en-US" b="0">
                <a:effectLst/>
                <a:latin typeface="Google Sans Text"/>
              </a:rPr>
              <a:t>Here is why it works so well with our specific data:</a:t>
            </a:r>
          </a:p>
          <a:p>
            <a:pPr>
              <a:buFont typeface="+mj-lt"/>
              <a:buAutoNum type="arabicPeriod"/>
            </a:pPr>
            <a:r>
              <a:rPr lang="en-US" b="1">
                <a:effectLst/>
                <a:latin typeface="Google Sans Text"/>
              </a:rPr>
              <a:t>It talks in pure probabilities:</a:t>
            </a:r>
            <a:r>
              <a:rPr lang="en-US">
                <a:effectLst/>
                <a:latin typeface="Google Sans Text"/>
              </a:rPr>
              <a:t> To calculate Expected Value (EV%), we need exact win percentages, not a wild guess. </a:t>
            </a:r>
          </a:p>
          <a:p>
            <a:pPr>
              <a:buFont typeface="+mj-lt"/>
              <a:buAutoNum type="arabicPeriod"/>
            </a:pPr>
            <a:r>
              <a:rPr lang="en-US" b="1"/>
              <a:t>It thrives on our "Gap Features":</a:t>
            </a:r>
            <a:r>
              <a:rPr lang="en-US"/>
              <a:t> We feed the model simple comparative metrics - like Team A’s scoring power minus Team B’s defense. </a:t>
            </a:r>
          </a:p>
          <a:p>
            <a:pPr>
              <a:buFont typeface="+mj-lt"/>
              <a:buAutoNum type="arabicPeriod"/>
            </a:pPr>
            <a:r>
              <a:rPr lang="en-US" b="1"/>
              <a:t>It doesn't panic over random luck:</a:t>
            </a:r>
            <a:r>
              <a:rPr lang="en-US"/>
              <a:t> This model stays simple, it doesn't get distracted by one crazy blowout game last Tuesday.</a:t>
            </a:r>
            <a:endParaRPr lang="en-US">
              <a:effectLst/>
              <a:latin typeface="Google Sans Text"/>
            </a:endParaRPr>
          </a:p>
          <a:p>
            <a:endParaRPr lang="en-US">
              <a:effectLst/>
              <a:latin typeface="Google Sans Text"/>
            </a:endParaRPr>
          </a:p>
          <a:p>
            <a:endParaRPr lang="en-US"/>
          </a:p>
        </p:txBody>
      </p:sp>
      <p:sp>
        <p:nvSpPr>
          <p:cNvPr id="4" name="Slide Number Placeholder 3"/>
          <p:cNvSpPr>
            <a:spLocks noGrp="1"/>
          </p:cNvSpPr>
          <p:nvPr>
            <p:ph type="sldNum" sz="quarter" idx="5"/>
          </p:nvPr>
        </p:nvSpPr>
        <p:spPr/>
        <p:txBody>
          <a:bodyPr/>
          <a:lstStyle/>
          <a:p>
            <a:fld id="{04EFB372-5A58-4E06-97F0-041ECEE07415}" type="slidenum">
              <a:rPr lang="en-US" smtClean="0"/>
              <a:t>19</a:t>
            </a:fld>
            <a:endParaRPr lang="en-US"/>
          </a:p>
        </p:txBody>
      </p:sp>
    </p:spTree>
    <p:extLst>
      <p:ext uri="{BB962C8B-B14F-4D97-AF65-F5344CB8AC3E}">
        <p14:creationId xmlns:p14="http://schemas.microsoft.com/office/powerpoint/2010/main" val="1882201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ffectLst/>
                <a:latin typeface="Google Sans Text"/>
              </a:rPr>
              <a:t>Now, take a look at this chart - We call this </a:t>
            </a:r>
            <a:r>
              <a:rPr lang="en-US" b="1">
                <a:effectLst/>
                <a:latin typeface="Google Sans Text"/>
              </a:rPr>
              <a:t>'The Confidence Filter’</a:t>
            </a:r>
            <a:r>
              <a:rPr lang="en-US">
                <a:effectLst/>
                <a:latin typeface="Google Sans Text"/>
              </a:rPr>
              <a:t>. </a:t>
            </a:r>
          </a:p>
          <a:p>
            <a:r>
              <a:rPr lang="en-US">
                <a:effectLst/>
                <a:latin typeface="Google Sans Text"/>
              </a:rPr>
              <a:t>The one take away is this: </a:t>
            </a:r>
            <a:r>
              <a:rPr lang="en-US" b="1">
                <a:effectLst/>
                <a:latin typeface="Google Sans Text"/>
              </a:rPr>
              <a:t>Our model is extremely picky</a:t>
            </a:r>
            <a:r>
              <a:rPr lang="en-US">
                <a:effectLst/>
                <a:latin typeface="Google Sans Text"/>
              </a:rPr>
              <a:t>. </a:t>
            </a:r>
          </a:p>
          <a:p>
            <a:r>
              <a:rPr lang="en-US">
                <a:effectLst/>
                <a:latin typeface="Google Sans Text"/>
              </a:rPr>
              <a:t>Think of our algorithm as a stern night-club bouncer. </a:t>
            </a:r>
          </a:p>
          <a:p>
            <a:endParaRPr lang="en-US">
              <a:effectLst/>
              <a:latin typeface="Google Sans Text"/>
            </a:endParaRPr>
          </a:p>
          <a:p>
            <a:r>
              <a:rPr lang="en-US">
                <a:effectLst/>
                <a:latin typeface="Google Sans Text"/>
              </a:rPr>
              <a:t>Most novice bettors run into the Singapore casino and bet on every single game. Hey, I paid the entrance fee – must make the most in quick time! </a:t>
            </a:r>
          </a:p>
          <a:p>
            <a:endParaRPr lang="en-US">
              <a:effectLst/>
              <a:latin typeface="Google Sans Text"/>
            </a:endParaRPr>
          </a:p>
          <a:p>
            <a:r>
              <a:rPr lang="en-US">
                <a:effectLst/>
                <a:latin typeface="Google Sans Text"/>
              </a:rPr>
              <a:t>Our bouncer stands at the door, looks at the line-up, and throws out over 50% of the games before we even open our wallet. </a:t>
            </a:r>
          </a:p>
          <a:p>
            <a:endParaRPr lang="en-US">
              <a:effectLst/>
              <a:latin typeface="Google Sans Text"/>
            </a:endParaRPr>
          </a:p>
          <a:p>
            <a:r>
              <a:rPr lang="en-US">
                <a:effectLst/>
                <a:latin typeface="Google Sans Text"/>
              </a:rPr>
              <a:t>Here is how that plays out across our three betting markets:</a:t>
            </a:r>
          </a:p>
          <a:p>
            <a:pPr>
              <a:buFont typeface="+mj-lt"/>
              <a:buAutoNum type="arabicPeriod"/>
            </a:pPr>
            <a:r>
              <a:rPr lang="en-US" b="1" err="1">
                <a:effectLst/>
                <a:latin typeface="Google Sans Text"/>
              </a:rPr>
              <a:t>Moneyline</a:t>
            </a:r>
            <a:r>
              <a:rPr lang="en-US" b="1">
                <a:effectLst/>
                <a:latin typeface="Google Sans Text"/>
              </a:rPr>
              <a:t> (Home Win): The Ultra-Strict Bouncer</a:t>
            </a:r>
            <a:endParaRPr lang="en-US">
              <a:effectLst/>
              <a:latin typeface="Google Sans Text"/>
            </a:endParaRPr>
          </a:p>
          <a:p>
            <a:pPr marL="742950" lvl="1" indent="-285750">
              <a:buFont typeface="Arial" panose="020B0604020202020204" pitchFamily="34" charset="0"/>
              <a:buChar char="•"/>
            </a:pPr>
            <a:r>
              <a:rPr lang="en-US">
                <a:effectLst/>
                <a:latin typeface="Google Sans Text"/>
              </a:rPr>
              <a:t>We skipped a whopping </a:t>
            </a:r>
            <a:r>
              <a:rPr lang="en-US" b="1">
                <a:effectLst/>
                <a:latin typeface="Google Sans Text"/>
              </a:rPr>
              <a:t>89.56% of games (969 games)</a:t>
            </a:r>
            <a:r>
              <a:rPr lang="en-US">
                <a:effectLst/>
                <a:latin typeface="Google Sans Text"/>
              </a:rPr>
              <a:t>! Why? Because straight-up win bets are full of trap odds. Unless the model sees a clear statistical edge, it flat-out refuses to bet. </a:t>
            </a:r>
          </a:p>
          <a:p>
            <a:pPr>
              <a:buFont typeface="+mj-lt"/>
              <a:buAutoNum type="arabicPeriod"/>
            </a:pPr>
            <a:r>
              <a:rPr lang="en-US" b="1">
                <a:effectLst/>
                <a:latin typeface="Google Sans Text"/>
              </a:rPr>
              <a:t>Puck Line (Home +1.5): The Open Door Policy</a:t>
            </a:r>
            <a:endParaRPr lang="en-US">
              <a:effectLst/>
              <a:latin typeface="Google Sans Text"/>
            </a:endParaRPr>
          </a:p>
          <a:p>
            <a:pPr marL="742950" lvl="1" indent="-285750">
              <a:buFont typeface="Arial" panose="020B0604020202020204" pitchFamily="34" charset="0"/>
              <a:buChar char="•"/>
            </a:pPr>
            <a:r>
              <a:rPr lang="en-US">
                <a:effectLst/>
                <a:latin typeface="Google Sans Text"/>
              </a:rPr>
              <a:t>Here, we committed to </a:t>
            </a:r>
            <a:r>
              <a:rPr lang="en-US" b="1">
                <a:effectLst/>
                <a:latin typeface="Google Sans Text"/>
              </a:rPr>
              <a:t>99.17% of bets (1,073 games)</a:t>
            </a:r>
            <a:r>
              <a:rPr lang="en-US">
                <a:effectLst/>
                <a:latin typeface="Google Sans Text"/>
              </a:rPr>
              <a:t>. Getting a +1.5 goal cushion means even if our team loses by 1 goal, we still win the bet! The model loves this safety buffer, so almost every game qualifies. </a:t>
            </a:r>
          </a:p>
          <a:p>
            <a:pPr>
              <a:buFont typeface="+mj-lt"/>
              <a:buAutoNum type="arabicPeriod"/>
            </a:pPr>
            <a:r>
              <a:rPr lang="en-US" b="1">
                <a:effectLst/>
                <a:latin typeface="Google Sans Text"/>
              </a:rPr>
              <a:t>Totals (Over 5.5): The Selective VIP List</a:t>
            </a:r>
            <a:endParaRPr lang="en-US">
              <a:effectLst/>
              <a:latin typeface="Google Sans Text"/>
            </a:endParaRPr>
          </a:p>
          <a:p>
            <a:pPr marL="742950" lvl="1" indent="-285750">
              <a:buFont typeface="+mj-lt"/>
              <a:buAutoNum type="arabicPeriod"/>
            </a:pPr>
            <a:r>
              <a:rPr lang="en-US">
                <a:effectLst/>
                <a:latin typeface="Google Sans Text"/>
              </a:rPr>
              <a:t>Predicting goal totals is tricky business. Our model rejects </a:t>
            </a:r>
            <a:r>
              <a:rPr lang="en-US" b="1">
                <a:effectLst/>
                <a:latin typeface="Google Sans Text"/>
              </a:rPr>
              <a:t>64.33% of games (696 games)</a:t>
            </a:r>
            <a:r>
              <a:rPr lang="en-US">
                <a:effectLst/>
                <a:latin typeface="Google Sans Text"/>
              </a:rPr>
              <a:t> and only places wagers on the </a:t>
            </a:r>
            <a:r>
              <a:rPr lang="en-US" b="1">
                <a:effectLst/>
                <a:latin typeface="Google Sans Text"/>
              </a:rPr>
              <a:t>35.67% (386 games)</a:t>
            </a:r>
            <a:r>
              <a:rPr lang="en-US">
                <a:effectLst/>
                <a:latin typeface="Google Sans Text"/>
              </a:rPr>
              <a:t> where goal-scoring trends are crystal clear. </a:t>
            </a:r>
          </a:p>
          <a:p>
            <a:endParaRPr lang="en-US" b="1">
              <a:effectLst/>
              <a:latin typeface="Google Sans Text"/>
            </a:endParaRPr>
          </a:p>
          <a:p>
            <a:r>
              <a:rPr lang="en-US" b="1">
                <a:effectLst/>
                <a:latin typeface="Google Sans Text"/>
              </a:rPr>
              <a:t>The Bottom Line:</a:t>
            </a:r>
            <a:r>
              <a:rPr lang="en-US">
                <a:effectLst/>
                <a:latin typeface="Google Sans Text"/>
              </a:rPr>
              <a:t> Skipping games isn't missing out – it's </a:t>
            </a:r>
            <a:r>
              <a:rPr lang="en-US" b="1">
                <a:effectLst/>
                <a:latin typeface="Google Sans Text"/>
              </a:rPr>
              <a:t>capital protection</a:t>
            </a:r>
            <a:r>
              <a:rPr lang="en-US">
                <a:effectLst/>
                <a:latin typeface="Google Sans Text"/>
              </a:rPr>
              <a:t>. By filtering out 51.6% of the season's background noise, we save our cash strictly for high-conviction, positive-payout opportunities!" </a:t>
            </a:r>
          </a:p>
          <a:p>
            <a:endParaRPr lang="en-US"/>
          </a:p>
        </p:txBody>
      </p:sp>
      <p:sp>
        <p:nvSpPr>
          <p:cNvPr id="4" name="Slide Number Placeholder 3"/>
          <p:cNvSpPr>
            <a:spLocks noGrp="1"/>
          </p:cNvSpPr>
          <p:nvPr>
            <p:ph type="sldNum" sz="quarter" idx="5"/>
          </p:nvPr>
        </p:nvSpPr>
        <p:spPr/>
        <p:txBody>
          <a:bodyPr/>
          <a:lstStyle/>
          <a:p>
            <a:fld id="{04EFB372-5A58-4E06-97F0-041ECEE07415}" type="slidenum">
              <a:rPr lang="en-US" smtClean="0"/>
              <a:t>20</a:t>
            </a:fld>
            <a:endParaRPr lang="en-US"/>
          </a:p>
        </p:txBody>
      </p:sp>
    </p:spTree>
    <p:extLst>
      <p:ext uri="{BB962C8B-B14F-4D97-AF65-F5344CB8AC3E}">
        <p14:creationId xmlns:p14="http://schemas.microsoft.com/office/powerpoint/2010/main" val="2205748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ffectLst/>
                <a:latin typeface="Google Sans Text"/>
              </a:rPr>
              <a:t>Since our model’s internal bouncer threw out the bad games, what happened to the bets we actually placed? </a:t>
            </a:r>
          </a:p>
          <a:p>
            <a:endParaRPr lang="en-US">
              <a:effectLst/>
              <a:latin typeface="Google Sans Text"/>
            </a:endParaRPr>
          </a:p>
          <a:p>
            <a:r>
              <a:rPr lang="en-US">
                <a:effectLst/>
                <a:latin typeface="Google Sans Text"/>
              </a:rPr>
              <a:t>This chart is the payoff—it shows our </a:t>
            </a:r>
            <a:r>
              <a:rPr lang="en-US" b="1">
                <a:effectLst/>
                <a:latin typeface="Google Sans Text"/>
              </a:rPr>
              <a:t>actual hit rates</a:t>
            </a:r>
            <a:r>
              <a:rPr lang="en-US">
                <a:effectLst/>
                <a:latin typeface="Google Sans Text"/>
              </a:rPr>
              <a:t> across all three market categories!</a:t>
            </a:r>
          </a:p>
          <a:p>
            <a:r>
              <a:rPr lang="en-US">
                <a:effectLst/>
                <a:latin typeface="Google Sans Text"/>
              </a:rPr>
              <a:t> </a:t>
            </a:r>
          </a:p>
          <a:p>
            <a:pPr>
              <a:buFont typeface="+mj-lt"/>
              <a:buAutoNum type="arabicPeriod"/>
            </a:pPr>
            <a:r>
              <a:rPr lang="en-US" b="1" err="1">
                <a:effectLst/>
                <a:latin typeface="Google Sans Text"/>
              </a:rPr>
              <a:t>Moneyline</a:t>
            </a:r>
            <a:r>
              <a:rPr lang="en-US" b="1">
                <a:effectLst/>
                <a:latin typeface="Google Sans Text"/>
              </a:rPr>
              <a:t> (Home Win): The Sharpshooter</a:t>
            </a:r>
            <a:endParaRPr lang="en-US">
              <a:effectLst/>
              <a:latin typeface="Google Sans Text"/>
            </a:endParaRPr>
          </a:p>
          <a:p>
            <a:pPr marL="742950" lvl="1" indent="-285750">
              <a:buFont typeface="Arial" panose="020B0604020202020204" pitchFamily="34" charset="0"/>
              <a:buChar char="•"/>
            </a:pPr>
            <a:r>
              <a:rPr lang="en-US">
                <a:effectLst/>
                <a:latin typeface="Google Sans Text"/>
              </a:rPr>
              <a:t>Our pickiness on straight-up wins, paid off! We landed </a:t>
            </a:r>
            <a:r>
              <a:rPr lang="en-US" b="1">
                <a:effectLst/>
                <a:latin typeface="Google Sans Text"/>
              </a:rPr>
              <a:t>74 wins and 39 losses</a:t>
            </a:r>
            <a:r>
              <a:rPr lang="en-US">
                <a:effectLst/>
                <a:latin typeface="Google Sans Text"/>
              </a:rPr>
              <a:t>, delivering a </a:t>
            </a:r>
            <a:r>
              <a:rPr lang="en-US" b="1">
                <a:effectLst/>
                <a:latin typeface="Google Sans Text"/>
              </a:rPr>
              <a:t>65.49% hit rate</a:t>
            </a:r>
            <a:r>
              <a:rPr lang="en-US">
                <a:effectLst/>
                <a:latin typeface="Google Sans Text"/>
              </a:rPr>
              <a:t>. By ignoring 89.6% of the risky noise, the model turned a notoriously tough market into a reliable cash generator. </a:t>
            </a:r>
          </a:p>
          <a:p>
            <a:pPr>
              <a:buFont typeface="+mj-lt"/>
              <a:buAutoNum type="arabicPeriod"/>
            </a:pPr>
            <a:r>
              <a:rPr lang="en-US" b="1">
                <a:effectLst/>
                <a:latin typeface="Google Sans Text"/>
              </a:rPr>
              <a:t>Puck Line (Home +1.5): The Heavyweight Champion</a:t>
            </a:r>
            <a:endParaRPr lang="en-US">
              <a:effectLst/>
              <a:latin typeface="Google Sans Text"/>
            </a:endParaRPr>
          </a:p>
          <a:p>
            <a:pPr marL="742950" lvl="1" indent="-285750">
              <a:buFont typeface="+mj-lt"/>
              <a:buAutoNum type="arabicPeriod"/>
            </a:pPr>
            <a:r>
              <a:rPr lang="en-US">
                <a:effectLst/>
                <a:latin typeface="Google Sans Text"/>
              </a:rPr>
              <a:t>We nailed this category with </a:t>
            </a:r>
            <a:r>
              <a:rPr lang="en-US" b="1">
                <a:effectLst/>
                <a:latin typeface="Google Sans Text"/>
              </a:rPr>
              <a:t>805 wins against 268 losses</a:t>
            </a:r>
            <a:r>
              <a:rPr lang="en-US">
                <a:effectLst/>
                <a:latin typeface="Google Sans Text"/>
              </a:rPr>
              <a:t>. That is a </a:t>
            </a:r>
            <a:r>
              <a:rPr lang="en-US" b="1">
                <a:effectLst/>
                <a:latin typeface="Google Sans Text"/>
              </a:rPr>
              <a:t>75.02% win rate</a:t>
            </a:r>
            <a:r>
              <a:rPr lang="en-US">
                <a:effectLst/>
                <a:latin typeface="Google Sans Text"/>
              </a:rPr>
              <a:t>! In sports betting terms, hitting 3 out of every 4 bets is like shooting 75% from the three-point line - it’s an incredible engine for capital growth. </a:t>
            </a:r>
          </a:p>
          <a:p>
            <a:pPr>
              <a:buFont typeface="+mj-lt"/>
              <a:buAutoNum type="arabicPeriod"/>
            </a:pPr>
            <a:r>
              <a:rPr lang="en-US" b="1">
                <a:effectLst/>
                <a:latin typeface="Google Sans Text"/>
              </a:rPr>
              <a:t>Totals (Over 5.5): The Grinder</a:t>
            </a:r>
            <a:endParaRPr lang="en-US">
              <a:effectLst/>
              <a:latin typeface="Google Sans Text"/>
            </a:endParaRPr>
          </a:p>
          <a:p>
            <a:pPr marL="742950" lvl="1" indent="-285750">
              <a:buFont typeface="+mj-lt"/>
              <a:buAutoNum type="arabicPeriod"/>
            </a:pPr>
            <a:r>
              <a:rPr lang="en-US">
                <a:effectLst/>
                <a:latin typeface="Google Sans Text"/>
              </a:rPr>
              <a:t>Predicting exact game totals in hockey is notoriously chaotic. Yet, our model locked in </a:t>
            </a:r>
            <a:r>
              <a:rPr lang="en-US" b="1">
                <a:effectLst/>
                <a:latin typeface="Google Sans Text"/>
              </a:rPr>
              <a:t>218 wins against 168 losses</a:t>
            </a:r>
            <a:r>
              <a:rPr lang="en-US">
                <a:effectLst/>
                <a:latin typeface="Google Sans Text"/>
              </a:rPr>
              <a:t>, giving us a </a:t>
            </a:r>
            <a:r>
              <a:rPr lang="en-US" b="1">
                <a:effectLst/>
                <a:latin typeface="Google Sans Text"/>
              </a:rPr>
              <a:t>56.48% win rate</a:t>
            </a:r>
            <a:r>
              <a:rPr lang="en-US">
                <a:effectLst/>
                <a:latin typeface="Google Sans Text"/>
              </a:rPr>
              <a:t>. In sports betting, anything over 52.4% beats the house fee. At 56.5%, it steadily generates clean profit! </a:t>
            </a:r>
          </a:p>
          <a:p>
            <a:endParaRPr lang="en-US" b="1">
              <a:effectLst/>
              <a:latin typeface="Google Sans Text"/>
            </a:endParaRPr>
          </a:p>
          <a:p>
            <a:r>
              <a:rPr lang="en-US" b="1">
                <a:effectLst/>
                <a:latin typeface="Google Sans Text"/>
              </a:rPr>
              <a:t>The Bottom Line:</a:t>
            </a:r>
            <a:r>
              <a:rPr lang="en-US">
                <a:effectLst/>
                <a:latin typeface="Google Sans Text"/>
              </a:rPr>
              <a:t> We aren't guessing, and we aren't getting lucky. Across 1,572 total committed wagers, this strict filtering process delivered an overall </a:t>
            </a:r>
            <a:r>
              <a:rPr lang="en-US" b="1">
                <a:effectLst/>
                <a:latin typeface="Google Sans Text"/>
              </a:rPr>
              <a:t>70.1% portfolio win rate</a:t>
            </a:r>
            <a:r>
              <a:rPr lang="en-US">
                <a:effectLst/>
                <a:latin typeface="Google Sans Text"/>
              </a:rPr>
              <a:t> and a </a:t>
            </a:r>
            <a:r>
              <a:rPr lang="en-US" b="1">
                <a:effectLst/>
                <a:latin typeface="Google Sans Text"/>
              </a:rPr>
              <a:t>+16.1% net ROI</a:t>
            </a:r>
            <a:r>
              <a:rPr lang="en-US">
                <a:effectLst/>
                <a:latin typeface="Google Sans Text"/>
              </a:rPr>
              <a:t>!" </a:t>
            </a:r>
          </a:p>
          <a:p>
            <a:endParaRPr lang="en-US"/>
          </a:p>
        </p:txBody>
      </p:sp>
      <p:sp>
        <p:nvSpPr>
          <p:cNvPr id="4" name="Slide Number Placeholder 3"/>
          <p:cNvSpPr>
            <a:spLocks noGrp="1"/>
          </p:cNvSpPr>
          <p:nvPr>
            <p:ph type="sldNum" sz="quarter" idx="5"/>
          </p:nvPr>
        </p:nvSpPr>
        <p:spPr/>
        <p:txBody>
          <a:bodyPr/>
          <a:lstStyle/>
          <a:p>
            <a:fld id="{04EFB372-5A58-4E06-97F0-041ECEE07415}" type="slidenum">
              <a:rPr lang="en-US" smtClean="0"/>
              <a:t>21</a:t>
            </a:fld>
            <a:endParaRPr lang="en-US"/>
          </a:p>
        </p:txBody>
      </p:sp>
    </p:spTree>
    <p:extLst>
      <p:ext uri="{BB962C8B-B14F-4D97-AF65-F5344CB8AC3E}">
        <p14:creationId xmlns:p14="http://schemas.microsoft.com/office/powerpoint/2010/main" val="821514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ffectLst/>
                <a:latin typeface="Google Sans Text"/>
              </a:rPr>
              <a:t>What’s the financial payout</a:t>
            </a:r>
            <a:r>
              <a:rPr lang="en-US">
                <a:effectLst/>
                <a:latin typeface="Google Sans Text"/>
              </a:rPr>
              <a:t>! </a:t>
            </a:r>
          </a:p>
          <a:p>
            <a:r>
              <a:rPr lang="en-US"/>
              <a:t>If win rates prove our intelligence, this chart proves our capital efficiency.</a:t>
            </a:r>
          </a:p>
          <a:p>
            <a:r>
              <a:rPr lang="en-US">
                <a:effectLst/>
                <a:latin typeface="Google Sans Text"/>
              </a:rPr>
              <a:t>We simulated a disciplined strategy of placing a flat </a:t>
            </a:r>
            <a:r>
              <a:rPr lang="en-US" b="1">
                <a:effectLst/>
                <a:latin typeface="Google Sans Text"/>
              </a:rPr>
              <a:t>$10 wager per qualified bet</a:t>
            </a:r>
            <a:r>
              <a:rPr lang="en-US">
                <a:effectLst/>
                <a:latin typeface="Google Sans Text"/>
              </a:rPr>
              <a:t> across the entire season. </a:t>
            </a:r>
          </a:p>
          <a:p>
            <a:endParaRPr lang="en-US">
              <a:effectLst/>
              <a:latin typeface="Google Sans Text"/>
            </a:endParaRPr>
          </a:p>
          <a:p>
            <a:r>
              <a:rPr lang="en-US">
                <a:effectLst/>
                <a:latin typeface="Google Sans Text"/>
              </a:rPr>
              <a:t>Here is how our money worked for us across all three markets:</a:t>
            </a:r>
          </a:p>
          <a:p>
            <a:pPr>
              <a:buFont typeface="+mj-lt"/>
              <a:buAutoNum type="arabicPeriod"/>
            </a:pPr>
            <a:r>
              <a:rPr lang="en-US" b="1">
                <a:effectLst/>
                <a:latin typeface="Google Sans Text"/>
              </a:rPr>
              <a:t>Puck Line (Home +1.5): The Heavy Cash Cow</a:t>
            </a:r>
            <a:endParaRPr lang="en-US">
              <a:effectLst/>
              <a:latin typeface="Google Sans Text"/>
            </a:endParaRPr>
          </a:p>
          <a:p>
            <a:pPr marL="742950" lvl="1" indent="-285750">
              <a:buFont typeface="Arial" panose="020B0604020202020204" pitchFamily="34" charset="0"/>
              <a:buChar char="•"/>
            </a:pPr>
            <a:r>
              <a:rPr lang="en-US">
                <a:effectLst/>
                <a:latin typeface="Google Sans Text"/>
              </a:rPr>
              <a:t>We put </a:t>
            </a:r>
            <a:r>
              <a:rPr lang="en-US" b="1">
                <a:effectLst/>
                <a:latin typeface="Google Sans Text"/>
              </a:rPr>
              <a:t>$10,730 of capital to work</a:t>
            </a:r>
            <a:r>
              <a:rPr lang="en-US">
                <a:effectLst/>
                <a:latin typeface="Google Sans Text"/>
              </a:rPr>
              <a:t> here and pulled back </a:t>
            </a:r>
            <a:r>
              <a:rPr lang="en-US" b="1">
                <a:effectLst/>
                <a:latin typeface="Google Sans Text"/>
              </a:rPr>
              <a:t>$12,876 in gross payouts</a:t>
            </a:r>
            <a:r>
              <a:rPr lang="en-US">
                <a:effectLst/>
                <a:latin typeface="Google Sans Text"/>
              </a:rPr>
              <a:t>. </a:t>
            </a:r>
          </a:p>
          <a:p>
            <a:pPr>
              <a:buFont typeface="+mj-lt"/>
              <a:buAutoNum type="arabicPeriod"/>
            </a:pPr>
            <a:r>
              <a:rPr lang="en-US" b="1" err="1">
                <a:effectLst/>
                <a:latin typeface="Google Sans Text"/>
              </a:rPr>
              <a:t>Moneyline</a:t>
            </a:r>
            <a:r>
              <a:rPr lang="en-US" b="1">
                <a:effectLst/>
                <a:latin typeface="Google Sans Text"/>
              </a:rPr>
              <a:t> (Home Win): Small But Mighty</a:t>
            </a:r>
            <a:endParaRPr lang="en-US">
              <a:effectLst/>
              <a:latin typeface="Google Sans Text"/>
            </a:endParaRPr>
          </a:p>
          <a:p>
            <a:pPr marL="742950" lvl="1" indent="-285750">
              <a:buFont typeface="Arial" panose="020B0604020202020204" pitchFamily="34" charset="0"/>
              <a:buChar char="•"/>
            </a:pPr>
            <a:r>
              <a:rPr lang="en-US">
                <a:effectLst/>
                <a:latin typeface="Google Sans Text"/>
              </a:rPr>
              <a:t>Well, with just </a:t>
            </a:r>
            <a:r>
              <a:rPr lang="en-US" b="1">
                <a:effectLst/>
                <a:latin typeface="Google Sans Text"/>
              </a:rPr>
              <a:t>$1,130 wagered</a:t>
            </a:r>
            <a:r>
              <a:rPr lang="en-US">
                <a:effectLst/>
                <a:latin typeface="Google Sans Text"/>
              </a:rPr>
              <a:t>, we brought back </a:t>
            </a:r>
            <a:r>
              <a:rPr lang="en-US" b="1">
                <a:effectLst/>
                <a:latin typeface="Google Sans Text"/>
              </a:rPr>
              <a:t>$1,314.20</a:t>
            </a:r>
            <a:r>
              <a:rPr lang="en-US">
                <a:effectLst/>
                <a:latin typeface="Google Sans Text"/>
              </a:rPr>
              <a:t>, pocketing </a:t>
            </a:r>
            <a:r>
              <a:rPr lang="en-US" b="1">
                <a:effectLst/>
                <a:latin typeface="Google Sans Text"/>
              </a:rPr>
              <a:t>+$184.20 in net gain</a:t>
            </a:r>
            <a:r>
              <a:rPr lang="en-US">
                <a:effectLst/>
                <a:latin typeface="Google Sans Text"/>
              </a:rPr>
              <a:t>. That gave us a sharp </a:t>
            </a:r>
            <a:r>
              <a:rPr lang="en-US" b="1">
                <a:effectLst/>
                <a:latin typeface="Google Sans Text"/>
              </a:rPr>
              <a:t>16.30% ROI</a:t>
            </a:r>
            <a:r>
              <a:rPr lang="en-US">
                <a:effectLst/>
                <a:latin typeface="Google Sans Text"/>
              </a:rPr>
              <a:t>! </a:t>
            </a:r>
          </a:p>
          <a:p>
            <a:pPr marL="742950" lvl="1" indent="-285750">
              <a:buFont typeface="Arial" panose="020B0604020202020204" pitchFamily="34" charset="0"/>
              <a:buChar char="•"/>
            </a:pPr>
            <a:r>
              <a:rPr lang="en-US">
                <a:effectLst/>
                <a:latin typeface="Google Sans Text"/>
              </a:rPr>
              <a:t>It proves that ultra-selective filtering beats risking cash on coin-flip games. </a:t>
            </a:r>
          </a:p>
          <a:p>
            <a:pPr>
              <a:buFont typeface="+mj-lt"/>
              <a:buAutoNum type="arabicPeriod"/>
            </a:pPr>
            <a:r>
              <a:rPr lang="en-US" b="1">
                <a:effectLst/>
                <a:latin typeface="Google Sans Text"/>
              </a:rPr>
              <a:t>Totals (Over 5.5): Steady Yield</a:t>
            </a:r>
            <a:endParaRPr lang="en-US">
              <a:effectLst/>
              <a:latin typeface="Google Sans Text"/>
            </a:endParaRPr>
          </a:p>
          <a:p>
            <a:pPr marL="742950" lvl="1" indent="-285750">
              <a:buFont typeface="+mj-lt"/>
              <a:buAutoNum type="arabicPeriod"/>
            </a:pPr>
            <a:r>
              <a:rPr lang="en-US">
                <a:effectLst/>
                <a:latin typeface="Google Sans Text"/>
              </a:rPr>
              <a:t>We deployed </a:t>
            </a:r>
            <a:r>
              <a:rPr lang="en-US" b="1">
                <a:effectLst/>
                <a:latin typeface="Google Sans Text"/>
              </a:rPr>
              <a:t>$3,860</a:t>
            </a:r>
            <a:r>
              <a:rPr lang="en-US">
                <a:effectLst/>
                <a:latin typeface="Google Sans Text"/>
              </a:rPr>
              <a:t> and collected </a:t>
            </a:r>
            <a:r>
              <a:rPr lang="en-US" b="1">
                <a:effectLst/>
                <a:latin typeface="Google Sans Text"/>
              </a:rPr>
              <a:t>$4,053</a:t>
            </a:r>
            <a:r>
              <a:rPr lang="en-US">
                <a:effectLst/>
                <a:latin typeface="Google Sans Text"/>
              </a:rPr>
              <a:t>, resulting in a net profit of </a:t>
            </a:r>
            <a:r>
              <a:rPr lang="en-US" b="1">
                <a:effectLst/>
                <a:latin typeface="Google Sans Text"/>
              </a:rPr>
              <a:t>+$193.00</a:t>
            </a:r>
            <a:r>
              <a:rPr lang="en-US">
                <a:effectLst/>
                <a:latin typeface="Google Sans Text"/>
              </a:rPr>
              <a:t>. </a:t>
            </a:r>
          </a:p>
          <a:p>
            <a:endParaRPr lang="en-US" b="1">
              <a:effectLst/>
              <a:latin typeface="Google Sans Text"/>
            </a:endParaRPr>
          </a:p>
          <a:p>
            <a:r>
              <a:rPr lang="en-US" b="1">
                <a:effectLst/>
                <a:latin typeface="Google Sans Text"/>
              </a:rPr>
              <a:t>The Big Picture for Stakeholders:</a:t>
            </a:r>
            <a:r>
              <a:rPr lang="en-US">
                <a:effectLst/>
                <a:latin typeface="Google Sans Text"/>
              </a:rPr>
              <a:t> Total capital outlay: </a:t>
            </a:r>
            <a:r>
              <a:rPr lang="en-US" b="1">
                <a:effectLst/>
                <a:latin typeface="Google Sans Text"/>
              </a:rPr>
              <a:t>$15,720</a:t>
            </a:r>
            <a:r>
              <a:rPr lang="en-US">
                <a:effectLst/>
                <a:latin typeface="Google Sans Text"/>
              </a:rPr>
              <a:t>. Total cash returned: </a:t>
            </a:r>
            <a:r>
              <a:rPr lang="en-US" b="1">
                <a:effectLst/>
                <a:latin typeface="Google Sans Text"/>
              </a:rPr>
              <a:t>$18,243.20</a:t>
            </a:r>
            <a:r>
              <a:rPr lang="en-US">
                <a:effectLst/>
                <a:latin typeface="Google Sans Text"/>
              </a:rPr>
              <a:t>.</a:t>
            </a:r>
          </a:p>
          <a:p>
            <a:endParaRPr lang="en-US"/>
          </a:p>
        </p:txBody>
      </p:sp>
      <p:sp>
        <p:nvSpPr>
          <p:cNvPr id="4" name="Slide Number Placeholder 3"/>
          <p:cNvSpPr>
            <a:spLocks noGrp="1"/>
          </p:cNvSpPr>
          <p:nvPr>
            <p:ph type="sldNum" sz="quarter" idx="5"/>
          </p:nvPr>
        </p:nvSpPr>
        <p:spPr/>
        <p:txBody>
          <a:bodyPr/>
          <a:lstStyle/>
          <a:p>
            <a:fld id="{04EFB372-5A58-4E06-97F0-041ECEE07415}" type="slidenum">
              <a:rPr lang="en-US" smtClean="0"/>
              <a:t>22</a:t>
            </a:fld>
            <a:endParaRPr lang="en-US"/>
          </a:p>
        </p:txBody>
      </p:sp>
    </p:spTree>
    <p:extLst>
      <p:ext uri="{BB962C8B-B14F-4D97-AF65-F5344CB8AC3E}">
        <p14:creationId xmlns:p14="http://schemas.microsoft.com/office/powerpoint/2010/main" val="959141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ffectLst/>
                <a:latin typeface="Google Sans Text"/>
              </a:rPr>
              <a:t>In today’s financial landscape, institutional investors and capital managers face a common dilemma: </a:t>
            </a:r>
          </a:p>
          <a:p>
            <a:r>
              <a:rPr lang="en-US" b="1">
                <a:effectLst/>
                <a:latin typeface="Google Sans Text"/>
              </a:rPr>
              <a:t>traditional fixed-income assets yield very little, while traditional markets face high volatility</a:t>
            </a:r>
            <a:r>
              <a:rPr lang="en-US">
                <a:effectLst/>
                <a:latin typeface="Google Sans Text"/>
              </a:rPr>
              <a:t>.</a:t>
            </a:r>
          </a:p>
          <a:p>
            <a:endParaRPr lang="en-US">
              <a:effectLst/>
              <a:latin typeface="Google Sans Text"/>
            </a:endParaRPr>
          </a:p>
          <a:p>
            <a:r>
              <a:rPr lang="en-US">
                <a:effectLst/>
                <a:latin typeface="Google Sans Text"/>
              </a:rPr>
              <a:t>Meanwhile, sports betting markets represent a multi-billion-dollar global industry.</a:t>
            </a:r>
          </a:p>
          <a:p>
            <a:r>
              <a:rPr lang="en-US">
                <a:effectLst/>
                <a:latin typeface="Google Sans Text"/>
              </a:rPr>
              <a:t>Yet 95% of retail participants treat it like gambling, betting with emotion, intuition, and bias.</a:t>
            </a:r>
          </a:p>
          <a:p>
            <a:endParaRPr lang="en-US">
              <a:effectLst/>
              <a:latin typeface="Google Sans Text"/>
            </a:endParaRPr>
          </a:p>
          <a:p>
            <a:r>
              <a:rPr lang="en-US">
                <a:effectLst/>
                <a:latin typeface="Google Sans Text"/>
              </a:rPr>
              <a:t>What if, instead of gambling, we approached sports wagering with the </a:t>
            </a:r>
            <a:r>
              <a:rPr lang="en-US" b="1">
                <a:effectLst/>
                <a:latin typeface="Google Sans Text"/>
              </a:rPr>
              <a:t>discipline, algorithmic precision, and risk management of a high-frequency quant trading desk</a:t>
            </a:r>
            <a:r>
              <a:rPr lang="en-US">
                <a:effectLst/>
                <a:latin typeface="Google Sans Text"/>
              </a:rPr>
              <a:t>?" </a:t>
            </a:r>
          </a:p>
          <a:p>
            <a:endParaRPr lang="en-US">
              <a:effectLst/>
              <a:latin typeface="Google Sans Text"/>
            </a:endParaRPr>
          </a:p>
          <a:p>
            <a:r>
              <a:rPr lang="en-US" b="1">
                <a:effectLst/>
                <a:latin typeface="Google Sans Text"/>
              </a:rPr>
              <a:t>Pitch </a:t>
            </a:r>
            <a:r>
              <a:rPr lang="en-US" b="1" err="1">
                <a:effectLst/>
                <a:latin typeface="Google Sans Text"/>
              </a:rPr>
              <a:t>PillarKey</a:t>
            </a:r>
            <a:r>
              <a:rPr lang="en-US" b="1">
                <a:effectLst/>
                <a:latin typeface="Google Sans Text"/>
              </a:rPr>
              <a:t> Metric / Value Proposition</a:t>
            </a:r>
          </a:p>
          <a:p>
            <a:pPr marL="171450" indent="-171450">
              <a:buFont typeface="Arial" panose="020B0604020202020204" pitchFamily="34" charset="0"/>
              <a:buChar char="•"/>
            </a:pPr>
            <a:r>
              <a:rPr lang="en-US" b="1">
                <a:effectLst/>
                <a:latin typeface="Google Sans Text"/>
              </a:rPr>
              <a:t>Systematic Risk Gate - </a:t>
            </a:r>
            <a:r>
              <a:rPr lang="en-US">
                <a:effectLst/>
                <a:latin typeface="Google Sans Text"/>
              </a:rPr>
              <a:t>Rejects </a:t>
            </a:r>
            <a:r>
              <a:rPr lang="en-US" b="1">
                <a:effectLst/>
                <a:latin typeface="Google Sans Text"/>
              </a:rPr>
              <a:t>51.6% of market noise</a:t>
            </a:r>
            <a:r>
              <a:rPr lang="en-US">
                <a:effectLst/>
                <a:latin typeface="Google Sans Text"/>
              </a:rPr>
              <a:t> via dynamic confidence filtering. </a:t>
            </a:r>
          </a:p>
          <a:p>
            <a:r>
              <a:rPr lang="en-US" b="1">
                <a:effectLst/>
                <a:latin typeface="Google Sans Text"/>
              </a:rPr>
              <a:t>Predictive Precision</a:t>
            </a:r>
          </a:p>
          <a:p>
            <a:pPr marL="171450" indent="-171450">
              <a:buFont typeface="Arial" panose="020B0604020202020204" pitchFamily="34" charset="0"/>
              <a:buChar char="•"/>
            </a:pPr>
            <a:r>
              <a:rPr lang="en-US">
                <a:effectLst/>
                <a:latin typeface="Google Sans Text"/>
              </a:rPr>
              <a:t>Achieves a </a:t>
            </a:r>
            <a:r>
              <a:rPr lang="en-US" b="1">
                <a:effectLst/>
                <a:latin typeface="Google Sans Text"/>
              </a:rPr>
              <a:t>70.1% overall win rate</a:t>
            </a:r>
            <a:r>
              <a:rPr lang="en-US">
                <a:effectLst/>
                <a:latin typeface="Google Sans Text"/>
              </a:rPr>
              <a:t> (75.0% on Puck Line wagers). </a:t>
            </a:r>
          </a:p>
          <a:p>
            <a:r>
              <a:rPr lang="en-US" b="1">
                <a:effectLst/>
                <a:latin typeface="Google Sans Text"/>
              </a:rPr>
              <a:t>Financial Yield</a:t>
            </a:r>
          </a:p>
          <a:p>
            <a:pPr marL="171450" indent="-171450">
              <a:buFont typeface="Arial" panose="020B0604020202020204" pitchFamily="34" charset="0"/>
              <a:buChar char="•"/>
            </a:pPr>
            <a:r>
              <a:rPr lang="en-US" b="1">
                <a:effectLst/>
                <a:latin typeface="Google Sans Text"/>
              </a:rPr>
              <a:t>+16.05% Net Portfolio ROI</a:t>
            </a:r>
            <a:r>
              <a:rPr lang="en-US">
                <a:effectLst/>
                <a:latin typeface="Google Sans Text"/>
              </a:rPr>
              <a:t> in a single 7-month season. </a:t>
            </a:r>
          </a:p>
          <a:p>
            <a:r>
              <a:rPr lang="en-US" b="1">
                <a:effectLst/>
                <a:latin typeface="Google Sans Text"/>
              </a:rPr>
              <a:t>Asset Comparison</a:t>
            </a:r>
          </a:p>
          <a:p>
            <a:pPr marL="171450" indent="-171450">
              <a:buFont typeface="Arial" panose="020B0604020202020204" pitchFamily="34" charset="0"/>
              <a:buChar char="•"/>
            </a:pPr>
            <a:r>
              <a:rPr lang="en-US" b="1">
                <a:effectLst/>
                <a:latin typeface="Google Sans Text"/>
              </a:rPr>
              <a:t>Over 4x higher yield</a:t>
            </a:r>
            <a:r>
              <a:rPr lang="en-US">
                <a:effectLst/>
                <a:latin typeface="Google Sans Text"/>
              </a:rPr>
              <a:t> than Fixed Deposits / Savings Insurance.</a:t>
            </a:r>
          </a:p>
          <a:p>
            <a:pPr marL="0" indent="0">
              <a:buFont typeface="Arial" panose="020B0604020202020204" pitchFamily="34" charset="0"/>
              <a:buNone/>
            </a:pPr>
            <a:endParaRPr lang="en-US">
              <a:effectLst/>
              <a:latin typeface="Google Sans Text"/>
            </a:endParaRPr>
          </a:p>
          <a:p>
            <a:pPr>
              <a:lnSpc>
                <a:spcPct val="107000"/>
              </a:lnSpc>
              <a:spcAft>
                <a:spcPts val="800"/>
              </a:spcAft>
            </a:pPr>
            <a:r>
              <a:rPr lang="en-US"/>
              <a:t>Let’s stop leaving money on the ice. Join us as a founding partner in this predictive scheme today.</a:t>
            </a:r>
            <a:br>
              <a:rPr lang="en-US">
                <a:ea typeface="Calibri"/>
                <a:cs typeface="+mn-lt"/>
              </a:rPr>
            </a:br>
            <a:br>
              <a:rPr lang="en-US">
                <a:latin typeface="Calibri"/>
                <a:ea typeface="Calibri"/>
                <a:cs typeface="Calibri"/>
              </a:rPr>
            </a:br>
            <a:r>
              <a:rPr lang="en-US">
                <a:solidFill>
                  <a:schemeClr val="tx2">
                    <a:lumMod val="90000"/>
                    <a:lumOff val="10000"/>
                  </a:schemeClr>
                </a:solidFill>
              </a:rPr>
              <a:t>We are offering a </a:t>
            </a:r>
            <a:r>
              <a:rPr lang="en-US" b="1">
                <a:solidFill>
                  <a:schemeClr val="tx2">
                    <a:lumMod val="90000"/>
                    <a:lumOff val="10000"/>
                  </a:schemeClr>
                </a:solidFill>
              </a:rPr>
              <a:t>systematic, data-validated, capital-efficient yield engine, not a 'get rich quick' scam</a:t>
            </a:r>
            <a:endParaRPr lang="en-US"/>
          </a:p>
          <a:p>
            <a:pPr marL="285750" indent="-285750">
              <a:lnSpc>
                <a:spcPct val="107000"/>
              </a:lnSpc>
              <a:spcAft>
                <a:spcPts val="800"/>
              </a:spcAft>
              <a:buFont typeface="Arial,Sans-Serif"/>
              <a:buChar char="•"/>
            </a:pPr>
            <a:r>
              <a:rPr lang="en-US">
                <a:solidFill>
                  <a:schemeClr val="tx2">
                    <a:lumMod val="90000"/>
                    <a:lumOff val="10000"/>
                  </a:schemeClr>
                </a:solidFill>
              </a:rPr>
              <a:t>We have established the data pipeline, verified the ML algorithms, automated the risk filters, and proven the ROI. </a:t>
            </a:r>
            <a:endParaRPr lang="en-US"/>
          </a:p>
          <a:p>
            <a:pPr marL="285750" indent="-285750">
              <a:lnSpc>
                <a:spcPct val="107000"/>
              </a:lnSpc>
              <a:spcAft>
                <a:spcPts val="800"/>
              </a:spcAft>
              <a:buFont typeface="Arial,Sans-Serif"/>
              <a:buChar char="•"/>
            </a:pPr>
            <a:r>
              <a:rPr lang="en-US">
                <a:solidFill>
                  <a:schemeClr val="tx2">
                    <a:lumMod val="90000"/>
                    <a:lumOff val="10000"/>
                  </a:schemeClr>
                </a:solidFill>
              </a:rPr>
              <a:t>Now, we are opening the scheme to strategic partners who want to participate in the upcoming season's capital deployment. </a:t>
            </a:r>
            <a:endParaRPr lang="en-US"/>
          </a:p>
          <a:p>
            <a:pPr>
              <a:lnSpc>
                <a:spcPct val="107000"/>
              </a:lnSpc>
              <a:spcAft>
                <a:spcPts val="800"/>
              </a:spcAft>
            </a:pPr>
            <a:r>
              <a:rPr lang="en-US">
                <a:solidFill>
                  <a:schemeClr val="tx2">
                    <a:lumMod val="90000"/>
                    <a:lumOff val="10000"/>
                  </a:schemeClr>
                </a:solidFill>
              </a:rPr>
              <a:t>Let’s stop leaving money on the ice. Join us as a founding partner in this predictive scheme today.</a:t>
            </a:r>
            <a:endParaRPr lang="en-US"/>
          </a:p>
          <a:p>
            <a:endParaRPr lang="en-US">
              <a:effectLst/>
              <a:latin typeface="Calibri"/>
              <a:ea typeface="Calibri"/>
              <a:cs typeface="Calibri"/>
            </a:endParaRPr>
          </a:p>
          <a:p>
            <a:endParaRPr lang="en-US"/>
          </a:p>
        </p:txBody>
      </p:sp>
      <p:sp>
        <p:nvSpPr>
          <p:cNvPr id="4" name="Slide Number Placeholder 3"/>
          <p:cNvSpPr>
            <a:spLocks noGrp="1"/>
          </p:cNvSpPr>
          <p:nvPr>
            <p:ph type="sldNum" sz="quarter" idx="5"/>
          </p:nvPr>
        </p:nvSpPr>
        <p:spPr/>
        <p:txBody>
          <a:bodyPr/>
          <a:lstStyle/>
          <a:p>
            <a:fld id="{04EFB372-5A58-4E06-97F0-041ECEE07415}" type="slidenum">
              <a:rPr lang="en-US" smtClean="0"/>
              <a:t>23</a:t>
            </a:fld>
            <a:endParaRPr lang="en-US"/>
          </a:p>
        </p:txBody>
      </p:sp>
    </p:spTree>
    <p:extLst>
      <p:ext uri="{BB962C8B-B14F-4D97-AF65-F5344CB8AC3E}">
        <p14:creationId xmlns:p14="http://schemas.microsoft.com/office/powerpoint/2010/main" val="589146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Felix for sharing with us the bouncer betting model.</a:t>
            </a:r>
          </a:p>
          <a:p>
            <a:r>
              <a:rPr lang="en-US"/>
              <a:t>Imagine it is October 2020, the start of the 2020-21 NHL season, and we are gamblers. The question we ask is simple: can history alone pick the next champion?</a:t>
            </a:r>
          </a:p>
          <a:p>
            <a:r>
              <a:rPr lang="en-US"/>
              <a:t>Here is our plan in four steps. </a:t>
            </a:r>
            <a:endParaRPr lang="en-US">
              <a:ea typeface="Calibri"/>
              <a:cs typeface="Calibri"/>
            </a:endParaRPr>
          </a:p>
          <a:p>
            <a:r>
              <a:rPr lang="en-US"/>
              <a:t>Firstly we learn by using every game from 2000-01 to 2019-20, which is 19 seasons, because the 2004-05 season was cancelled by a lockout. </a:t>
            </a:r>
            <a:endParaRPr lang="en-US">
              <a:ea typeface="Calibri" panose="020F0502020204030204"/>
              <a:cs typeface="Calibri" panose="020F0502020204030204"/>
            </a:endParaRPr>
          </a:p>
          <a:p>
            <a:r>
              <a:rPr lang="en-US"/>
              <a:t>Secondly we forecast by ranking all 31 teams for the Stanley Cup and list the top 10 projected scorers. </a:t>
            </a:r>
            <a:endParaRPr lang="en-US">
              <a:ea typeface="Calibri"/>
              <a:cs typeface="Calibri"/>
            </a:endParaRPr>
          </a:p>
          <a:p>
            <a:r>
              <a:rPr lang="en-US"/>
              <a:t>Thirdly we test. Before we trust the forecast, we check how it would have done on 10 past seasons. </a:t>
            </a:r>
            <a:endParaRPr lang="en-US">
              <a:ea typeface="Calibri" panose="020F0502020204030204"/>
              <a:cs typeface="Calibri" panose="020F0502020204030204"/>
            </a:endParaRPr>
          </a:p>
          <a:p>
            <a:r>
              <a:rPr lang="en-US"/>
              <a:t>Lastly, the big reveal: we compare the forecast to what really happened in 2020-21.</a:t>
            </a:r>
            <a:endParaRPr lang="en-US">
              <a:ea typeface="Calibri"/>
              <a:cs typeface="Calibri"/>
            </a:endParaRPr>
          </a:p>
          <a:p>
            <a:r>
              <a:rPr lang="en-US"/>
              <a:t>The next five slides follow this story: how the forecast is built, what it predicts, how we tested it, how good it was, and finally the reveal.</a:t>
            </a:r>
            <a:br>
              <a:rPr lang="en-US">
                <a:ea typeface="Calibri"/>
                <a:cs typeface="+mn-lt"/>
              </a:rPr>
            </a:br>
            <a:br>
              <a:rPr lang="en-US">
                <a:ea typeface="Calibri"/>
                <a:cs typeface="+mn-lt"/>
              </a:rPr>
            </a:br>
            <a:r>
              <a:rPr lang="en-US">
                <a:ea typeface="Calibri"/>
                <a:cs typeface="Calibri"/>
              </a:rPr>
              <a:t>---------------------</a:t>
            </a:r>
            <a:br>
              <a:rPr lang="en-US">
                <a:ea typeface="Calibri"/>
                <a:cs typeface="+mn-lt"/>
              </a:rPr>
            </a:br>
            <a:r>
              <a:rPr lang="en-US">
                <a:solidFill>
                  <a:srgbClr val="FFFFFF"/>
                </a:solidFill>
              </a:rPr>
              <a:t>Pretend it is the start of the 2020–21 NHL season. Using only data through 2019–20, forecast who wins the Stanley Cup and who tops the scoring race — then prove the model deserves our money.</a:t>
            </a:r>
            <a:endParaRPr lang="en-US"/>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showing any predictions, here is how they are made. It is deliberately simple, with no black box.</a:t>
            </a:r>
          </a:p>
          <a:p>
            <a:r>
              <a:rPr lang="en-US"/>
              <a:t>Step one, measure: for every team in every season, we take its points percentage, which is the share of the available standings points the team actually earned.</a:t>
            </a:r>
            <a:endParaRPr lang="en-US">
              <a:ea typeface="Calibri"/>
              <a:cs typeface="Calibri"/>
            </a:endParaRPr>
          </a:p>
          <a:p>
            <a:r>
              <a:rPr lang="en-US"/>
              <a:t>Step two, weight: we blend the team's last three seasons, counting the newest season three times, the one before it twice, and the oldest once. So recent form matters most. The example at the bottom uses made-up numbers just to show the arithmetic.</a:t>
            </a:r>
          </a:p>
          <a:p>
            <a:r>
              <a:rPr lang="en-US"/>
              <a:t>Step three, convert: a standard formula called </a:t>
            </a:r>
            <a:r>
              <a:rPr lang="en-US" err="1"/>
              <a:t>softmax</a:t>
            </a:r>
            <a:r>
              <a:rPr lang="en-US"/>
              <a:t> turns all 31 team scores into probabilities that add up to 100 percent. Higher score, bigger probability, taller bar on the next slide. Top scorers work the same way, using each player's points instead of the team's.</a:t>
            </a:r>
            <a:endParaRPr lang="en-US">
              <a:ea typeface="Calibri"/>
              <a:cs typeface="Calibri"/>
            </a:endParaRPr>
          </a:p>
          <a:p>
            <a:r>
              <a:rPr lang="en-US"/>
              <a:t>The upside is that every pick can be explained in one sentence. The downside is that it only knows past results, nothing about injuries or trades.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CC908-8111-A2D8-5571-9A64D262D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25738-E734-6377-784D-FF03A6CE5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B8671-B7D0-96FB-4AD5-DEB48D41FF62}"/>
              </a:ext>
            </a:extLst>
          </p:cNvPr>
          <p:cNvSpPr>
            <a:spLocks noGrp="1"/>
          </p:cNvSpPr>
          <p:nvPr>
            <p:ph type="body" idx="1"/>
          </p:nvPr>
        </p:nvSpPr>
        <p:spPr/>
        <p:txBody>
          <a:bodyPr/>
          <a:lstStyle/>
          <a:p>
            <a:r>
              <a:rPr lang="en-US"/>
              <a:t>This is what the model produces for the 2020-21 season, and it is the page you would actually bet from.</a:t>
            </a:r>
          </a:p>
          <a:p>
            <a:r>
              <a:rPr lang="en-US"/>
              <a:t>On the left, each bar is one team's chance of winning the Cup. The taller the bar, the more the model likes that team. Tampa Bay is the favorite, followed by Boston and Washington. Notice there is no runaway winner: the favorite is well under a 50 percent chance, and the gap between bars shows how confident the model is.</a:t>
            </a:r>
            <a:endParaRPr lang="en-US">
              <a:ea typeface="Calibri"/>
              <a:cs typeface="Calibri"/>
            </a:endParaRPr>
          </a:p>
          <a:p>
            <a:r>
              <a:rPr lang="en-US"/>
              <a:t>On the right is our top scorer list. Connor McDavid is projected first, ahead of Leon Draisaitl and Nikita Kucherov.</a:t>
            </a:r>
            <a:endParaRPr lang="en-US">
              <a:ea typeface="Calibri"/>
              <a:cs typeface="Calibri"/>
            </a:endParaRPr>
          </a:p>
          <a:p>
            <a:r>
              <a:rPr lang="en-US"/>
              <a:t>How would a gambler use this? Compare the model's probability for a team with the odds the sportsbook is offering. Where the model thinks a team is more likely than the sportsbook does, that gap is where you would look for value. The top-10 table works the same way for top-scorer bets.</a:t>
            </a: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DFF054E1-85B9-601F-0E07-BDB1C52A187C}"/>
              </a:ext>
            </a:extLst>
          </p:cNvPr>
          <p:cNvSpPr>
            <a:spLocks noGrp="1"/>
          </p:cNvSpPr>
          <p:nvPr>
            <p:ph type="sldNum" sz="quarter" idx="5"/>
          </p:nvPr>
        </p:nvSpPr>
        <p:spPr/>
        <p:txBody>
          <a:bodyPr/>
          <a:lstStyle/>
          <a:p>
            <a:fld id="{04EFB372-5A58-4E06-97F0-041ECEE07415}" type="slidenum">
              <a:rPr lang="en-US"/>
              <a:t>26</a:t>
            </a:fld>
            <a:endParaRPr lang="en-US"/>
          </a:p>
        </p:txBody>
      </p:sp>
    </p:spTree>
    <p:extLst>
      <p:ext uri="{BB962C8B-B14F-4D97-AF65-F5344CB8AC3E}">
        <p14:creationId xmlns:p14="http://schemas.microsoft.com/office/powerpoint/2010/main" val="2577960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forecast is only worth betting on if it has been tested, so here is how we tested it.</a:t>
            </a:r>
          </a:p>
          <a:p>
            <a:r>
              <a:rPr lang="en-US"/>
              <a:t>Across the top are ten past seasons, 2010-11 through 2019-20. For each one, we pretended to stand just before that season and gave the model only earlier data. It then ranked all the teams, and we looked at where the real champion landed in our ranking. The blue bar is the key rule: no peeking at the future.</a:t>
            </a:r>
            <a:endParaRPr lang="en-US">
              <a:ea typeface="Calibri"/>
              <a:cs typeface="Calibri"/>
            </a:endParaRPr>
          </a:p>
          <a:p>
            <a:r>
              <a:rPr lang="en-US"/>
              <a:t>Three numbers. Ten seasons scored. An average rank of 5.90 for the real champion, where 1 means our top pick won. To put 5.90 in context, a random guess among about 30 teams would average around 15 or 16. And 2010-11 is the earliest season we could score, because the source data has no playoff games before then. We chose to stop there rather than guess. That gap does not affect the 2020-21 forecast, which only uses regular-season results.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48D05-A52B-11C9-B204-E19825C5A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32759-0814-41F5-1020-527A2E497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C4C9D-02A2-06BD-7A6D-954A7DC91455}"/>
              </a:ext>
            </a:extLst>
          </p:cNvPr>
          <p:cNvSpPr>
            <a:spLocks noGrp="1"/>
          </p:cNvSpPr>
          <p:nvPr>
            <p:ph type="body" idx="1"/>
          </p:nvPr>
        </p:nvSpPr>
        <p:spPr/>
        <p:txBody>
          <a:bodyPr/>
          <a:lstStyle/>
          <a:p>
            <a:r>
              <a:rPr lang="en-US"/>
              <a:t>Here are the results of that test. Each point on the line is one tested season. The lower the point, the closer our top pick was to the real champion, and 1 means we nailed it.</a:t>
            </a:r>
          </a:p>
          <a:p>
            <a:r>
              <a:rPr lang="en-US"/>
              <a:t>You can see it is not perfect. In some seasons the real champion was our top one or two picks. In others the model missed by a wide margin, and at its worst the real champion was ranked around 12th. Averaged over the ten seasons, the champion landed at rank 5.90, shown in the card on the right.</a:t>
            </a:r>
            <a:endParaRPr lang="en-US">
              <a:ea typeface="Calibri"/>
              <a:cs typeface="Calibri"/>
            </a:endParaRPr>
          </a:p>
          <a:p>
            <a:r>
              <a:rPr lang="en-US"/>
              <a:t>So our honest read: the model is clearly better than guessing, but it is not a crystal ball. That is why, in the story, we treat it as a way to find an edge over many bets, not as a sure thing.</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3EB9DFAC-5C84-A9DD-DAE2-EA37911C71A8}"/>
              </a:ext>
            </a:extLst>
          </p:cNvPr>
          <p:cNvSpPr>
            <a:spLocks noGrp="1"/>
          </p:cNvSpPr>
          <p:nvPr>
            <p:ph type="sldNum" sz="quarter" idx="5"/>
          </p:nvPr>
        </p:nvSpPr>
        <p:spPr/>
        <p:txBody>
          <a:bodyPr/>
          <a:lstStyle/>
          <a:p>
            <a:fld id="{04EFB372-5A58-4E06-97F0-041ECEE07415}" type="slidenum">
              <a:rPr lang="en-US"/>
              <a:t>28</a:t>
            </a:fld>
            <a:endParaRPr lang="en-US"/>
          </a:p>
        </p:txBody>
      </p:sp>
    </p:spTree>
    <p:extLst>
      <p:ext uri="{BB962C8B-B14F-4D97-AF65-F5344CB8AC3E}">
        <p14:creationId xmlns:p14="http://schemas.microsoft.com/office/powerpoint/2010/main" val="1551663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7C32F-0587-0321-6552-11C5EC121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3224B-BE30-7C5B-A46B-921FF578E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29028-6AB9-0B2E-F340-CF9E784D2707}"/>
              </a:ext>
            </a:extLst>
          </p:cNvPr>
          <p:cNvSpPr>
            <a:spLocks noGrp="1"/>
          </p:cNvSpPr>
          <p:nvPr>
            <p:ph type="body" idx="1"/>
          </p:nvPr>
        </p:nvSpPr>
        <p:spPr/>
        <p:txBody>
          <a:bodyPr/>
          <a:lstStyle/>
          <a:p>
            <a:r>
              <a:rPr lang="en-US"/>
              <a:t>Now the reveal. The model only ever saw data through 2019-20. We then compared its 2020-21 forecast to what actually happened.</a:t>
            </a:r>
          </a:p>
          <a:p>
            <a:r>
              <a:rPr lang="en-US"/>
              <a:t>Best player: the model picked McDavid, and Connor McDavid won the scoring race. Stanley Cup champion: the model picked the Lightning, and Tampa Bay won the Cup. Both calls landed, even in a strange, COVID-shortened season.</a:t>
            </a:r>
            <a:endParaRPr lang="en-US">
              <a:ea typeface="Calibri"/>
              <a:cs typeface="Calibri"/>
            </a:endParaRPr>
          </a:p>
          <a:p>
            <a:r>
              <a:rPr lang="en-US"/>
              <a:t>One word of caution before we celebrate: two correct calls is encouraging but is a small sample. The reason we trust the model is the ten-season test we just saw, not this single result. Together they say the same thing: history gives you a real, measurable edge, which is why this is a forecast to bet on and not a guess.</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E123ED8A-25E8-699E-C07C-91076B799E5B}"/>
              </a:ext>
            </a:extLst>
          </p:cNvPr>
          <p:cNvSpPr>
            <a:spLocks noGrp="1"/>
          </p:cNvSpPr>
          <p:nvPr>
            <p:ph type="sldNum" sz="quarter" idx="5"/>
          </p:nvPr>
        </p:nvSpPr>
        <p:spPr/>
        <p:txBody>
          <a:bodyPr/>
          <a:lstStyle/>
          <a:p>
            <a:fld id="{04EFB372-5A58-4E06-97F0-041ECEE07415}" type="slidenum">
              <a:rPr lang="en-US"/>
              <a:t>29</a:t>
            </a:fld>
            <a:endParaRPr lang="en-US"/>
          </a:p>
        </p:txBody>
      </p:sp>
    </p:spTree>
    <p:extLst>
      <p:ext uri="{BB962C8B-B14F-4D97-AF65-F5344CB8AC3E}">
        <p14:creationId xmlns:p14="http://schemas.microsoft.com/office/powerpoint/2010/main" val="42626021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started this talk as coffee towkays promising you two winning formulas to perk up your mornings. Here is your order.</a:t>
            </a:r>
            <a:endParaRPr lang="en-US"/>
          </a:p>
          <a:p>
            <a:endParaRPr/>
          </a:p>
          <a:p>
            <a:r>
              <a:t>Formula one is The Bouncer, our game-by-game betting model</a:t>
            </a:r>
            <a:r>
              <a:rPr lang="en-US"/>
              <a:t> as shared</a:t>
            </a:r>
            <a:r>
              <a:t> </a:t>
            </a:r>
            <a:r>
              <a:rPr lang="en-US"/>
              <a:t>by Felix. </a:t>
            </a:r>
            <a:endParaRPr lang="en-US">
              <a:ea typeface="Calibri"/>
              <a:cs typeface="Calibri"/>
            </a:endParaRPr>
          </a:p>
          <a:p>
            <a:r>
              <a:t>It is a logistic regression that stands at the door and throws out more than half of the games, 51.6 percent, so we only bet when the edge is real. On a flat ten-dollar bet it won about 70 percent of the time and turned $15,720 of capital into $2,523 of profit, roughly a 16 percent return.</a:t>
            </a:r>
            <a:endParaRPr>
              <a:ea typeface="Calibri"/>
              <a:cs typeface="Calibri"/>
            </a:endParaRPr>
          </a:p>
          <a:p>
            <a:endParaRPr/>
          </a:p>
          <a:p>
            <a:r>
              <a:t>Formula two is The Historian, our season-long forecast</a:t>
            </a:r>
            <a:r>
              <a:rPr lang="en-US"/>
              <a:t> as shared by myself.</a:t>
            </a:r>
          </a:p>
          <a:p>
            <a:r>
              <a:t>It learned from 19 seasons of history, was blind-tested on 10 past seasons, ranked the real champion at 5.90 on average where a random guess would be 15 or 16, and then called both the 2020-21 scoring leader and Stanley Cup winner: McDavid and the Lightning.</a:t>
            </a:r>
            <a:endParaRPr>
              <a:ea typeface="Calibri"/>
              <a:cs typeface="Calibri"/>
            </a:endParaRPr>
          </a:p>
          <a:p>
            <a:endParaRPr/>
          </a:p>
          <a:p>
            <a:r>
              <a:t>So the message is simple: data beats gut feel. Singapore Pools starts taking NHL bets in 2027, and we will be ready. One last honest note: these are back-tested simulations, not guarantees, so please bet responsibly. Thank you, and we are happy to take questions.</a:t>
            </a:r>
            <a:endParaRPr>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88897-093E-1C1C-0D89-EC02754BE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406C7-7CD3-2B9D-BAD8-2DC11A8997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D9E55-4A73-707A-6BED-6D1650D3FBEC}"/>
              </a:ext>
            </a:extLst>
          </p:cNvPr>
          <p:cNvSpPr>
            <a:spLocks noGrp="1"/>
          </p:cNvSpPr>
          <p:nvPr>
            <p:ph type="body" idx="1"/>
          </p:nvPr>
        </p:nvSpPr>
        <p:spPr/>
        <p:txBody>
          <a:bodyPr/>
          <a:lstStyle/>
          <a:p>
            <a:r>
              <a:rPr lang="en-US">
                <a:effectLst/>
                <a:latin typeface="Google Sans Text"/>
              </a:rPr>
              <a:t>Let's talk about the brain behind this entire operation - Our machine learning model. </a:t>
            </a:r>
          </a:p>
          <a:p>
            <a:r>
              <a:rPr lang="en-US">
                <a:effectLst/>
                <a:latin typeface="Google Sans Text"/>
              </a:rPr>
              <a:t>You might be asking, </a:t>
            </a:r>
            <a:r>
              <a:rPr lang="en-US" i="1">
                <a:effectLst/>
                <a:latin typeface="Google Sans Text"/>
              </a:rPr>
              <a:t>'Why did we pick Logistic Regression? </a:t>
            </a:r>
          </a:p>
          <a:p>
            <a:r>
              <a:rPr lang="en-US" i="1">
                <a:effectLst/>
                <a:latin typeface="Google Sans Text"/>
              </a:rPr>
              <a:t>Isn't that the old-school math tool from the 90s? </a:t>
            </a:r>
          </a:p>
          <a:p>
            <a:r>
              <a:rPr lang="en-US" i="1">
                <a:effectLst/>
                <a:latin typeface="Google Sans Text"/>
              </a:rPr>
              <a:t>Why not use a Deep Neural Network or Decision Tree model?’</a:t>
            </a:r>
          </a:p>
          <a:p>
            <a:endParaRPr lang="en-US" i="1">
              <a:effectLst/>
              <a:latin typeface="Google Sans Text"/>
            </a:endParaRPr>
          </a:p>
          <a:p>
            <a:pPr>
              <a:buFont typeface="Arial" panose="020B0604020202020204" pitchFamily="34" charset="0"/>
              <a:buChar char="•"/>
            </a:pPr>
            <a:r>
              <a:rPr lang="en-US" b="1">
                <a:effectLst/>
                <a:latin typeface="Google Sans Text"/>
              </a:rPr>
              <a:t>Option A: </a:t>
            </a:r>
            <a:r>
              <a:rPr lang="en-US">
                <a:effectLst/>
                <a:latin typeface="Google Sans Text"/>
              </a:rPr>
              <a:t>A genius model who overthinks every single detail, including what tie the goalie wore pre-game to the arena. Over-thinking on outlier non-gameplay data. That’s what high-tech models like Neural Networks or Decision Trees do on sports data: they overfit to pure noise. </a:t>
            </a:r>
          </a:p>
          <a:p>
            <a:pPr>
              <a:buFont typeface="Arial" panose="020B0604020202020204" pitchFamily="34" charset="0"/>
              <a:buChar char="•"/>
            </a:pPr>
            <a:r>
              <a:rPr lang="en-US" b="1"/>
              <a:t>Option B:</a:t>
            </a:r>
            <a:r>
              <a:rPr lang="en-US"/>
              <a:t> Logistic Regression: a calm, disciplined accountant who looks strictly at the core stats, calculates the exact probabilities, and tells you flat out, </a:t>
            </a:r>
            <a:r>
              <a:rPr lang="en-US" i="1"/>
              <a:t>'Hey, we have a 68% chance here, and the payout makes sense’</a:t>
            </a:r>
            <a:r>
              <a:rPr lang="en-US"/>
              <a:t>. </a:t>
            </a:r>
          </a:p>
          <a:p>
            <a:pPr>
              <a:buFont typeface="Arial" panose="020B0604020202020204" pitchFamily="34" charset="0"/>
              <a:buChar char="•"/>
            </a:pPr>
            <a:endParaRPr lang="en-US">
              <a:effectLst/>
              <a:latin typeface="Google Sans Text"/>
            </a:endParaRPr>
          </a:p>
          <a:p>
            <a:r>
              <a:rPr lang="en-US" b="0">
                <a:effectLst/>
                <a:latin typeface="Google Sans Text"/>
              </a:rPr>
              <a:t>Here is why it works so well with our specific data:</a:t>
            </a:r>
          </a:p>
          <a:p>
            <a:pPr>
              <a:buFont typeface="+mj-lt"/>
              <a:buAutoNum type="arabicPeriod"/>
            </a:pPr>
            <a:r>
              <a:rPr lang="en-US" b="1">
                <a:effectLst/>
                <a:latin typeface="Google Sans Text"/>
              </a:rPr>
              <a:t>It talks in pure probabilities:</a:t>
            </a:r>
            <a:r>
              <a:rPr lang="en-US">
                <a:effectLst/>
                <a:latin typeface="Google Sans Text"/>
              </a:rPr>
              <a:t> To calculate Expected Value (EV%), we need exact win percentages, not a wild guess. </a:t>
            </a:r>
          </a:p>
          <a:p>
            <a:pPr>
              <a:buFont typeface="+mj-lt"/>
              <a:buAutoNum type="arabicPeriod"/>
            </a:pPr>
            <a:r>
              <a:rPr lang="en-US" b="1"/>
              <a:t>It thrives on our "Gap Features":</a:t>
            </a:r>
            <a:r>
              <a:rPr lang="en-US"/>
              <a:t> We feed the model simple comparative metrics - like Team A’s scoring power minus Team B’s defense. </a:t>
            </a:r>
          </a:p>
          <a:p>
            <a:pPr>
              <a:buFont typeface="+mj-lt"/>
              <a:buAutoNum type="arabicPeriod"/>
            </a:pPr>
            <a:r>
              <a:rPr lang="en-US" b="1"/>
              <a:t>It doesn't panic over random luck:</a:t>
            </a:r>
            <a:r>
              <a:rPr lang="en-US"/>
              <a:t> This model stays simple, it doesn't get distracted by one crazy blowout game last Tuesday.</a:t>
            </a:r>
            <a:endParaRPr lang="en-US">
              <a:effectLst/>
              <a:latin typeface="Google Sans Text"/>
            </a:endParaRPr>
          </a:p>
          <a:p>
            <a:endParaRPr lang="en-US">
              <a:effectLst/>
              <a:latin typeface="Google Sans Text"/>
            </a:endParaRPr>
          </a:p>
          <a:p>
            <a:endParaRPr lang="en-US"/>
          </a:p>
        </p:txBody>
      </p:sp>
      <p:sp>
        <p:nvSpPr>
          <p:cNvPr id="4" name="Slide Number Placeholder 3">
            <a:extLst>
              <a:ext uri="{FF2B5EF4-FFF2-40B4-BE49-F238E27FC236}">
                <a16:creationId xmlns:a16="http://schemas.microsoft.com/office/drawing/2014/main" id="{46DB5CA4-A237-9626-FD09-D2784C03AC42}"/>
              </a:ext>
            </a:extLst>
          </p:cNvPr>
          <p:cNvSpPr>
            <a:spLocks noGrp="1"/>
          </p:cNvSpPr>
          <p:nvPr>
            <p:ph type="sldNum" sz="quarter" idx="5"/>
          </p:nvPr>
        </p:nvSpPr>
        <p:spPr/>
        <p:txBody>
          <a:bodyPr/>
          <a:lstStyle/>
          <a:p>
            <a:fld id="{04EFB372-5A58-4E06-97F0-041ECEE07415}" type="slidenum">
              <a:rPr lang="en-US" smtClean="0"/>
              <a:t>35</a:t>
            </a:fld>
            <a:endParaRPr lang="en-US"/>
          </a:p>
        </p:txBody>
      </p:sp>
    </p:spTree>
    <p:extLst>
      <p:ext uri="{BB962C8B-B14F-4D97-AF65-F5344CB8AC3E}">
        <p14:creationId xmlns:p14="http://schemas.microsoft.com/office/powerpoint/2010/main" val="16463041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noChangeAspect="1"/>
          </p:cNvSpPr>
          <p:nvPr>
            <p:ph type="pic" sz="quarter" idx="13" hasCustomPrompt="1"/>
          </p:nvPr>
        </p:nvSpPr>
        <p:spPr>
          <a:xfrm>
            <a:off x="0" y="-1"/>
            <a:ext cx="12192000" cy="4784036"/>
          </a:xfrm>
          <a:blipFill>
            <a:blip r:embed="rId2">
              <a:alphaModFix amt="70000"/>
            </a:blip>
            <a:stretch>
              <a:fillRect/>
            </a:stretch>
          </a:blipFill>
        </p:spPr>
        <p:txBody>
          <a:bodyPr anchor="t"/>
          <a:lstStyle>
            <a:lvl1pPr>
              <a:defRPr/>
            </a:lvl1pPr>
          </a:lstStyle>
          <a:p>
            <a:endParaRP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a:t>
              </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dirty="0"/>
              <a:pPr/>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p>
        </p:txBody>
      </p:sp>
    </p:spTree>
    <p:extLst>
      <p:ext uri="{BB962C8B-B14F-4D97-AF65-F5344CB8AC3E}">
        <p14:creationId xmlns:p14="http://schemas.microsoft.com/office/powerpoint/2010/main" val="38654876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a:t>
              </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dirty="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8810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6096000" y="0"/>
            <a:ext cx="6096000" cy="6858000"/>
          </a:xfrm>
          <a:blipFill>
            <a:blip r:embed="rId2">
              <a:alphaModFix amt="70000"/>
            </a:blip>
            <a:stretch>
              <a:fillRect/>
            </a:stretch>
          </a:blipFill>
        </p:spPr>
        <p:txBody>
          <a:bodyPr anchor="t"/>
          <a:lstStyle>
            <a:lvl1pPr>
              <a:defRPr/>
            </a:lvl1pPr>
          </a:lstStyle>
          <a:p>
            <a:endParaRP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p>
        </p:txBody>
      </p:sp>
    </p:spTree>
    <p:extLst>
      <p:ext uri="{BB962C8B-B14F-4D97-AF65-F5344CB8AC3E}">
        <p14:creationId xmlns:p14="http://schemas.microsoft.com/office/powerpoint/2010/main" val="25489452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311914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p>
        </p:txBody>
      </p:sp>
    </p:spTree>
    <p:extLst>
      <p:ext uri="{BB962C8B-B14F-4D97-AF65-F5344CB8AC3E}">
        <p14:creationId xmlns:p14="http://schemas.microsoft.com/office/powerpoint/2010/main" val="19661205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174960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noChangeAspect="1"/>
          </p:cNvSpPr>
          <p:nvPr>
            <p:ph type="pic" sz="quarter" idx="14" hasCustomPrompt="1"/>
          </p:nvPr>
        </p:nvSpPr>
        <p:spPr>
          <a:xfrm>
            <a:off x="0" y="0"/>
            <a:ext cx="5906642" cy="6858000"/>
          </a:xfrm>
          <a:blipFill>
            <a:blip r:embed="rId2">
              <a:alphaModFix amt="70000"/>
            </a:blip>
            <a:stretch>
              <a:fillRect/>
            </a:stretch>
          </a:blipFill>
        </p:spPr>
        <p:txBody>
          <a:bodyPr anchor="t"/>
          <a:lstStyle>
            <a:lvl1pPr>
              <a:defRPr/>
            </a:lvl1pPr>
          </a:lstStyle>
          <a:p>
            <a:endParaRP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dirty="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8564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a:t>
              </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dirty="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8322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a:t>
              </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dirty="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4379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804012" cy="6858000"/>
          </a:xfrm>
          <a:blipFill>
            <a:blip r:embed="rId2">
              <a:alphaModFix amt="70000"/>
            </a:blip>
            <a:stretch>
              <a:fillRect/>
            </a:stretch>
          </a:blipFill>
        </p:spPr>
        <p:txBody>
          <a:bodyPr anchor="t"/>
          <a:lstStyle>
            <a:lvl1pPr>
              <a:defRPr lang="en-US" dirty="0"/>
            </a:lvl1pPr>
          </a:lstStyle>
          <a:p>
            <a:endParaRP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a:t>
              </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915409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023360" cy="6858000"/>
          </a:xfrm>
          <a:blipFill>
            <a:blip r:embed="rId2">
              <a:alphaModFix amt="70000"/>
            </a:blip>
            <a:stretch>
              <a:fillRect/>
            </a:stretch>
          </a:blipFill>
        </p:spPr>
        <p:txBody>
          <a:bodyPr anchor="t"/>
          <a:lstStyle>
            <a:lvl1pPr>
              <a:defRPr/>
            </a:lvl1pPr>
          </a:lstStyle>
          <a:p>
            <a:endParaRP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a:t>
              </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933557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noChangeAspect="1"/>
          </p:cNvSpPr>
          <p:nvPr>
            <p:ph type="pic" sz="quarter" idx="13" hasCustomPrompt="1"/>
          </p:nvPr>
        </p:nvSpPr>
        <p:spPr>
          <a:xfrm>
            <a:off x="8168640" y="1"/>
            <a:ext cx="4023360" cy="6858000"/>
          </a:xfrm>
          <a:blipFill>
            <a:blip r:embed="rId2">
              <a:alphaModFix amt="70000"/>
            </a:blip>
            <a:stretch>
              <a:fillRect/>
            </a:stretch>
          </a:blipFill>
        </p:spPr>
        <p:txBody>
          <a:bodyPr anchor="t"/>
          <a:lstStyle>
            <a:lvl1pPr>
              <a:defRPr/>
            </a:lvl1pPr>
          </a:lstStyle>
          <a:p>
            <a:endParaRP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a:t>
              </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001398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noChangeAspect="1"/>
          </p:cNvSpPr>
          <p:nvPr>
            <p:ph type="pic" sz="quarter" idx="18" hasCustomPrompt="1"/>
          </p:nvPr>
        </p:nvSpPr>
        <p:spPr>
          <a:xfrm>
            <a:off x="6308842" y="0"/>
            <a:ext cx="5883158" cy="6858000"/>
          </a:xfrm>
          <a:blipFill>
            <a:blip r:embed="rId2">
              <a:alphaModFix amt="70000"/>
            </a:blip>
            <a:stretch>
              <a:fillRect/>
            </a:stretch>
          </a:blipFill>
        </p:spPr>
        <p:txBody>
          <a:bodyPr anchor="t"/>
          <a:lstStyle>
            <a:lvl1pPr>
              <a:defRPr/>
            </a:lvl1pPr>
          </a:lstStyle>
          <a:p>
            <a:endParaRP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a:t>
              </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5259238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noChangeAspect="1"/>
          </p:cNvSpPr>
          <p:nvPr>
            <p:ph type="pic" sz="quarter" idx="13" hasCustomPrompt="1"/>
          </p:nvPr>
        </p:nvSpPr>
        <p:spPr>
          <a:xfrm>
            <a:off x="5363570" y="0"/>
            <a:ext cx="6828430" cy="6858000"/>
          </a:xfrm>
          <a:blipFill>
            <a:blip r:embed="rId2">
              <a:alphaModFix amt="70000"/>
            </a:blip>
            <a:stretch>
              <a:fillRect/>
            </a:stretch>
          </a:blipFill>
        </p:spPr>
        <p:txBody>
          <a:bodyPr anchor="t"/>
          <a:lstStyle>
            <a:lvl1pPr>
              <a:defRPr/>
            </a:lvl1pPr>
          </a:lstStyle>
          <a:p>
            <a:endParaRP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a:t>
              </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1634508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noChangeAspect="1"/>
          </p:cNvSpPr>
          <p:nvPr>
            <p:ph type="pic" sz="quarter" idx="13" hasCustomPrompt="1"/>
          </p:nvPr>
        </p:nvSpPr>
        <p:spPr>
          <a:xfrm>
            <a:off x="-1" y="0"/>
            <a:ext cx="7260609" cy="6858000"/>
          </a:xfrm>
          <a:blipFill>
            <a:blip r:embed="rId2">
              <a:alphaModFix amt="7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a:t>
              </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3754049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3429000"/>
          </a:xfrm>
          <a:blipFill>
            <a:blip r:embed="rId2">
              <a:alphaModFix amt="70000"/>
            </a:blip>
            <a:stretch>
              <a:fillRect/>
            </a:stretch>
          </a:blipFill>
        </p:spPr>
        <p:txBody>
          <a:bodyPr anchor="t"/>
          <a:lstStyle>
            <a:lvl1pPr>
              <a:defRPr/>
            </a:lvl1pPr>
          </a:lstStyle>
          <a:p>
            <a:endParaRP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a:t>
              </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dirty="0"/>
              <a:t>‹#›</a:t>
            </a:fld>
            <a:endParaRPr lang="en-US"/>
          </a:p>
        </p:txBody>
      </p:sp>
    </p:spTree>
    <p:extLst>
      <p:ext uri="{BB962C8B-B14F-4D97-AF65-F5344CB8AC3E}">
        <p14:creationId xmlns:p14="http://schemas.microsoft.com/office/powerpoint/2010/main" val="12854163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noChangeAspect="1"/>
          </p:cNvSpPr>
          <p:nvPr>
            <p:ph type="pic" sz="quarter" idx="18" hasCustomPrompt="1"/>
          </p:nvPr>
        </p:nvSpPr>
        <p:spPr>
          <a:xfrm>
            <a:off x="109181" y="2115403"/>
            <a:ext cx="5786651" cy="4671431"/>
          </a:xfrm>
          <a:blipFill>
            <a:blip r:embed="rId2">
              <a:alphaModFix amt="70000"/>
            </a:blip>
            <a:stretch>
              <a:fillRect/>
            </a:stretch>
          </a:blipFill>
        </p:spPr>
        <p:txBody>
          <a:bodyPr anchor="t"/>
          <a:lstStyle>
            <a:lvl1pPr>
              <a:defRPr/>
            </a:lvl1pPr>
          </a:lstStyle>
          <a:p>
            <a:endParaRP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a:t>
              </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dirty="0"/>
              <a:pPr/>
              <a:t>‹#›</a:t>
            </a:fld>
            <a:endParaRPr lang="en-US"/>
          </a:p>
        </p:txBody>
      </p:sp>
    </p:spTree>
    <p:extLst>
      <p:ext uri="{BB962C8B-B14F-4D97-AF65-F5344CB8AC3E}">
        <p14:creationId xmlns:p14="http://schemas.microsoft.com/office/powerpoint/2010/main" val="3521602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6740" y="2899954"/>
            <a:ext cx="3610418" cy="3314046"/>
          </a:xfrm>
          <a:blipFill>
            <a:blip r:embed="rId2">
              <a:alphaModFix amt="70000"/>
            </a:blip>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a:t>
              </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dirty="0"/>
              <a:pPr/>
              <a:t>‹#›</a:t>
            </a:fld>
            <a:endParaRPr lang="en-US"/>
          </a:p>
        </p:txBody>
      </p:sp>
    </p:spTree>
    <p:extLst>
      <p:ext uri="{BB962C8B-B14F-4D97-AF65-F5344CB8AC3E}">
        <p14:creationId xmlns:p14="http://schemas.microsoft.com/office/powerpoint/2010/main" val="29153226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331324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a:t>
              </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dirty="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94280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dirty="0"/>
              <a:pPr/>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a:t>
              </a:t>
            </a:r>
          </a:p>
        </p:txBody>
      </p:sp>
    </p:spTree>
    <p:extLst>
      <p:ext uri="{BB962C8B-B14F-4D97-AF65-F5344CB8AC3E}">
        <p14:creationId xmlns:p14="http://schemas.microsoft.com/office/powerpoint/2010/main" val="759047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r>
              <a:rPr lang="en-US"/>
              <a:t>
              </a:t>
            </a: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08174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r>
              <a:rPr lang="en-US"/>
              <a:t>
              </a:t>
            </a: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C057153-B650-4DEB-B370-79DDCFDCE934}" type="slidenum">
              <a:rPr lang="en-US" dirty="0"/>
              <a:pPr/>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endParaRPr lang="en-US"/>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endParaRPr lang="en-US"/>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72070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6412167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a:t>
              </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537720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a:t>
              </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dirty="0"/>
              <a:pPr/>
              <a:t>‹#›</a:t>
            </a:fld>
            <a:endParaRPr lang="en-US"/>
          </a:p>
        </p:txBody>
      </p:sp>
    </p:spTree>
    <p:extLst>
      <p:ext uri="{BB962C8B-B14F-4D97-AF65-F5344CB8AC3E}">
        <p14:creationId xmlns:p14="http://schemas.microsoft.com/office/powerpoint/2010/main" val="145440078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a:t>
              </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dirty="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6750536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10/5/2026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9795597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002116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221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1A2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dirty="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8018723"/>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 id="2147484026" r:id="rId18"/>
    <p:sldLayoutId id="2147484027" r:id="rId19"/>
    <p:sldLayoutId id="2147484028" r:id="rId20"/>
    <p:sldLayoutId id="2147484029" r:id="rId21"/>
    <p:sldLayoutId id="2147484030" r:id="rId22"/>
    <p:sldLayoutId id="2147484031" r:id="rId23"/>
    <p:sldLayoutId id="2147484032" r:id="rId24"/>
    <p:sldLayoutId id="2147484033" r:id="rId25"/>
    <p:sldLayoutId id="2147484034" r:id="rId26"/>
    <p:sldLayoutId id="2147484035" r:id="rId27"/>
    <p:sldLayoutId id="2147484036" r:id="rId28"/>
    <p:sldLayoutId id="2147484037" r:id="rId29"/>
    <p:sldLayoutId id="2147484038" r:id="rId30"/>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5.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9.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9.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9.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C79B1DC-B9E1-D8AD-A6A0-FD536AD0DF7A}"/>
              </a:ext>
            </a:extLst>
          </p:cNvPr>
          <p:cNvGrpSpPr/>
          <p:nvPr/>
        </p:nvGrpSpPr>
        <p:grpSpPr>
          <a:xfrm>
            <a:off x="0" y="1588"/>
            <a:ext cx="12242806" cy="7019794"/>
            <a:chOff x="0" y="1588"/>
            <a:chExt cx="12242806" cy="7019794"/>
          </a:xfrm>
        </p:grpSpPr>
        <p:pic>
          <p:nvPicPr>
            <p:cNvPr id="14" name="Picture 13">
              <a:extLst>
                <a:ext uri="{FF2B5EF4-FFF2-40B4-BE49-F238E27FC236}">
                  <a16:creationId xmlns:a16="http://schemas.microsoft.com/office/drawing/2014/main" id="{39860CC7-282F-2283-B9F5-448B9E2C31A9}"/>
                </a:ext>
              </a:extLst>
            </p:cNvPr>
            <p:cNvPicPr>
              <a:picLocks noChangeAspect="1"/>
            </p:cNvPicPr>
            <p:nvPr/>
          </p:nvPicPr>
          <p:blipFill>
            <a:blip r:embed="rId3"/>
            <a:srcRect l="823" t="1607" b="-179"/>
            <a:stretch>
              <a:fillRect/>
            </a:stretch>
          </p:blipFill>
          <p:spPr>
            <a:xfrm>
              <a:off x="0" y="1588"/>
              <a:ext cx="12242806" cy="7019794"/>
            </a:xfrm>
            <a:prstGeom prst="rect">
              <a:avLst/>
            </a:prstGeom>
          </p:spPr>
        </p:pic>
        <p:sp>
          <p:nvSpPr>
            <p:cNvPr id="2" name="Rectangle 1">
              <a:extLst>
                <a:ext uri="{FF2B5EF4-FFF2-40B4-BE49-F238E27FC236}">
                  <a16:creationId xmlns:a16="http://schemas.microsoft.com/office/drawing/2014/main" id="{4F3DB8FD-57D8-25A9-F681-F6D4E88CA5FE}"/>
                </a:ext>
              </a:extLst>
            </p:cNvPr>
            <p:cNvSpPr/>
            <p:nvPr/>
          </p:nvSpPr>
          <p:spPr>
            <a:xfrm rot="21120000">
              <a:off x="9009034" y="2305858"/>
              <a:ext cx="1313052" cy="239702"/>
            </a:xfrm>
            <a:prstGeom prst="rect">
              <a:avLst/>
            </a:prstGeom>
            <a:solidFill>
              <a:srgbClr val="0A38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hockey players on ice&#10;&#10;AI-generated content may be incorrect.">
            <a:extLst>
              <a:ext uri="{FF2B5EF4-FFF2-40B4-BE49-F238E27FC236}">
                <a16:creationId xmlns:a16="http://schemas.microsoft.com/office/drawing/2014/main" id="{CED76D0E-0EA5-F263-EA24-48EC2380BDFC}"/>
              </a:ext>
            </a:extLst>
          </p:cNvPr>
          <p:cNvPicPr>
            <a:picLocks noChangeAspect="1"/>
          </p:cNvPicPr>
          <p:nvPr/>
        </p:nvPicPr>
        <p:blipFill>
          <a:blip r:embed="rId2"/>
          <a:srcRect l="11198" t="-1965" r="10547" b="13797"/>
          <a:stretch>
            <a:fillRect/>
          </a:stretch>
        </p:blipFill>
        <p:spPr>
          <a:xfrm>
            <a:off x="6275985" y="1710259"/>
            <a:ext cx="5918319" cy="44778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 0">
            <a:extLst>
              <a:ext uri="{FF2B5EF4-FFF2-40B4-BE49-F238E27FC236}">
                <a16:creationId xmlns:a16="http://schemas.microsoft.com/office/drawing/2014/main" id="{CE999CFA-D8D8-BC2C-6EBD-5E086A317764}"/>
              </a:ext>
            </a:extLst>
          </p:cNvPr>
          <p:cNvSpPr txBox="1"/>
          <p:nvPr/>
        </p:nvSpPr>
        <p:spPr>
          <a:xfrm>
            <a:off x="345793" y="23566"/>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latin typeface="Arial"/>
                <a:cs typeface="Arial"/>
              </a:rPr>
              <a:t>The Winning Strategy: Team Hi5</a:t>
            </a:r>
            <a:endParaRPr lang="en-US"/>
          </a:p>
        </p:txBody>
      </p:sp>
      <p:sp>
        <p:nvSpPr>
          <p:cNvPr id="13" name="Rectangle: Rounded Corners 12">
            <a:extLst>
              <a:ext uri="{FF2B5EF4-FFF2-40B4-BE49-F238E27FC236}">
                <a16:creationId xmlns:a16="http://schemas.microsoft.com/office/drawing/2014/main" id="{0EF54EE0-C361-5B3E-6CE0-C8DE1E00915F}"/>
              </a:ext>
            </a:extLst>
          </p:cNvPr>
          <p:cNvSpPr/>
          <p:nvPr/>
        </p:nvSpPr>
        <p:spPr>
          <a:xfrm>
            <a:off x="155287" y="1762252"/>
            <a:ext cx="5931998" cy="3778773"/>
          </a:xfrm>
          <a:prstGeom prst="roundRect">
            <a:avLst/>
          </a:prstGeom>
          <a:solidFill>
            <a:srgbClr val="0E2A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br>
            <a:endParaRPr lang="en-US"/>
          </a:p>
        </p:txBody>
      </p:sp>
      <p:sp>
        <p:nvSpPr>
          <p:cNvPr id="11" name="TextBox 10">
            <a:extLst>
              <a:ext uri="{FF2B5EF4-FFF2-40B4-BE49-F238E27FC236}">
                <a16:creationId xmlns:a16="http://schemas.microsoft.com/office/drawing/2014/main" id="{8DA95031-7D8E-6CD5-3752-47DB18DB904B}"/>
              </a:ext>
            </a:extLst>
          </p:cNvPr>
          <p:cNvSpPr txBox="1"/>
          <p:nvPr/>
        </p:nvSpPr>
        <p:spPr>
          <a:xfrm>
            <a:off x="356257" y="2004753"/>
            <a:ext cx="5742303"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a:ea typeface="Calibri"/>
                <a:cs typeface="Calibri"/>
              </a:rPr>
              <a:t>Kelvin  |  Felix  |  Kabilash  |  Von</a:t>
            </a:r>
            <a:br>
              <a:rPr lang="en-US" b="1">
                <a:latin typeface="Calibri"/>
                <a:ea typeface="Calibri"/>
                <a:cs typeface="Calibri"/>
              </a:rPr>
            </a:br>
            <a:br>
              <a:rPr lang="en-US" b="1">
                <a:latin typeface="Calibri"/>
                <a:ea typeface="Calibri"/>
                <a:cs typeface="Calibri"/>
              </a:rPr>
            </a:br>
            <a:r>
              <a:rPr lang="en-US" b="1">
                <a:latin typeface="Calibri"/>
                <a:ea typeface="Calibri"/>
                <a:cs typeface="Calibri"/>
              </a:rPr>
              <a:t>From coffee towkays in Philippines to now pro max ice hockey bankers, we are here to share how to make smart sports analytics investments using  two winning formulas that will perk up your mornings. </a:t>
            </a:r>
            <a:endParaRPr lang="en-US">
              <a:latin typeface="Neue Haas Grotesk Text Pro"/>
              <a:ea typeface="Calibri"/>
              <a:cs typeface="Calibri"/>
            </a:endParaRPr>
          </a:p>
          <a:p>
            <a:endParaRPr lang="en-US" b="1">
              <a:latin typeface="Calibri"/>
              <a:ea typeface="Calibri"/>
              <a:cs typeface="Calibri"/>
            </a:endParaRPr>
          </a:p>
          <a:p>
            <a:br>
              <a:rPr lang="en-US" b="1">
                <a:latin typeface="Calibri"/>
                <a:ea typeface="Calibri"/>
                <a:cs typeface="Calibri"/>
              </a:rPr>
            </a:br>
            <a:br>
              <a:rPr lang="en-US" b="1">
                <a:latin typeface="Calibri"/>
                <a:ea typeface="Calibri"/>
                <a:cs typeface="Calibri"/>
              </a:rPr>
            </a:br>
            <a:r>
              <a:rPr lang="en-US" b="1">
                <a:latin typeface="Calibri"/>
                <a:ea typeface="Calibri"/>
                <a:cs typeface="Calibri"/>
              </a:rPr>
              <a:t>You don't need to sign up for JDE11.</a:t>
            </a:r>
            <a:endParaRPr lang="en-US"/>
          </a:p>
          <a:p>
            <a:r>
              <a:rPr lang="en-US" b="1">
                <a:latin typeface="Calibri"/>
                <a:ea typeface="Calibri"/>
                <a:cs typeface="Calibri"/>
              </a:rPr>
              <a:t>You just need to learn more about our tried-and-tested logistic regression and data modeling.</a:t>
            </a:r>
            <a:endParaRPr lang="en-US"/>
          </a:p>
        </p:txBody>
      </p:sp>
      <p:sp>
        <p:nvSpPr>
          <p:cNvPr id="2" name="TextBox 1">
            <a:extLst>
              <a:ext uri="{FF2B5EF4-FFF2-40B4-BE49-F238E27FC236}">
                <a16:creationId xmlns:a16="http://schemas.microsoft.com/office/drawing/2014/main" id="{64CCFE25-6A50-E0E6-A39A-62B9521DDA5D}"/>
              </a:ext>
            </a:extLst>
          </p:cNvPr>
          <p:cNvSpPr txBox="1"/>
          <p:nvPr/>
        </p:nvSpPr>
        <p:spPr>
          <a:xfrm>
            <a:off x="1184405" y="3950922"/>
            <a:ext cx="3044024" cy="677108"/>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The Bouncer   </a:t>
            </a:r>
            <a:r>
              <a:rPr lang="en-US" sz="2000" b="1">
                <a:latin typeface="Calibri"/>
                <a:ea typeface="Calibri"/>
                <a:cs typeface="Calibri"/>
              </a:rPr>
              <a:t>X   </a:t>
            </a:r>
            <a:r>
              <a:rPr lang="en-US" b="1">
                <a:latin typeface="Calibri"/>
                <a:ea typeface="Calibri"/>
                <a:cs typeface="Calibri"/>
              </a:rPr>
              <a:t>The Historian</a:t>
            </a:r>
            <a:endParaRPr lang="en-US"/>
          </a:p>
        </p:txBody>
      </p:sp>
    </p:spTree>
    <p:extLst>
      <p:ext uri="{BB962C8B-B14F-4D97-AF65-F5344CB8AC3E}">
        <p14:creationId xmlns:p14="http://schemas.microsoft.com/office/powerpoint/2010/main" val="2192523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9BBE9914-E742-4AD5-2373-0C077F5E6F06}"/>
              </a:ext>
            </a:extLst>
          </p:cNvPr>
          <p:cNvGrpSpPr/>
          <p:nvPr/>
        </p:nvGrpSpPr>
        <p:grpSpPr>
          <a:xfrm>
            <a:off x="-42333" y="840142"/>
            <a:ext cx="12242799" cy="6024386"/>
            <a:chOff x="28222" y="840142"/>
            <a:chExt cx="12186355" cy="6024386"/>
          </a:xfrm>
        </p:grpSpPr>
        <p:pic>
          <p:nvPicPr>
            <p:cNvPr id="3" name="Picture 2">
              <a:extLst>
                <a:ext uri="{FF2B5EF4-FFF2-40B4-BE49-F238E27FC236}">
                  <a16:creationId xmlns:a16="http://schemas.microsoft.com/office/drawing/2014/main" id="{5B0A6423-5CDD-88C5-177A-202ABD2423B2}"/>
                </a:ext>
              </a:extLst>
            </p:cNvPr>
            <p:cNvPicPr>
              <a:picLocks noChangeAspect="1"/>
            </p:cNvPicPr>
            <p:nvPr/>
          </p:nvPicPr>
          <p:blipFill>
            <a:blip r:embed="rId2"/>
            <a:stretch>
              <a:fillRect/>
            </a:stretch>
          </p:blipFill>
          <p:spPr>
            <a:xfrm>
              <a:off x="33867" y="840142"/>
              <a:ext cx="12180710" cy="6024386"/>
            </a:xfrm>
            <a:prstGeom prst="rect">
              <a:avLst/>
            </a:prstGeom>
          </p:spPr>
        </p:pic>
        <p:sp>
          <p:nvSpPr>
            <p:cNvPr id="4" name="Rectangle 3">
              <a:extLst>
                <a:ext uri="{FF2B5EF4-FFF2-40B4-BE49-F238E27FC236}">
                  <a16:creationId xmlns:a16="http://schemas.microsoft.com/office/drawing/2014/main" id="{7E9D8F77-0985-3BCF-C712-B451169EC920}"/>
                </a:ext>
              </a:extLst>
            </p:cNvPr>
            <p:cNvSpPr/>
            <p:nvPr/>
          </p:nvSpPr>
          <p:spPr>
            <a:xfrm>
              <a:off x="28222" y="843768"/>
              <a:ext cx="12182544" cy="830378"/>
            </a:xfrm>
            <a:prstGeom prst="rect">
              <a:avLst/>
            </a:prstGeom>
            <a:solidFill>
              <a:srgbClr val="061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6C0E0F6-CCCA-7B85-BB0F-E66CA0A45FF4}"/>
                </a:ext>
              </a:extLst>
            </p:cNvPr>
            <p:cNvSpPr/>
            <p:nvPr/>
          </p:nvSpPr>
          <p:spPr>
            <a:xfrm>
              <a:off x="28222" y="1704546"/>
              <a:ext cx="9473212" cy="1916933"/>
            </a:xfrm>
            <a:prstGeom prst="rect">
              <a:avLst/>
            </a:prstGeom>
            <a:solidFill>
              <a:srgbClr val="061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 0">
            <a:extLst>
              <a:ext uri="{FF2B5EF4-FFF2-40B4-BE49-F238E27FC236}">
                <a16:creationId xmlns:a16="http://schemas.microsoft.com/office/drawing/2014/main" id="{A1489A68-7F80-569D-1A38-7661BF17D7DD}"/>
              </a:ext>
            </a:extLst>
          </p:cNvPr>
          <p:cNvSpPr txBox="1"/>
          <p:nvPr/>
        </p:nvSpPr>
        <p:spPr>
          <a:xfrm>
            <a:off x="345793" y="23566"/>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solidFill>
                  <a:srgbClr val="0B1F3A"/>
                </a:solidFill>
                <a:latin typeface="Arial"/>
                <a:cs typeface="Arial"/>
              </a:rPr>
              <a:t>An Intro to Ice Hockey</a:t>
            </a:r>
            <a:endParaRPr lang="en-US"/>
          </a:p>
        </p:txBody>
      </p:sp>
      <p:sp>
        <p:nvSpPr>
          <p:cNvPr id="37" name="Rectangle: Rounded Corners 36">
            <a:extLst>
              <a:ext uri="{FF2B5EF4-FFF2-40B4-BE49-F238E27FC236}">
                <a16:creationId xmlns:a16="http://schemas.microsoft.com/office/drawing/2014/main" id="{7E89E143-AD9D-43A9-39FA-A9E6AEB7FC95}"/>
              </a:ext>
            </a:extLst>
          </p:cNvPr>
          <p:cNvSpPr/>
          <p:nvPr/>
        </p:nvSpPr>
        <p:spPr>
          <a:xfrm>
            <a:off x="317145" y="1153649"/>
            <a:ext cx="8414315" cy="314807"/>
          </a:xfrm>
          <a:prstGeom prst="roundRect">
            <a:avLst/>
          </a:prstGeom>
          <a:solidFill>
            <a:srgbClr val="0E2A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br>
            <a:endParaRPr lang="en-US"/>
          </a:p>
        </p:txBody>
      </p:sp>
      <p:sp>
        <p:nvSpPr>
          <p:cNvPr id="39" name="TextBox 38">
            <a:extLst>
              <a:ext uri="{FF2B5EF4-FFF2-40B4-BE49-F238E27FC236}">
                <a16:creationId xmlns:a16="http://schemas.microsoft.com/office/drawing/2014/main" id="{B3D685BA-8CBB-5431-CF82-7B333324CD31}"/>
              </a:ext>
            </a:extLst>
          </p:cNvPr>
          <p:cNvSpPr txBox="1"/>
          <p:nvPr/>
        </p:nvSpPr>
        <p:spPr>
          <a:xfrm>
            <a:off x="405952" y="853532"/>
            <a:ext cx="914258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solidFill>
                <a:schemeClr val="bg1"/>
              </a:solidFill>
              <a:latin typeface="Calibri"/>
              <a:ea typeface="Calibri"/>
              <a:cs typeface="Calibri"/>
            </a:endParaRPr>
          </a:p>
          <a:p>
            <a:r>
              <a:rPr lang="en-US" sz="1600" b="1">
                <a:solidFill>
                  <a:schemeClr val="bg1"/>
                </a:solidFill>
                <a:latin typeface="Calibri"/>
                <a:ea typeface="Calibri"/>
                <a:cs typeface="Calibri"/>
              </a:rPr>
              <a:t>Scale: </a:t>
            </a:r>
            <a:r>
              <a:rPr lang="en-US" sz="1600">
                <a:solidFill>
                  <a:schemeClr val="bg1"/>
                </a:solidFill>
                <a:latin typeface="Calibri"/>
                <a:ea typeface="Calibri"/>
                <a:cs typeface="Calibri"/>
              </a:rPr>
              <a:t>32 teams | 82 games/season | 9-Month period (preseason, regular season, and playoffs) </a:t>
            </a:r>
          </a:p>
        </p:txBody>
      </p:sp>
      <p:sp>
        <p:nvSpPr>
          <p:cNvPr id="44" name="Rectangle: Rounded Corners 43">
            <a:extLst>
              <a:ext uri="{FF2B5EF4-FFF2-40B4-BE49-F238E27FC236}">
                <a16:creationId xmlns:a16="http://schemas.microsoft.com/office/drawing/2014/main" id="{AB433C83-60D6-148F-52C4-CA2C89F1F83E}"/>
              </a:ext>
            </a:extLst>
          </p:cNvPr>
          <p:cNvSpPr/>
          <p:nvPr/>
        </p:nvSpPr>
        <p:spPr>
          <a:xfrm>
            <a:off x="331256" y="1718093"/>
            <a:ext cx="8428427" cy="653473"/>
          </a:xfrm>
          <a:prstGeom prst="roundRect">
            <a:avLst/>
          </a:prstGeom>
          <a:solidFill>
            <a:srgbClr val="0E2A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br>
            <a:endParaRPr lang="en-US"/>
          </a:p>
        </p:txBody>
      </p:sp>
      <p:sp>
        <p:nvSpPr>
          <p:cNvPr id="45" name="TextBox 44">
            <a:extLst>
              <a:ext uri="{FF2B5EF4-FFF2-40B4-BE49-F238E27FC236}">
                <a16:creationId xmlns:a16="http://schemas.microsoft.com/office/drawing/2014/main" id="{345EC0C7-0ABE-E7D2-0568-35506ACD5F17}"/>
              </a:ext>
            </a:extLst>
          </p:cNvPr>
          <p:cNvSpPr txBox="1"/>
          <p:nvPr/>
        </p:nvSpPr>
        <p:spPr>
          <a:xfrm>
            <a:off x="342451" y="1474421"/>
            <a:ext cx="914258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solidFill>
                <a:schemeClr val="bg1"/>
              </a:solidFill>
              <a:latin typeface="Calibri"/>
              <a:ea typeface="Calibri"/>
              <a:cs typeface="Calibri"/>
            </a:endParaRPr>
          </a:p>
          <a:p>
            <a:r>
              <a:rPr lang="en-US" sz="1600" b="1">
                <a:solidFill>
                  <a:schemeClr val="bg1"/>
                </a:solidFill>
                <a:latin typeface="Calibri"/>
                <a:ea typeface="Calibri"/>
                <a:cs typeface="Calibri"/>
              </a:rPr>
              <a:t>Lineup: </a:t>
            </a:r>
            <a:r>
              <a:rPr lang="en-US" sz="1600">
                <a:solidFill>
                  <a:schemeClr val="bg1"/>
                </a:solidFill>
                <a:latin typeface="Calibri"/>
                <a:ea typeface="Calibri"/>
                <a:cs typeface="Calibri"/>
              </a:rPr>
              <a:t>6 Active Players on ice (3 Forwards, 2 Defensemen, 1 Goalie) along with frequent live-play substitutions that introduce complex team performance variables </a:t>
            </a:r>
          </a:p>
        </p:txBody>
      </p:sp>
    </p:spTree>
    <p:extLst>
      <p:ext uri="{BB962C8B-B14F-4D97-AF65-F5344CB8AC3E}">
        <p14:creationId xmlns:p14="http://schemas.microsoft.com/office/powerpoint/2010/main" val="139195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AC0B36-579A-3ABF-1881-4ED160C9DA1B}"/>
              </a:ext>
            </a:extLst>
          </p:cNvPr>
          <p:cNvPicPr>
            <a:picLocks noGrp="1" noChangeAspect="1"/>
          </p:cNvPicPr>
          <p:nvPr>
            <p:ph idx="1"/>
          </p:nvPr>
        </p:nvPicPr>
        <p:blipFill>
          <a:blip r:embed="rId2"/>
          <a:stretch>
            <a:fillRect/>
          </a:stretch>
        </p:blipFill>
        <p:spPr>
          <a:xfrm>
            <a:off x="-7336" y="-6577"/>
            <a:ext cx="12206110" cy="4871641"/>
          </a:xfrm>
          <a:prstGeom prst="rect">
            <a:avLst/>
          </a:prstGeom>
        </p:spPr>
      </p:pic>
      <p:sp>
        <p:nvSpPr>
          <p:cNvPr id="6" name="TextBox 5">
            <a:extLst>
              <a:ext uri="{FF2B5EF4-FFF2-40B4-BE49-F238E27FC236}">
                <a16:creationId xmlns:a16="http://schemas.microsoft.com/office/drawing/2014/main" id="{8E712DB9-56B2-2DBA-C8D1-B0F164CE3A60}"/>
              </a:ext>
            </a:extLst>
          </p:cNvPr>
          <p:cNvSpPr txBox="1"/>
          <p:nvPr/>
        </p:nvSpPr>
        <p:spPr>
          <a:xfrm>
            <a:off x="8490368" y="5056841"/>
            <a:ext cx="336231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071A2F"/>
                </a:solidFill>
                <a:latin typeface="Arial"/>
                <a:cs typeface="Arial"/>
              </a:rPr>
              <a:t>Moneyline ("only 1 match winner")</a:t>
            </a:r>
          </a:p>
          <a:p>
            <a:pPr marL="285750" indent="-285750">
              <a:buFont typeface="Arial"/>
              <a:buChar char="•"/>
            </a:pPr>
            <a:r>
              <a:rPr lang="en-US" sz="1200">
                <a:solidFill>
                  <a:schemeClr val="accent5">
                    <a:lumMod val="49000"/>
                  </a:schemeClr>
                </a:solidFill>
                <a:latin typeface="Calibri"/>
                <a:ea typeface="Calibri"/>
                <a:cs typeface="Calibri"/>
              </a:rPr>
              <a:t>Predict the winning team excluding overtime and shootouts</a:t>
            </a:r>
            <a:br>
              <a:rPr lang="en-US" sz="1200">
                <a:latin typeface="Calibri"/>
                <a:ea typeface="Calibri"/>
                <a:cs typeface="Calibri"/>
              </a:rPr>
            </a:br>
            <a:endParaRPr lang="en-US" sz="1200">
              <a:solidFill>
                <a:schemeClr val="accent5">
                  <a:lumMod val="49000"/>
                </a:schemeClr>
              </a:solidFill>
              <a:latin typeface="Calibri"/>
              <a:ea typeface="Calibri"/>
              <a:cs typeface="Calibri"/>
            </a:endParaRPr>
          </a:p>
          <a:p>
            <a:pPr marL="285750" indent="-285750">
              <a:buFont typeface="Arial"/>
              <a:buChar char="•"/>
            </a:pPr>
            <a:r>
              <a:rPr lang="en-US" sz="1200" err="1">
                <a:solidFill>
                  <a:schemeClr val="accent5">
                    <a:lumMod val="49000"/>
                  </a:schemeClr>
                </a:solidFill>
                <a:latin typeface="Calibri"/>
                <a:ea typeface="Calibri"/>
                <a:cs typeface="Calibri"/>
              </a:rPr>
              <a:t>Favourite</a:t>
            </a:r>
            <a:r>
              <a:rPr lang="en-US" sz="1200">
                <a:solidFill>
                  <a:schemeClr val="accent5">
                    <a:lumMod val="49000"/>
                  </a:schemeClr>
                </a:solidFill>
                <a:latin typeface="Calibri"/>
                <a:ea typeface="Calibri"/>
                <a:cs typeface="Calibri"/>
              </a:rPr>
              <a:t> (-) &gt; higher % to win &gt; lower payout</a:t>
            </a:r>
            <a:br>
              <a:rPr lang="en-US" sz="1200">
                <a:latin typeface="Calibri"/>
                <a:ea typeface="Calibri"/>
                <a:cs typeface="Calibri"/>
              </a:rPr>
            </a:br>
            <a:endParaRPr lang="en-US" sz="1200">
              <a:solidFill>
                <a:schemeClr val="accent5">
                  <a:lumMod val="49000"/>
                </a:schemeClr>
              </a:solidFill>
              <a:latin typeface="Calibri"/>
              <a:ea typeface="Calibri"/>
              <a:cs typeface="Calibri"/>
            </a:endParaRPr>
          </a:p>
          <a:p>
            <a:pPr marL="285750" indent="-285750">
              <a:buFont typeface="Arial"/>
              <a:buChar char="•"/>
            </a:pPr>
            <a:r>
              <a:rPr lang="en-US" sz="1200">
                <a:solidFill>
                  <a:schemeClr val="accent5">
                    <a:lumMod val="49000"/>
                  </a:schemeClr>
                </a:solidFill>
                <a:latin typeface="Calibri"/>
                <a:ea typeface="Calibri"/>
                <a:cs typeface="Calibri"/>
              </a:rPr>
              <a:t>Underdog (+) &gt; lower % to win &gt; higher payout</a:t>
            </a:r>
          </a:p>
        </p:txBody>
      </p:sp>
      <p:sp>
        <p:nvSpPr>
          <p:cNvPr id="7" name="Rectangle 6">
            <a:extLst>
              <a:ext uri="{FF2B5EF4-FFF2-40B4-BE49-F238E27FC236}">
                <a16:creationId xmlns:a16="http://schemas.microsoft.com/office/drawing/2014/main" id="{A99B9DB5-1710-C19C-DA11-C2D868196E14}"/>
              </a:ext>
            </a:extLst>
          </p:cNvPr>
          <p:cNvSpPr/>
          <p:nvPr/>
        </p:nvSpPr>
        <p:spPr>
          <a:xfrm>
            <a:off x="-2452" y="-10845"/>
            <a:ext cx="12189177" cy="1281288"/>
          </a:xfrm>
          <a:prstGeom prst="rect">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0">
            <a:extLst>
              <a:ext uri="{FF2B5EF4-FFF2-40B4-BE49-F238E27FC236}">
                <a16:creationId xmlns:a16="http://schemas.microsoft.com/office/drawing/2014/main" id="{EB507B45-13AA-0817-D2C2-4A372A1E06DE}"/>
              </a:ext>
            </a:extLst>
          </p:cNvPr>
          <p:cNvSpPr txBox="1"/>
          <p:nvPr/>
        </p:nvSpPr>
        <p:spPr>
          <a:xfrm>
            <a:off x="191893" y="35912"/>
            <a:ext cx="10938933"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solidFill>
                  <a:schemeClr val="bg1"/>
                </a:solidFill>
                <a:latin typeface="Arial"/>
                <a:cs typeface="Arial"/>
              </a:rPr>
              <a:t>Singapore Dreaming: Driving Data in NHL Betting</a:t>
            </a:r>
          </a:p>
        </p:txBody>
      </p:sp>
      <p:sp>
        <p:nvSpPr>
          <p:cNvPr id="11" name="TextBox 10">
            <a:extLst>
              <a:ext uri="{FF2B5EF4-FFF2-40B4-BE49-F238E27FC236}">
                <a16:creationId xmlns:a16="http://schemas.microsoft.com/office/drawing/2014/main" id="{51D596DD-D272-45D9-D1F2-3C38E55FEC4D}"/>
              </a:ext>
            </a:extLst>
          </p:cNvPr>
          <p:cNvSpPr txBox="1"/>
          <p:nvPr/>
        </p:nvSpPr>
        <p:spPr>
          <a:xfrm>
            <a:off x="4360222" y="5064338"/>
            <a:ext cx="3508720"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err="1">
                <a:solidFill>
                  <a:srgbClr val="071A2F"/>
                </a:solidFill>
                <a:latin typeface="Arial"/>
                <a:cs typeface="Arial"/>
              </a:rPr>
              <a:t>Puckline</a:t>
            </a:r>
            <a:r>
              <a:rPr lang="en-US" sz="1200" b="1">
                <a:solidFill>
                  <a:srgbClr val="071A2F"/>
                </a:solidFill>
                <a:latin typeface="Arial"/>
                <a:cs typeface="Arial"/>
              </a:rPr>
              <a:t> ("handicap betting")</a:t>
            </a:r>
          </a:p>
          <a:p>
            <a:pPr marL="285750" indent="-285750">
              <a:buFont typeface="Arial"/>
              <a:buChar char="•"/>
            </a:pPr>
            <a:r>
              <a:rPr lang="en-US" sz="1200">
                <a:solidFill>
                  <a:schemeClr val="accent5">
                    <a:lumMod val="49000"/>
                  </a:schemeClr>
                </a:solidFill>
                <a:latin typeface="Calibri"/>
                <a:ea typeface="Calibri"/>
                <a:cs typeface="Calibri"/>
              </a:rPr>
              <a:t>Favorite (-1.5 goals): must win by 2 or more goals</a:t>
            </a:r>
            <a:br>
              <a:rPr lang="en-US" sz="1200">
                <a:latin typeface="Calibri"/>
                <a:ea typeface="Calibri"/>
                <a:cs typeface="Calibri"/>
              </a:rPr>
            </a:br>
            <a:endParaRPr lang="en-US" sz="1200">
              <a:solidFill>
                <a:schemeClr val="accent5">
                  <a:lumMod val="49000"/>
                </a:schemeClr>
              </a:solidFill>
              <a:latin typeface="Calibri"/>
              <a:ea typeface="Calibri"/>
              <a:cs typeface="Calibri"/>
            </a:endParaRPr>
          </a:p>
          <a:p>
            <a:pPr marL="285750" indent="-285750">
              <a:buFont typeface="Arial"/>
              <a:buChar char="•"/>
            </a:pPr>
            <a:r>
              <a:rPr lang="en-US" sz="1200">
                <a:solidFill>
                  <a:schemeClr val="accent5">
                    <a:lumMod val="49000"/>
                  </a:schemeClr>
                </a:solidFill>
                <a:latin typeface="Calibri"/>
                <a:ea typeface="Calibri"/>
                <a:cs typeface="Calibri"/>
              </a:rPr>
              <a:t>Underdog (+1.5 goals headstart) must not lose by more than 1 goal</a:t>
            </a:r>
          </a:p>
          <a:p>
            <a:br>
              <a:rPr lang="en-US" sz="1400">
                <a:latin typeface="Calibri"/>
                <a:ea typeface="Calibri"/>
                <a:cs typeface="Calibri"/>
              </a:rPr>
            </a:br>
            <a:endParaRPr lang="en-US" sz="1400">
              <a:solidFill>
                <a:schemeClr val="accent5">
                  <a:lumMod val="49000"/>
                </a:schemeClr>
              </a:solidFill>
              <a:latin typeface="Calibri"/>
              <a:ea typeface="Calibri"/>
              <a:cs typeface="Calibri"/>
            </a:endParaRPr>
          </a:p>
          <a:p>
            <a:endParaRPr lang="en-US" b="1">
              <a:solidFill>
                <a:srgbClr val="071A2F"/>
              </a:solidFill>
              <a:latin typeface="Arial"/>
              <a:ea typeface="Calibri"/>
              <a:cs typeface="Arial"/>
            </a:endParaRPr>
          </a:p>
        </p:txBody>
      </p:sp>
      <p:sp>
        <p:nvSpPr>
          <p:cNvPr id="13" name="TextBox 12">
            <a:extLst>
              <a:ext uri="{FF2B5EF4-FFF2-40B4-BE49-F238E27FC236}">
                <a16:creationId xmlns:a16="http://schemas.microsoft.com/office/drawing/2014/main" id="{1C48A2ED-A0C2-BA49-8737-36BB794373E2}"/>
              </a:ext>
            </a:extLst>
          </p:cNvPr>
          <p:cNvSpPr txBox="1"/>
          <p:nvPr/>
        </p:nvSpPr>
        <p:spPr>
          <a:xfrm>
            <a:off x="382211" y="5078449"/>
            <a:ext cx="3461096"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071A2F"/>
                </a:solidFill>
                <a:latin typeface="Arial"/>
                <a:cs typeface="Arial"/>
              </a:rPr>
              <a:t>Total goals (+5.5) "all in"</a:t>
            </a:r>
          </a:p>
          <a:p>
            <a:pPr marL="285750" indent="-285750">
              <a:buFont typeface="Arial,Sans-Serif"/>
              <a:buChar char="•"/>
            </a:pPr>
            <a:r>
              <a:rPr lang="en-US" sz="1200">
                <a:solidFill>
                  <a:schemeClr val="accent5">
                    <a:lumMod val="49000"/>
                  </a:schemeClr>
                </a:solidFill>
                <a:latin typeface="Calibri"/>
                <a:ea typeface="Calibri"/>
                <a:cs typeface="Calibri"/>
              </a:rPr>
              <a:t>Bet on the combined score of both teams</a:t>
            </a:r>
          </a:p>
          <a:p>
            <a:pPr marL="285750" indent="-285750">
              <a:buFont typeface="Arial,Sans-Serif"/>
              <a:buChar char="•"/>
            </a:pPr>
            <a:endParaRPr lang="en-US" sz="1400">
              <a:solidFill>
                <a:schemeClr val="accent5">
                  <a:lumMod val="49000"/>
                </a:schemeClr>
              </a:solidFill>
              <a:latin typeface="Calibri"/>
              <a:ea typeface="Calibri"/>
              <a:cs typeface="Calibri"/>
            </a:endParaRPr>
          </a:p>
        </p:txBody>
      </p:sp>
      <p:sp>
        <p:nvSpPr>
          <p:cNvPr id="14" name="Rectangle: Rounded Corners 13">
            <a:extLst>
              <a:ext uri="{FF2B5EF4-FFF2-40B4-BE49-F238E27FC236}">
                <a16:creationId xmlns:a16="http://schemas.microsoft.com/office/drawing/2014/main" id="{971E1ABF-9197-DD4B-634B-CDF3862CEF37}"/>
              </a:ext>
            </a:extLst>
          </p:cNvPr>
          <p:cNvSpPr/>
          <p:nvPr/>
        </p:nvSpPr>
        <p:spPr>
          <a:xfrm>
            <a:off x="4332455" y="5002631"/>
            <a:ext cx="3575443" cy="1215846"/>
          </a:xfrm>
          <a:prstGeom prst="roundRect">
            <a:avLst/>
          </a:prstGeom>
          <a:noFill/>
          <a:ln w="57150">
            <a:solidFill>
              <a:srgbClr val="F7DD7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46656516-B5A6-2E02-01B9-59599F9B6815}"/>
              </a:ext>
            </a:extLst>
          </p:cNvPr>
          <p:cNvSpPr/>
          <p:nvPr/>
        </p:nvSpPr>
        <p:spPr>
          <a:xfrm>
            <a:off x="8311788" y="5002630"/>
            <a:ext cx="3716553" cy="1596846"/>
          </a:xfrm>
          <a:prstGeom prst="roundRect">
            <a:avLst/>
          </a:prstGeom>
          <a:noFill/>
          <a:ln w="57150">
            <a:solidFill>
              <a:srgbClr val="F7DD7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F9171D8-71CF-AC6F-47AE-8BC46BCA544F}"/>
              </a:ext>
            </a:extLst>
          </p:cNvPr>
          <p:cNvSpPr/>
          <p:nvPr/>
        </p:nvSpPr>
        <p:spPr>
          <a:xfrm>
            <a:off x="197900" y="5002630"/>
            <a:ext cx="3716553" cy="538513"/>
          </a:xfrm>
          <a:prstGeom prst="roundRect">
            <a:avLst/>
          </a:prstGeom>
          <a:noFill/>
          <a:ln w="57150">
            <a:solidFill>
              <a:srgbClr val="F7DD7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236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69183F1B-FC60-C2B9-5A52-2C88E2D61B57}"/>
              </a:ext>
            </a:extLst>
          </p:cNvPr>
          <p:cNvSpPr/>
          <p:nvPr/>
        </p:nvSpPr>
        <p:spPr>
          <a:xfrm>
            <a:off x="515977" y="3147051"/>
            <a:ext cx="11047386" cy="1294725"/>
          </a:xfrm>
          <a:prstGeom prst="rect">
            <a:avLst/>
          </a:prstGeom>
          <a:solidFill>
            <a:schemeClr val="bg1"/>
          </a:solidFill>
          <a:ln>
            <a:solidFill>
              <a:srgbClr val="D3E3EE"/>
            </a:solidFill>
          </a:ln>
          <a:effectLst>
            <a:outerShdw blurRad="114300" dist="25400" dir="6000000">
              <a:srgbClr val="000000">
                <a:alpha val="1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7C785FB-BC1E-8381-E654-4C4937316600}"/>
              </a:ext>
            </a:extLst>
          </p:cNvPr>
          <p:cNvSpPr/>
          <p:nvPr/>
        </p:nvSpPr>
        <p:spPr>
          <a:xfrm>
            <a:off x="515977" y="4694498"/>
            <a:ext cx="11047386" cy="1294725"/>
          </a:xfrm>
          <a:prstGeom prst="rect">
            <a:avLst/>
          </a:prstGeom>
          <a:solidFill>
            <a:schemeClr val="bg1"/>
          </a:solidFill>
          <a:ln>
            <a:solidFill>
              <a:srgbClr val="D3E3EE"/>
            </a:solidFill>
          </a:ln>
          <a:effectLst>
            <a:outerShdw blurRad="114300" dist="25400" dir="6000000">
              <a:srgbClr val="000000">
                <a:alpha val="1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34FFD18-C868-DE30-031C-F7212E0756CF}"/>
              </a:ext>
            </a:extLst>
          </p:cNvPr>
          <p:cNvSpPr/>
          <p:nvPr/>
        </p:nvSpPr>
        <p:spPr>
          <a:xfrm>
            <a:off x="515978" y="1634775"/>
            <a:ext cx="11047386" cy="1294725"/>
          </a:xfrm>
          <a:prstGeom prst="rect">
            <a:avLst/>
          </a:prstGeom>
          <a:solidFill>
            <a:schemeClr val="bg1"/>
          </a:solidFill>
          <a:ln>
            <a:solidFill>
              <a:srgbClr val="D3E3EE"/>
            </a:solidFill>
          </a:ln>
          <a:effectLst>
            <a:outerShdw blurRad="114300" dist="25400" dir="6000000">
              <a:srgbClr val="000000">
                <a:alpha val="1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0">
            <a:extLst>
              <a:ext uri="{FF2B5EF4-FFF2-40B4-BE49-F238E27FC236}">
                <a16:creationId xmlns:a16="http://schemas.microsoft.com/office/drawing/2014/main" id="{4B03FE0A-97DC-7AF3-0A2B-306E878C6116}"/>
              </a:ext>
            </a:extLst>
          </p:cNvPr>
          <p:cNvSpPr txBox="1"/>
          <p:nvPr/>
        </p:nvSpPr>
        <p:spPr>
          <a:xfrm>
            <a:off x="548640" y="365760"/>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a:solidFill>
                  <a:srgbClr val="0B1F3A"/>
                </a:solidFill>
                <a:latin typeface="Arial" pitchFamily="34" charset="0"/>
                <a:ea typeface="Arial" pitchFamily="34" charset="-122"/>
                <a:cs typeface="Arial" pitchFamily="34" charset="-120"/>
              </a:rPr>
              <a:t>Objectives</a:t>
            </a:r>
            <a:endParaRPr lang="en-US" sz="3600"/>
          </a:p>
        </p:txBody>
      </p:sp>
      <p:sp>
        <p:nvSpPr>
          <p:cNvPr id="14" name="Text 3">
            <a:extLst>
              <a:ext uri="{FF2B5EF4-FFF2-40B4-BE49-F238E27FC236}">
                <a16:creationId xmlns:a16="http://schemas.microsoft.com/office/drawing/2014/main" id="{7AF0F6FF-966F-9DC0-1D60-0664763BFA7E}"/>
              </a:ext>
            </a:extLst>
          </p:cNvPr>
          <p:cNvSpPr txBox="1"/>
          <p:nvPr/>
        </p:nvSpPr>
        <p:spPr>
          <a:xfrm>
            <a:off x="822960" y="1828800"/>
            <a:ext cx="82296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1</a:t>
            </a:r>
            <a:endParaRPr lang="en-US" sz="2600"/>
          </a:p>
        </p:txBody>
      </p:sp>
      <p:sp>
        <p:nvSpPr>
          <p:cNvPr id="17" name="Text 8">
            <a:extLst>
              <a:ext uri="{FF2B5EF4-FFF2-40B4-BE49-F238E27FC236}">
                <a16:creationId xmlns:a16="http://schemas.microsoft.com/office/drawing/2014/main" id="{340CE2DD-51B7-C385-0259-0E3C26941FC0}"/>
              </a:ext>
            </a:extLst>
          </p:cNvPr>
          <p:cNvSpPr txBox="1"/>
          <p:nvPr/>
        </p:nvSpPr>
        <p:spPr>
          <a:xfrm>
            <a:off x="822960" y="3383280"/>
            <a:ext cx="82296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2</a:t>
            </a:r>
            <a:endParaRPr lang="en-US" sz="2600"/>
          </a:p>
        </p:txBody>
      </p:sp>
      <p:sp>
        <p:nvSpPr>
          <p:cNvPr id="18" name="Text 9">
            <a:extLst>
              <a:ext uri="{FF2B5EF4-FFF2-40B4-BE49-F238E27FC236}">
                <a16:creationId xmlns:a16="http://schemas.microsoft.com/office/drawing/2014/main" id="{8F1AEBF6-2C95-2861-52E1-D107CD99FAEC}"/>
              </a:ext>
            </a:extLst>
          </p:cNvPr>
          <p:cNvSpPr txBox="1"/>
          <p:nvPr/>
        </p:nvSpPr>
        <p:spPr>
          <a:xfrm>
            <a:off x="2011680" y="3337560"/>
            <a:ext cx="3601329" cy="87923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a:solidFill>
                  <a:srgbClr val="0B1F3A"/>
                </a:solidFill>
                <a:latin typeface="Arial"/>
                <a:cs typeface="Arial"/>
              </a:rPr>
              <a:t>Develop two </a:t>
            </a:r>
            <a:br>
              <a:rPr lang="en-US" sz="2200" b="1">
                <a:solidFill>
                  <a:srgbClr val="0B1F3A"/>
                </a:solidFill>
                <a:latin typeface="Arial"/>
                <a:cs typeface="Arial"/>
              </a:rPr>
            </a:br>
            <a:r>
              <a:rPr lang="en-US" sz="2200" b="1">
                <a:solidFill>
                  <a:srgbClr val="0B1F3A"/>
                </a:solidFill>
                <a:latin typeface="Arial"/>
                <a:cs typeface="Arial"/>
              </a:rPr>
              <a:t>predictive models </a:t>
            </a:r>
          </a:p>
        </p:txBody>
      </p:sp>
      <p:sp>
        <p:nvSpPr>
          <p:cNvPr id="19" name="Text 10">
            <a:extLst>
              <a:ext uri="{FF2B5EF4-FFF2-40B4-BE49-F238E27FC236}">
                <a16:creationId xmlns:a16="http://schemas.microsoft.com/office/drawing/2014/main" id="{CD28EC3B-AAA6-7158-F10A-762A790606CF}"/>
              </a:ext>
            </a:extLst>
          </p:cNvPr>
          <p:cNvSpPr txBox="1"/>
          <p:nvPr/>
        </p:nvSpPr>
        <p:spPr>
          <a:xfrm>
            <a:off x="5120640" y="3148198"/>
            <a:ext cx="6219247" cy="10656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a:solidFill>
                  <a:schemeClr val="accent5">
                    <a:lumMod val="49000"/>
                  </a:schemeClr>
                </a:solidFill>
                <a:latin typeface="Calibri"/>
                <a:ea typeface="Calibri"/>
                <a:cs typeface="Calibri"/>
              </a:rPr>
              <a:t>Recommendation to commit a bet into specific seasonal game outcome. Based on bet type - Moneyline, Puckline</a:t>
            </a:r>
            <a:endParaRPr lang="en-US">
              <a:solidFill>
                <a:schemeClr val="accent5">
                  <a:lumMod val="49000"/>
                </a:schemeClr>
              </a:solidFill>
            </a:endParaRPr>
          </a:p>
          <a:p>
            <a:r>
              <a:rPr lang="en-US">
                <a:solidFill>
                  <a:schemeClr val="accent5">
                    <a:lumMod val="49000"/>
                  </a:schemeClr>
                </a:solidFill>
                <a:latin typeface="Calibri"/>
                <a:ea typeface="Calibri"/>
                <a:cs typeface="Calibri"/>
              </a:rPr>
              <a:t>      and Totals goals.</a:t>
            </a:r>
            <a:endParaRPr lang="en-US">
              <a:solidFill>
                <a:schemeClr val="accent5">
                  <a:lumMod val="49000"/>
                </a:schemeClr>
              </a:solidFill>
            </a:endParaRPr>
          </a:p>
          <a:p>
            <a:pPr marL="285750" indent="-285750">
              <a:buFont typeface="Arial,Sans-Serif"/>
              <a:buChar char="•"/>
            </a:pPr>
            <a:r>
              <a:rPr lang="en-US">
                <a:solidFill>
                  <a:schemeClr val="accent5">
                    <a:lumMod val="49000"/>
                  </a:schemeClr>
                </a:solidFill>
                <a:latin typeface="Calibri"/>
                <a:ea typeface="Calibri"/>
                <a:cs typeface="Calibri"/>
              </a:rPr>
              <a:t>Predict next year's Stanley Cup Champions</a:t>
            </a:r>
          </a:p>
        </p:txBody>
      </p:sp>
      <p:sp>
        <p:nvSpPr>
          <p:cNvPr id="20" name="Text 13">
            <a:extLst>
              <a:ext uri="{FF2B5EF4-FFF2-40B4-BE49-F238E27FC236}">
                <a16:creationId xmlns:a16="http://schemas.microsoft.com/office/drawing/2014/main" id="{CD36213A-C601-7E80-FE44-AF8E78C04F1B}"/>
              </a:ext>
            </a:extLst>
          </p:cNvPr>
          <p:cNvSpPr txBox="1"/>
          <p:nvPr/>
        </p:nvSpPr>
        <p:spPr>
          <a:xfrm>
            <a:off x="822960" y="4937760"/>
            <a:ext cx="82296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3</a:t>
            </a:r>
            <a:endParaRPr lang="en-US" sz="2600"/>
          </a:p>
        </p:txBody>
      </p:sp>
      <p:sp>
        <p:nvSpPr>
          <p:cNvPr id="21" name="Text 14">
            <a:extLst>
              <a:ext uri="{FF2B5EF4-FFF2-40B4-BE49-F238E27FC236}">
                <a16:creationId xmlns:a16="http://schemas.microsoft.com/office/drawing/2014/main" id="{E51B8AB7-44D6-D472-EE5F-1E3771AE1500}"/>
              </a:ext>
            </a:extLst>
          </p:cNvPr>
          <p:cNvSpPr txBox="1"/>
          <p:nvPr/>
        </p:nvSpPr>
        <p:spPr>
          <a:xfrm>
            <a:off x="2011680" y="4892040"/>
            <a:ext cx="3108960"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200" b="1">
                <a:solidFill>
                  <a:srgbClr val="0B1F3A"/>
                </a:solidFill>
                <a:latin typeface="Arial" pitchFamily="34" charset="0"/>
                <a:ea typeface="Arial" pitchFamily="34" charset="-122"/>
                <a:cs typeface="Arial" pitchFamily="34" charset="-120"/>
              </a:rPr>
              <a:t>Deliver insights</a:t>
            </a:r>
            <a:endParaRPr lang="en-US" sz="2200"/>
          </a:p>
        </p:txBody>
      </p:sp>
      <p:sp>
        <p:nvSpPr>
          <p:cNvPr id="25" name="Text 0">
            <a:extLst>
              <a:ext uri="{FF2B5EF4-FFF2-40B4-BE49-F238E27FC236}">
                <a16:creationId xmlns:a16="http://schemas.microsoft.com/office/drawing/2014/main" id="{829E0372-062B-A894-EF42-8A967413E6C1}"/>
              </a:ext>
            </a:extLst>
          </p:cNvPr>
          <p:cNvSpPr txBox="1"/>
          <p:nvPr/>
        </p:nvSpPr>
        <p:spPr>
          <a:xfrm>
            <a:off x="548640" y="365760"/>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a:solidFill>
                  <a:srgbClr val="0B1F3A"/>
                </a:solidFill>
                <a:latin typeface="Arial" pitchFamily="34" charset="0"/>
                <a:ea typeface="Arial" pitchFamily="34" charset="-122"/>
                <a:cs typeface="Arial" pitchFamily="34" charset="-120"/>
              </a:rPr>
              <a:t>Objectives</a:t>
            </a:r>
            <a:endParaRPr lang="en-US" sz="3600"/>
          </a:p>
        </p:txBody>
      </p:sp>
      <p:sp>
        <p:nvSpPr>
          <p:cNvPr id="26" name="Text 3">
            <a:extLst>
              <a:ext uri="{FF2B5EF4-FFF2-40B4-BE49-F238E27FC236}">
                <a16:creationId xmlns:a16="http://schemas.microsoft.com/office/drawing/2014/main" id="{F61485A1-AB5B-6A07-6F66-8FE162E66F1F}"/>
              </a:ext>
            </a:extLst>
          </p:cNvPr>
          <p:cNvSpPr txBox="1"/>
          <p:nvPr/>
        </p:nvSpPr>
        <p:spPr>
          <a:xfrm>
            <a:off x="822960" y="1828800"/>
            <a:ext cx="82296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1</a:t>
            </a:r>
            <a:endParaRPr lang="en-US" sz="2600"/>
          </a:p>
        </p:txBody>
      </p:sp>
      <p:sp>
        <p:nvSpPr>
          <p:cNvPr id="27" name="Text 4">
            <a:extLst>
              <a:ext uri="{FF2B5EF4-FFF2-40B4-BE49-F238E27FC236}">
                <a16:creationId xmlns:a16="http://schemas.microsoft.com/office/drawing/2014/main" id="{3D451648-A926-3A30-BE20-86AB4BC839E0}"/>
              </a:ext>
            </a:extLst>
          </p:cNvPr>
          <p:cNvSpPr txBox="1"/>
          <p:nvPr/>
        </p:nvSpPr>
        <p:spPr>
          <a:xfrm>
            <a:off x="2011680" y="1829972"/>
            <a:ext cx="3108960" cy="110196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a:solidFill>
                  <a:srgbClr val="0B1F3A"/>
                </a:solidFill>
                <a:latin typeface="Arial"/>
                <a:ea typeface="Arial" pitchFamily="34" charset="-122"/>
                <a:cs typeface="Arial"/>
              </a:rPr>
              <a:t>Build the pipeline foundation</a:t>
            </a:r>
            <a:endParaRPr lang="en-US" sz="2200">
              <a:latin typeface="Neue Haas Grotesk Text Pro"/>
              <a:cs typeface="Arial"/>
            </a:endParaRPr>
          </a:p>
        </p:txBody>
      </p:sp>
      <p:sp>
        <p:nvSpPr>
          <p:cNvPr id="29" name="Text 8">
            <a:extLst>
              <a:ext uri="{FF2B5EF4-FFF2-40B4-BE49-F238E27FC236}">
                <a16:creationId xmlns:a16="http://schemas.microsoft.com/office/drawing/2014/main" id="{D5905B0C-F47E-8BF4-832F-369C83E04599}"/>
              </a:ext>
            </a:extLst>
          </p:cNvPr>
          <p:cNvSpPr txBox="1"/>
          <p:nvPr/>
        </p:nvSpPr>
        <p:spPr>
          <a:xfrm>
            <a:off x="822960" y="3383280"/>
            <a:ext cx="82296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2</a:t>
            </a:r>
            <a:endParaRPr lang="en-US" sz="2600"/>
          </a:p>
        </p:txBody>
      </p:sp>
      <p:sp>
        <p:nvSpPr>
          <p:cNvPr id="32" name="Text 13">
            <a:extLst>
              <a:ext uri="{FF2B5EF4-FFF2-40B4-BE49-F238E27FC236}">
                <a16:creationId xmlns:a16="http://schemas.microsoft.com/office/drawing/2014/main" id="{8A483A1F-1336-E73B-E80B-58DDC880E532}"/>
              </a:ext>
            </a:extLst>
          </p:cNvPr>
          <p:cNvSpPr txBox="1"/>
          <p:nvPr/>
        </p:nvSpPr>
        <p:spPr>
          <a:xfrm>
            <a:off x="822960" y="4937760"/>
            <a:ext cx="82296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3</a:t>
            </a:r>
            <a:endParaRPr lang="en-US" sz="2600"/>
          </a:p>
        </p:txBody>
      </p:sp>
      <p:sp>
        <p:nvSpPr>
          <p:cNvPr id="33" name="Text 14">
            <a:extLst>
              <a:ext uri="{FF2B5EF4-FFF2-40B4-BE49-F238E27FC236}">
                <a16:creationId xmlns:a16="http://schemas.microsoft.com/office/drawing/2014/main" id="{B869E144-4C2C-EF2D-3758-093A6158AFDB}"/>
              </a:ext>
            </a:extLst>
          </p:cNvPr>
          <p:cNvSpPr txBox="1"/>
          <p:nvPr/>
        </p:nvSpPr>
        <p:spPr>
          <a:xfrm>
            <a:off x="2011680" y="4892040"/>
            <a:ext cx="3108960"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200" b="1">
                <a:solidFill>
                  <a:srgbClr val="0B1F3A"/>
                </a:solidFill>
                <a:latin typeface="Arial" pitchFamily="34" charset="0"/>
                <a:ea typeface="Arial" pitchFamily="34" charset="-122"/>
                <a:cs typeface="Arial" pitchFamily="34" charset="-120"/>
              </a:rPr>
              <a:t>Deliver insights</a:t>
            </a:r>
            <a:endParaRPr lang="en-US" sz="2200"/>
          </a:p>
        </p:txBody>
      </p:sp>
      <p:sp>
        <p:nvSpPr>
          <p:cNvPr id="39" name="Text 3">
            <a:extLst>
              <a:ext uri="{FF2B5EF4-FFF2-40B4-BE49-F238E27FC236}">
                <a16:creationId xmlns:a16="http://schemas.microsoft.com/office/drawing/2014/main" id="{1B5383AA-625B-8B90-74FC-F0711103BA30}"/>
              </a:ext>
            </a:extLst>
          </p:cNvPr>
          <p:cNvSpPr txBox="1"/>
          <p:nvPr/>
        </p:nvSpPr>
        <p:spPr>
          <a:xfrm>
            <a:off x="822960" y="1875692"/>
            <a:ext cx="822960" cy="822960"/>
          </a:xfrm>
          <a:prstGeom prst="flowChartConnector">
            <a:avLst/>
          </a:prstGeom>
          <a:ln w="28575">
            <a:solidFill>
              <a:srgbClr val="F7CD4F"/>
            </a:solid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1</a:t>
            </a:r>
            <a:endParaRPr lang="en-US" sz="2600"/>
          </a:p>
        </p:txBody>
      </p:sp>
      <p:sp>
        <p:nvSpPr>
          <p:cNvPr id="41" name="Text 3">
            <a:extLst>
              <a:ext uri="{FF2B5EF4-FFF2-40B4-BE49-F238E27FC236}">
                <a16:creationId xmlns:a16="http://schemas.microsoft.com/office/drawing/2014/main" id="{37DB44B7-ECBF-755C-288C-48FF25D5549D}"/>
              </a:ext>
            </a:extLst>
          </p:cNvPr>
          <p:cNvSpPr txBox="1"/>
          <p:nvPr/>
        </p:nvSpPr>
        <p:spPr>
          <a:xfrm>
            <a:off x="822959" y="3341076"/>
            <a:ext cx="822960" cy="822960"/>
          </a:xfrm>
          <a:prstGeom prst="flowChartConnector">
            <a:avLst/>
          </a:prstGeom>
          <a:ln w="28575">
            <a:solidFill>
              <a:srgbClr val="F7CD4F"/>
            </a:solid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a:cs typeface="Arial"/>
              </a:rPr>
              <a:t>2</a:t>
            </a:r>
          </a:p>
        </p:txBody>
      </p:sp>
      <p:sp>
        <p:nvSpPr>
          <p:cNvPr id="42" name="Text 3">
            <a:extLst>
              <a:ext uri="{FF2B5EF4-FFF2-40B4-BE49-F238E27FC236}">
                <a16:creationId xmlns:a16="http://schemas.microsoft.com/office/drawing/2014/main" id="{0CB80611-ABC3-871C-24AA-AA37A513A6A8}"/>
              </a:ext>
            </a:extLst>
          </p:cNvPr>
          <p:cNvSpPr txBox="1"/>
          <p:nvPr/>
        </p:nvSpPr>
        <p:spPr>
          <a:xfrm>
            <a:off x="822959" y="4888522"/>
            <a:ext cx="822960" cy="822960"/>
          </a:xfrm>
          <a:prstGeom prst="flowChartConnector">
            <a:avLst/>
          </a:prstGeom>
          <a:ln w="28575">
            <a:solidFill>
              <a:srgbClr val="F7CD4F"/>
            </a:solid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a:cs typeface="Arial"/>
              </a:rPr>
              <a:t>3</a:t>
            </a:r>
            <a:endParaRPr lang="en-US"/>
          </a:p>
        </p:txBody>
      </p:sp>
      <p:sp>
        <p:nvSpPr>
          <p:cNvPr id="48" name="Text 10">
            <a:extLst>
              <a:ext uri="{FF2B5EF4-FFF2-40B4-BE49-F238E27FC236}">
                <a16:creationId xmlns:a16="http://schemas.microsoft.com/office/drawing/2014/main" id="{707B0590-DCD7-740D-77D4-548A31D4C9EB}"/>
              </a:ext>
            </a:extLst>
          </p:cNvPr>
          <p:cNvSpPr txBox="1"/>
          <p:nvPr/>
        </p:nvSpPr>
        <p:spPr>
          <a:xfrm>
            <a:off x="5120639" y="1825282"/>
            <a:ext cx="6217920"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accent5">
                    <a:lumMod val="49000"/>
                  </a:schemeClr>
                </a:solidFill>
                <a:latin typeface="Calibri"/>
                <a:ea typeface="Calibri"/>
                <a:cs typeface="Calibri"/>
              </a:rPr>
              <a:t>Transform raw historical Kaggle datasets into a pipeline of clean, reliable data</a:t>
            </a:r>
          </a:p>
        </p:txBody>
      </p:sp>
      <p:sp>
        <p:nvSpPr>
          <p:cNvPr id="50" name="Text 10">
            <a:extLst>
              <a:ext uri="{FF2B5EF4-FFF2-40B4-BE49-F238E27FC236}">
                <a16:creationId xmlns:a16="http://schemas.microsoft.com/office/drawing/2014/main" id="{0504A603-E9C6-AB18-89C2-09165A06ED4F}"/>
              </a:ext>
            </a:extLst>
          </p:cNvPr>
          <p:cNvSpPr txBox="1"/>
          <p:nvPr/>
        </p:nvSpPr>
        <p:spPr>
          <a:xfrm>
            <a:off x="5120639" y="4848860"/>
            <a:ext cx="6217920"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accent5">
                    <a:lumMod val="49000"/>
                  </a:schemeClr>
                </a:solidFill>
                <a:latin typeface="Calibri"/>
                <a:ea typeface="Calibri"/>
                <a:cs typeface="Calibri"/>
              </a:rPr>
              <a:t>We connect the gold layer data and predictive models into Power BI dashboards</a:t>
            </a:r>
          </a:p>
        </p:txBody>
      </p:sp>
    </p:spTree>
    <p:extLst>
      <p:ext uri="{BB962C8B-B14F-4D97-AF65-F5344CB8AC3E}">
        <p14:creationId xmlns:p14="http://schemas.microsoft.com/office/powerpoint/2010/main" val="172670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22F738E9-B52A-B04C-F655-5E3A7C8915DF}"/>
              </a:ext>
            </a:extLst>
          </p:cNvPr>
          <p:cNvSpPr/>
          <p:nvPr/>
        </p:nvSpPr>
        <p:spPr>
          <a:xfrm>
            <a:off x="228126" y="2550569"/>
            <a:ext cx="1620022" cy="2159717"/>
          </a:xfrm>
          <a:prstGeom prst="roundRect">
            <a:avLst/>
          </a:prstGeom>
          <a:solidFill>
            <a:schemeClr val="bg1"/>
          </a:solidFill>
          <a:ln>
            <a:noFill/>
          </a:ln>
          <a:effectLst>
            <a:outerShdw blurRad="63500" dist="25400" dir="3720000">
              <a:srgbClr val="000000">
                <a:alpha val="2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0">
            <a:extLst>
              <a:ext uri="{FF2B5EF4-FFF2-40B4-BE49-F238E27FC236}">
                <a16:creationId xmlns:a16="http://schemas.microsoft.com/office/drawing/2014/main" id="{287DCF55-8772-8B31-836F-66975F0B7647}"/>
              </a:ext>
            </a:extLst>
          </p:cNvPr>
          <p:cNvSpPr txBox="1"/>
          <p:nvPr/>
        </p:nvSpPr>
        <p:spPr>
          <a:xfrm>
            <a:off x="548640" y="365760"/>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dirty="0">
                <a:solidFill>
                  <a:schemeClr val="bg1"/>
                </a:solidFill>
                <a:latin typeface="Arial"/>
                <a:cs typeface="Arial"/>
              </a:rPr>
              <a:t>Technology Stack</a:t>
            </a:r>
            <a:endParaRPr lang="en-US" dirty="0">
              <a:solidFill>
                <a:schemeClr val="bg1"/>
              </a:solidFill>
            </a:endParaRPr>
          </a:p>
        </p:txBody>
      </p:sp>
      <p:grpSp>
        <p:nvGrpSpPr>
          <p:cNvPr id="3" name="Group 2">
            <a:extLst>
              <a:ext uri="{FF2B5EF4-FFF2-40B4-BE49-F238E27FC236}">
                <a16:creationId xmlns:a16="http://schemas.microsoft.com/office/drawing/2014/main" id="{4B729B3B-9CCD-3F3F-9725-03D4935EAA78}"/>
              </a:ext>
            </a:extLst>
          </p:cNvPr>
          <p:cNvGrpSpPr/>
          <p:nvPr/>
        </p:nvGrpSpPr>
        <p:grpSpPr>
          <a:xfrm>
            <a:off x="655432" y="2770930"/>
            <a:ext cx="647114" cy="647114"/>
            <a:chOff x="729174" y="1746737"/>
            <a:chExt cx="647114" cy="647114"/>
          </a:xfrm>
        </p:grpSpPr>
        <p:sp>
          <p:nvSpPr>
            <p:cNvPr id="39" name="Text 3">
              <a:extLst>
                <a:ext uri="{FF2B5EF4-FFF2-40B4-BE49-F238E27FC236}">
                  <a16:creationId xmlns:a16="http://schemas.microsoft.com/office/drawing/2014/main" id="{CCB7B6E7-3855-EFFF-69A6-7140126DBF71}"/>
                </a:ext>
              </a:extLst>
            </p:cNvPr>
            <p:cNvSpPr txBox="1"/>
            <p:nvPr/>
          </p:nvSpPr>
          <p:spPr>
            <a:xfrm>
              <a:off x="729174" y="1746737"/>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14" name="Picture 13" descr="preencoded.png">
              <a:extLst>
                <a:ext uri="{FF2B5EF4-FFF2-40B4-BE49-F238E27FC236}">
                  <a16:creationId xmlns:a16="http://schemas.microsoft.com/office/drawing/2014/main" id="{D5ECDE3A-4F60-E516-4A34-0423F358DE24}"/>
                </a:ext>
              </a:extLst>
            </p:cNvPr>
            <p:cNvPicPr>
              <a:picLocks noChangeAspect="1"/>
            </p:cNvPicPr>
            <p:nvPr/>
          </p:nvPicPr>
          <p:blipFill>
            <a:blip r:embed="rId2"/>
            <a:stretch>
              <a:fillRect/>
            </a:stretch>
          </p:blipFill>
          <p:spPr>
            <a:xfrm>
              <a:off x="857617" y="1883386"/>
              <a:ext cx="371475" cy="371475"/>
            </a:xfrm>
            <a:prstGeom prst="rect">
              <a:avLst/>
            </a:prstGeom>
          </p:spPr>
        </p:pic>
      </p:grpSp>
      <p:sp>
        <p:nvSpPr>
          <p:cNvPr id="27" name="TextBox 26">
            <a:extLst>
              <a:ext uri="{FF2B5EF4-FFF2-40B4-BE49-F238E27FC236}">
                <a16:creationId xmlns:a16="http://schemas.microsoft.com/office/drawing/2014/main" id="{DD8303B9-DCF8-78CF-B6E9-8E2E1C91EC11}"/>
              </a:ext>
            </a:extLst>
          </p:cNvPr>
          <p:cNvSpPr txBox="1"/>
          <p:nvPr/>
        </p:nvSpPr>
        <p:spPr>
          <a:xfrm>
            <a:off x="158450" y="3602055"/>
            <a:ext cx="163248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000000"/>
                </a:solidFill>
                <a:latin typeface="Arial"/>
                <a:ea typeface="Calibri"/>
                <a:cs typeface="Arial"/>
              </a:rPr>
              <a:t>Kaggle NHL dataset</a:t>
            </a:r>
            <a:br>
              <a:rPr lang="en-US" b="1">
                <a:latin typeface="Arial"/>
                <a:ea typeface="Calibri"/>
                <a:cs typeface="Arial"/>
              </a:rPr>
            </a:br>
            <a:r>
              <a:rPr lang="en-US" sz="1600">
                <a:solidFill>
                  <a:schemeClr val="accent5">
                    <a:lumMod val="49000"/>
                  </a:schemeClr>
                </a:solidFill>
                <a:latin typeface="Calibri"/>
                <a:ea typeface="Calibri"/>
                <a:cs typeface="Calibri"/>
              </a:rPr>
              <a:t>Source data</a:t>
            </a:r>
            <a:endParaRPr lang="en-US">
              <a:solidFill>
                <a:schemeClr val="accent5">
                  <a:lumMod val="49000"/>
                </a:schemeClr>
              </a:solidFill>
            </a:endParaRPr>
          </a:p>
        </p:txBody>
      </p:sp>
      <p:sp>
        <p:nvSpPr>
          <p:cNvPr id="44" name="Rectangle: Rounded Corners 43">
            <a:extLst>
              <a:ext uri="{FF2B5EF4-FFF2-40B4-BE49-F238E27FC236}">
                <a16:creationId xmlns:a16="http://schemas.microsoft.com/office/drawing/2014/main" id="{C300B346-9BA4-5B3B-5A77-66559304DDDE}"/>
              </a:ext>
            </a:extLst>
          </p:cNvPr>
          <p:cNvSpPr/>
          <p:nvPr/>
        </p:nvSpPr>
        <p:spPr>
          <a:xfrm>
            <a:off x="9818232" y="2534182"/>
            <a:ext cx="1620022" cy="2159717"/>
          </a:xfrm>
          <a:prstGeom prst="roundRect">
            <a:avLst/>
          </a:prstGeom>
          <a:solidFill>
            <a:schemeClr val="bg1"/>
          </a:solidFill>
          <a:ln>
            <a:noFill/>
          </a:ln>
          <a:effectLst>
            <a:outerShdw blurRad="63500" dist="25400" dir="3720000">
              <a:srgbClr val="000000">
                <a:alpha val="2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 12">
            <a:extLst>
              <a:ext uri="{FF2B5EF4-FFF2-40B4-BE49-F238E27FC236}">
                <a16:creationId xmlns:a16="http://schemas.microsoft.com/office/drawing/2014/main" id="{1F37AC0A-BC51-2522-E18B-936D8AC514E7}"/>
              </a:ext>
            </a:extLst>
          </p:cNvPr>
          <p:cNvSpPr txBox="1"/>
          <p:nvPr/>
        </p:nvSpPr>
        <p:spPr>
          <a:xfrm>
            <a:off x="1946642" y="3342085"/>
            <a:ext cx="25146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C8102E"/>
                </a:solidFill>
                <a:latin typeface="Arial" pitchFamily="34" charset="0"/>
                <a:ea typeface="Arial" pitchFamily="34" charset="-122"/>
                <a:cs typeface="Arial" pitchFamily="34" charset="-120"/>
              </a:rPr>
              <a:t>›</a:t>
            </a:r>
            <a:endParaRPr lang="en-US" sz="3200"/>
          </a:p>
        </p:txBody>
      </p:sp>
      <p:sp>
        <p:nvSpPr>
          <p:cNvPr id="47" name="Text 12">
            <a:extLst>
              <a:ext uri="{FF2B5EF4-FFF2-40B4-BE49-F238E27FC236}">
                <a16:creationId xmlns:a16="http://schemas.microsoft.com/office/drawing/2014/main" id="{5588E2FD-520E-4F42-CC8D-BEF01EC6725B}"/>
              </a:ext>
            </a:extLst>
          </p:cNvPr>
          <p:cNvSpPr txBox="1"/>
          <p:nvPr/>
        </p:nvSpPr>
        <p:spPr>
          <a:xfrm>
            <a:off x="3837207" y="3342084"/>
            <a:ext cx="25146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C8102E"/>
                </a:solidFill>
                <a:latin typeface="Arial" pitchFamily="34" charset="0"/>
                <a:ea typeface="Arial" pitchFamily="34" charset="-122"/>
                <a:cs typeface="Arial" pitchFamily="34" charset="-120"/>
              </a:rPr>
              <a:t>›</a:t>
            </a:r>
            <a:endParaRPr lang="en-US" sz="3200"/>
          </a:p>
        </p:txBody>
      </p:sp>
      <p:sp>
        <p:nvSpPr>
          <p:cNvPr id="48" name="Text 12">
            <a:extLst>
              <a:ext uri="{FF2B5EF4-FFF2-40B4-BE49-F238E27FC236}">
                <a16:creationId xmlns:a16="http://schemas.microsoft.com/office/drawing/2014/main" id="{92B89CB1-ED7B-E203-0B3A-0D7180589CFD}"/>
              </a:ext>
            </a:extLst>
          </p:cNvPr>
          <p:cNvSpPr txBox="1"/>
          <p:nvPr/>
        </p:nvSpPr>
        <p:spPr>
          <a:xfrm>
            <a:off x="7644433" y="3284730"/>
            <a:ext cx="25146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C8102E"/>
                </a:solidFill>
                <a:latin typeface="Arial" pitchFamily="34" charset="0"/>
                <a:ea typeface="Arial" pitchFamily="34" charset="-122"/>
                <a:cs typeface="Arial" pitchFamily="34" charset="-120"/>
              </a:rPr>
              <a:t>›</a:t>
            </a:r>
            <a:endParaRPr lang="en-US" sz="3200"/>
          </a:p>
        </p:txBody>
      </p:sp>
      <p:sp>
        <p:nvSpPr>
          <p:cNvPr id="49" name="Text 12">
            <a:extLst>
              <a:ext uri="{FF2B5EF4-FFF2-40B4-BE49-F238E27FC236}">
                <a16:creationId xmlns:a16="http://schemas.microsoft.com/office/drawing/2014/main" id="{514421D2-4AFB-91CD-A540-B9190B8643EC}"/>
              </a:ext>
            </a:extLst>
          </p:cNvPr>
          <p:cNvSpPr txBox="1"/>
          <p:nvPr/>
        </p:nvSpPr>
        <p:spPr>
          <a:xfrm>
            <a:off x="9568405" y="3284731"/>
            <a:ext cx="25146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C8102E"/>
                </a:solidFill>
                <a:latin typeface="Arial" pitchFamily="34" charset="0"/>
                <a:ea typeface="Arial" pitchFamily="34" charset="-122"/>
                <a:cs typeface="Arial" pitchFamily="34" charset="-120"/>
              </a:rPr>
              <a:t>›</a:t>
            </a:r>
            <a:endParaRPr lang="en-US" sz="3200"/>
          </a:p>
        </p:txBody>
      </p:sp>
      <p:grpSp>
        <p:nvGrpSpPr>
          <p:cNvPr id="8" name="Group 7">
            <a:extLst>
              <a:ext uri="{FF2B5EF4-FFF2-40B4-BE49-F238E27FC236}">
                <a16:creationId xmlns:a16="http://schemas.microsoft.com/office/drawing/2014/main" id="{F397E1E0-3F6C-657F-978B-4122944F7FBC}"/>
              </a:ext>
            </a:extLst>
          </p:cNvPr>
          <p:cNvGrpSpPr/>
          <p:nvPr/>
        </p:nvGrpSpPr>
        <p:grpSpPr>
          <a:xfrm>
            <a:off x="10307557" y="2691391"/>
            <a:ext cx="647114" cy="647114"/>
            <a:chOff x="9496396" y="4420229"/>
            <a:chExt cx="647114" cy="647114"/>
          </a:xfrm>
        </p:grpSpPr>
        <p:sp>
          <p:nvSpPr>
            <p:cNvPr id="54" name="Text 3">
              <a:extLst>
                <a:ext uri="{FF2B5EF4-FFF2-40B4-BE49-F238E27FC236}">
                  <a16:creationId xmlns:a16="http://schemas.microsoft.com/office/drawing/2014/main" id="{D3B46E79-A6BE-6F8B-94D5-C02D9305AB7A}"/>
                </a:ext>
              </a:extLst>
            </p:cNvPr>
            <p:cNvSpPr txBox="1"/>
            <p:nvPr/>
          </p:nvSpPr>
          <p:spPr>
            <a:xfrm>
              <a:off x="9496396" y="4420229"/>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26" name="Picture 25" descr="preencoded.png">
              <a:extLst>
                <a:ext uri="{FF2B5EF4-FFF2-40B4-BE49-F238E27FC236}">
                  <a16:creationId xmlns:a16="http://schemas.microsoft.com/office/drawing/2014/main" id="{15F8075E-C8B0-2F14-8F83-53E48EE929CA}"/>
                </a:ext>
              </a:extLst>
            </p:cNvPr>
            <p:cNvPicPr>
              <a:picLocks noChangeAspect="1"/>
            </p:cNvPicPr>
            <p:nvPr/>
          </p:nvPicPr>
          <p:blipFill>
            <a:blip r:embed="rId3"/>
            <a:stretch>
              <a:fillRect/>
            </a:stretch>
          </p:blipFill>
          <p:spPr>
            <a:xfrm>
              <a:off x="9649518" y="4547577"/>
              <a:ext cx="361950" cy="381000"/>
            </a:xfrm>
            <a:prstGeom prst="rect">
              <a:avLst/>
            </a:prstGeom>
          </p:spPr>
        </p:pic>
      </p:grpSp>
      <p:grpSp>
        <p:nvGrpSpPr>
          <p:cNvPr id="64" name="Group 63">
            <a:extLst>
              <a:ext uri="{FF2B5EF4-FFF2-40B4-BE49-F238E27FC236}">
                <a16:creationId xmlns:a16="http://schemas.microsoft.com/office/drawing/2014/main" id="{ED7D46AC-BE66-F8F6-D02B-257840CC3FBF}"/>
              </a:ext>
            </a:extLst>
          </p:cNvPr>
          <p:cNvGrpSpPr/>
          <p:nvPr/>
        </p:nvGrpSpPr>
        <p:grpSpPr>
          <a:xfrm>
            <a:off x="2188308" y="2550570"/>
            <a:ext cx="1632480" cy="2159717"/>
            <a:chOff x="2524243" y="2386699"/>
            <a:chExt cx="1632480" cy="2159717"/>
          </a:xfrm>
        </p:grpSpPr>
        <p:sp>
          <p:nvSpPr>
            <p:cNvPr id="41" name="Rectangle: Rounded Corners 40">
              <a:extLst>
                <a:ext uri="{FF2B5EF4-FFF2-40B4-BE49-F238E27FC236}">
                  <a16:creationId xmlns:a16="http://schemas.microsoft.com/office/drawing/2014/main" id="{612ACB02-DC7A-5E6B-6E2E-08666DF5F9F2}"/>
                </a:ext>
              </a:extLst>
            </p:cNvPr>
            <p:cNvSpPr/>
            <p:nvPr/>
          </p:nvSpPr>
          <p:spPr>
            <a:xfrm>
              <a:off x="2528370" y="2386699"/>
              <a:ext cx="1620022" cy="2159717"/>
            </a:xfrm>
            <a:prstGeom prst="roundRect">
              <a:avLst/>
            </a:prstGeom>
            <a:solidFill>
              <a:schemeClr val="bg1"/>
            </a:solidFill>
            <a:ln>
              <a:noFill/>
            </a:ln>
            <a:effectLst>
              <a:outerShdw blurRad="63500" dist="25400" dir="3720000">
                <a:srgbClr val="000000">
                  <a:alpha val="2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20A8793F-A28D-376C-3F7B-5D53D8479265}"/>
                </a:ext>
              </a:extLst>
            </p:cNvPr>
            <p:cNvGrpSpPr/>
            <p:nvPr/>
          </p:nvGrpSpPr>
          <p:grpSpPr>
            <a:xfrm>
              <a:off x="3011770" y="2609454"/>
              <a:ext cx="647114" cy="647114"/>
              <a:chOff x="3388673" y="4420228"/>
              <a:chExt cx="647114" cy="647114"/>
            </a:xfrm>
          </p:grpSpPr>
          <p:sp>
            <p:nvSpPr>
              <p:cNvPr id="51" name="Text 3">
                <a:extLst>
                  <a:ext uri="{FF2B5EF4-FFF2-40B4-BE49-F238E27FC236}">
                    <a16:creationId xmlns:a16="http://schemas.microsoft.com/office/drawing/2014/main" id="{01C3CA76-D6D4-0E46-341C-F41E0BC25315}"/>
                  </a:ext>
                </a:extLst>
              </p:cNvPr>
              <p:cNvSpPr txBox="1"/>
              <p:nvPr/>
            </p:nvSpPr>
            <p:spPr>
              <a:xfrm>
                <a:off x="3388673" y="4420228"/>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21" name="Picture 20" descr="preencoded.png">
                <a:extLst>
                  <a:ext uri="{FF2B5EF4-FFF2-40B4-BE49-F238E27FC236}">
                    <a16:creationId xmlns:a16="http://schemas.microsoft.com/office/drawing/2014/main" id="{3ED8590B-CA41-AC6B-F9D1-E4E955ADE875}"/>
                  </a:ext>
                </a:extLst>
              </p:cNvPr>
              <p:cNvPicPr>
                <a:picLocks noChangeAspect="1"/>
              </p:cNvPicPr>
              <p:nvPr/>
            </p:nvPicPr>
            <p:blipFill>
              <a:blip r:embed="rId4"/>
              <a:stretch>
                <a:fillRect/>
              </a:stretch>
            </p:blipFill>
            <p:spPr>
              <a:xfrm>
                <a:off x="3533602" y="4556879"/>
                <a:ext cx="361950" cy="371475"/>
              </a:xfrm>
              <a:prstGeom prst="rect">
                <a:avLst/>
              </a:prstGeom>
            </p:spPr>
          </p:pic>
        </p:grpSp>
        <p:sp>
          <p:nvSpPr>
            <p:cNvPr id="29" name="TextBox 28">
              <a:extLst>
                <a:ext uri="{FF2B5EF4-FFF2-40B4-BE49-F238E27FC236}">
                  <a16:creationId xmlns:a16="http://schemas.microsoft.com/office/drawing/2014/main" id="{F9CEBCD2-4B87-6A76-512B-BB64B9BC52C2}"/>
                </a:ext>
              </a:extLst>
            </p:cNvPr>
            <p:cNvSpPr txBox="1"/>
            <p:nvPr/>
          </p:nvSpPr>
          <p:spPr>
            <a:xfrm>
              <a:off x="2524243" y="3356375"/>
              <a:ext cx="163248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cs typeface="Arial"/>
                </a:rPr>
                <a:t>Notebooks</a:t>
              </a:r>
              <a:endParaRPr lang="en-US"/>
            </a:p>
            <a:p>
              <a:pPr algn="ctr"/>
              <a:endParaRPr lang="en-US" sz="1600">
                <a:solidFill>
                  <a:schemeClr val="accent5">
                    <a:lumMod val="49000"/>
                  </a:schemeClr>
                </a:solidFill>
                <a:latin typeface="Calibri"/>
                <a:ea typeface="Calibri"/>
                <a:cs typeface="Calibri"/>
              </a:endParaRPr>
            </a:p>
            <a:p>
              <a:pPr algn="ctr"/>
              <a:r>
                <a:rPr lang="en-US" sz="1600">
                  <a:solidFill>
                    <a:schemeClr val="accent5">
                      <a:lumMod val="49000"/>
                    </a:schemeClr>
                  </a:solidFill>
                  <a:latin typeface="Calibri"/>
                  <a:ea typeface="Calibri"/>
                  <a:cs typeface="Calibri"/>
                </a:rPr>
                <a:t>Transformation/</a:t>
              </a:r>
            </a:p>
            <a:p>
              <a:pPr algn="ctr"/>
              <a:r>
                <a:rPr lang="en-US" sz="1600">
                  <a:solidFill>
                    <a:schemeClr val="accent5">
                      <a:lumMod val="49000"/>
                    </a:schemeClr>
                  </a:solidFill>
                  <a:latin typeface="Calibri"/>
                  <a:ea typeface="Calibri"/>
                  <a:cs typeface="Calibri"/>
                </a:rPr>
                <a:t>Unit testing</a:t>
              </a:r>
            </a:p>
          </p:txBody>
        </p:sp>
      </p:grpSp>
      <p:sp>
        <p:nvSpPr>
          <p:cNvPr id="43" name="Rectangle: Rounded Corners 42">
            <a:extLst>
              <a:ext uri="{FF2B5EF4-FFF2-40B4-BE49-F238E27FC236}">
                <a16:creationId xmlns:a16="http://schemas.microsoft.com/office/drawing/2014/main" id="{1005CF0C-1C53-E299-173D-CB4D6A34201C}"/>
              </a:ext>
            </a:extLst>
          </p:cNvPr>
          <p:cNvSpPr/>
          <p:nvPr/>
        </p:nvSpPr>
        <p:spPr>
          <a:xfrm>
            <a:off x="7902453" y="2550569"/>
            <a:ext cx="1620022" cy="2159717"/>
          </a:xfrm>
          <a:prstGeom prst="roundRect">
            <a:avLst/>
          </a:prstGeom>
          <a:solidFill>
            <a:schemeClr val="bg1"/>
          </a:solidFill>
          <a:ln>
            <a:noFill/>
          </a:ln>
          <a:effectLst>
            <a:outerShdw blurRad="63500" dist="25400" dir="3720000">
              <a:srgbClr val="000000">
                <a:alpha val="2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C624A87-B7D5-2C7F-374B-77CD2671B647}"/>
              </a:ext>
            </a:extLst>
          </p:cNvPr>
          <p:cNvGrpSpPr/>
          <p:nvPr/>
        </p:nvGrpSpPr>
        <p:grpSpPr>
          <a:xfrm>
            <a:off x="8391778" y="2697315"/>
            <a:ext cx="647114" cy="647114"/>
            <a:chOff x="7433134" y="4467121"/>
            <a:chExt cx="647114" cy="647114"/>
          </a:xfrm>
        </p:grpSpPr>
        <p:sp>
          <p:nvSpPr>
            <p:cNvPr id="53" name="Text 3">
              <a:extLst>
                <a:ext uri="{FF2B5EF4-FFF2-40B4-BE49-F238E27FC236}">
                  <a16:creationId xmlns:a16="http://schemas.microsoft.com/office/drawing/2014/main" id="{FABFAA72-0673-FC37-C6B1-334DBF998ACD}"/>
                </a:ext>
              </a:extLst>
            </p:cNvPr>
            <p:cNvSpPr txBox="1"/>
            <p:nvPr/>
          </p:nvSpPr>
          <p:spPr>
            <a:xfrm>
              <a:off x="7433134" y="4467121"/>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25" name="Picture 24" descr="preencoded.png">
              <a:extLst>
                <a:ext uri="{FF2B5EF4-FFF2-40B4-BE49-F238E27FC236}">
                  <a16:creationId xmlns:a16="http://schemas.microsoft.com/office/drawing/2014/main" id="{C405F82E-3821-15E9-633D-3318D579C080}"/>
                </a:ext>
              </a:extLst>
            </p:cNvPr>
            <p:cNvPicPr>
              <a:picLocks noChangeAspect="1"/>
            </p:cNvPicPr>
            <p:nvPr/>
          </p:nvPicPr>
          <p:blipFill>
            <a:blip r:embed="rId5"/>
            <a:stretch>
              <a:fillRect/>
            </a:stretch>
          </p:blipFill>
          <p:spPr>
            <a:xfrm>
              <a:off x="7556815" y="4599008"/>
              <a:ext cx="381000" cy="381000"/>
            </a:xfrm>
            <a:prstGeom prst="rect">
              <a:avLst/>
            </a:prstGeom>
          </p:spPr>
        </p:pic>
      </p:grpSp>
      <p:sp>
        <p:nvSpPr>
          <p:cNvPr id="31" name="TextBox 30">
            <a:extLst>
              <a:ext uri="{FF2B5EF4-FFF2-40B4-BE49-F238E27FC236}">
                <a16:creationId xmlns:a16="http://schemas.microsoft.com/office/drawing/2014/main" id="{22B8D681-A89F-6678-225D-098F4649CE0D}"/>
              </a:ext>
            </a:extLst>
          </p:cNvPr>
          <p:cNvSpPr txBox="1"/>
          <p:nvPr/>
        </p:nvSpPr>
        <p:spPr>
          <a:xfrm>
            <a:off x="7921772" y="3481548"/>
            <a:ext cx="163248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cs typeface="Arial"/>
              </a:rPr>
              <a:t>Semantic Model</a:t>
            </a:r>
            <a:endParaRPr lang="en-US"/>
          </a:p>
          <a:p>
            <a:r>
              <a:rPr lang="en-US" sz="1600">
                <a:solidFill>
                  <a:schemeClr val="accent5">
                    <a:lumMod val="49000"/>
                  </a:schemeClr>
                </a:solidFill>
                <a:latin typeface="Calibri"/>
                <a:ea typeface="Calibri"/>
                <a:cs typeface="Calibri"/>
              </a:rPr>
              <a:t>Business-ready</a:t>
            </a:r>
            <a:endParaRPr lang="en-US">
              <a:solidFill>
                <a:schemeClr val="accent5">
                  <a:lumMod val="49000"/>
                </a:schemeClr>
              </a:solidFill>
              <a:latin typeface="Neue Haas Grotesk Text Pro"/>
              <a:ea typeface="Calibri"/>
              <a:cs typeface="Calibri"/>
            </a:endParaRPr>
          </a:p>
          <a:p>
            <a:pPr algn="ctr"/>
            <a:r>
              <a:rPr lang="en-US" sz="1600">
                <a:solidFill>
                  <a:schemeClr val="accent5">
                    <a:lumMod val="49000"/>
                  </a:schemeClr>
                </a:solidFill>
                <a:latin typeface="Calibri"/>
                <a:ea typeface="Calibri"/>
                <a:cs typeface="Calibri"/>
              </a:rPr>
              <a:t>model</a:t>
            </a:r>
          </a:p>
        </p:txBody>
      </p:sp>
      <p:sp>
        <p:nvSpPr>
          <p:cNvPr id="32" name="TextBox 31">
            <a:extLst>
              <a:ext uri="{FF2B5EF4-FFF2-40B4-BE49-F238E27FC236}">
                <a16:creationId xmlns:a16="http://schemas.microsoft.com/office/drawing/2014/main" id="{E5A4F47F-9CCF-5870-45BF-A7185DA8E391}"/>
              </a:ext>
            </a:extLst>
          </p:cNvPr>
          <p:cNvSpPr txBox="1"/>
          <p:nvPr/>
        </p:nvSpPr>
        <p:spPr>
          <a:xfrm>
            <a:off x="9822300" y="3480412"/>
            <a:ext cx="163248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cs typeface="Arial"/>
              </a:rPr>
              <a:t>Power BI</a:t>
            </a:r>
            <a:endParaRPr lang="en-US">
              <a:latin typeface="Neue Haas Grotesk Text Pro"/>
              <a:cs typeface="Arial"/>
            </a:endParaRPr>
          </a:p>
          <a:p>
            <a:pPr algn="ctr"/>
            <a:endParaRPr lang="en-US" b="1">
              <a:latin typeface="Arial"/>
              <a:cs typeface="Arial"/>
            </a:endParaRPr>
          </a:p>
          <a:p>
            <a:pPr algn="ctr"/>
            <a:r>
              <a:rPr lang="en-US" sz="1600">
                <a:solidFill>
                  <a:schemeClr val="accent5">
                    <a:lumMod val="49000"/>
                  </a:schemeClr>
                </a:solidFill>
                <a:latin typeface="Calibri"/>
                <a:ea typeface="Calibri"/>
                <a:cs typeface="Calibri"/>
              </a:rPr>
              <a:t>Reporting and insights</a:t>
            </a:r>
          </a:p>
        </p:txBody>
      </p:sp>
      <p:grpSp>
        <p:nvGrpSpPr>
          <p:cNvPr id="66" name="Group 65">
            <a:extLst>
              <a:ext uri="{FF2B5EF4-FFF2-40B4-BE49-F238E27FC236}">
                <a16:creationId xmlns:a16="http://schemas.microsoft.com/office/drawing/2014/main" id="{2C343F50-9E31-D398-9F54-B485C0601744}"/>
              </a:ext>
            </a:extLst>
          </p:cNvPr>
          <p:cNvGrpSpPr/>
          <p:nvPr/>
        </p:nvGrpSpPr>
        <p:grpSpPr>
          <a:xfrm>
            <a:off x="5987937" y="2534181"/>
            <a:ext cx="1636547" cy="2159717"/>
            <a:chOff x="4095227" y="2550568"/>
            <a:chExt cx="1636547" cy="2159717"/>
          </a:xfrm>
        </p:grpSpPr>
        <p:sp>
          <p:nvSpPr>
            <p:cNvPr id="42" name="Rectangle: Rounded Corners 41">
              <a:extLst>
                <a:ext uri="{FF2B5EF4-FFF2-40B4-BE49-F238E27FC236}">
                  <a16:creationId xmlns:a16="http://schemas.microsoft.com/office/drawing/2014/main" id="{23408B83-FB03-D261-12E9-0B8B059994A7}"/>
                </a:ext>
              </a:extLst>
            </p:cNvPr>
            <p:cNvSpPr/>
            <p:nvPr/>
          </p:nvSpPr>
          <p:spPr>
            <a:xfrm>
              <a:off x="4095227" y="2550568"/>
              <a:ext cx="1620022" cy="2159717"/>
            </a:xfrm>
            <a:prstGeom prst="roundRect">
              <a:avLst/>
            </a:prstGeom>
            <a:solidFill>
              <a:schemeClr val="bg1"/>
            </a:solidFill>
            <a:ln>
              <a:noFill/>
            </a:ln>
            <a:effectLst>
              <a:outerShdw blurRad="63500" dist="25400" dir="3720000">
                <a:srgbClr val="000000">
                  <a:alpha val="2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FA7E301-9C7A-5C67-F1FF-1401D43292EC}"/>
                </a:ext>
              </a:extLst>
            </p:cNvPr>
            <p:cNvSpPr txBox="1"/>
            <p:nvPr/>
          </p:nvSpPr>
          <p:spPr>
            <a:xfrm>
              <a:off x="4099294" y="3571676"/>
              <a:ext cx="163248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cs typeface="Arial"/>
                </a:rPr>
                <a:t>Lakehouse</a:t>
              </a:r>
              <a:endParaRPr lang="en-US"/>
            </a:p>
            <a:p>
              <a:pPr algn="ctr"/>
              <a:endParaRPr lang="en-US" sz="1600">
                <a:solidFill>
                  <a:schemeClr val="accent5">
                    <a:lumMod val="49000"/>
                  </a:schemeClr>
                </a:solidFill>
                <a:latin typeface="Calibri"/>
                <a:ea typeface="Calibri"/>
                <a:cs typeface="Calibri"/>
              </a:endParaRPr>
            </a:p>
            <a:p>
              <a:pPr algn="ctr"/>
              <a:r>
                <a:rPr lang="en-US" sz="1600">
                  <a:solidFill>
                    <a:schemeClr val="accent5">
                      <a:lumMod val="49000"/>
                    </a:schemeClr>
                  </a:solidFill>
                  <a:latin typeface="Calibri"/>
                  <a:ea typeface="Calibri"/>
                  <a:cs typeface="Calibri"/>
                </a:rPr>
                <a:t>Data storage</a:t>
              </a:r>
              <a:endParaRPr lang="en-US">
                <a:solidFill>
                  <a:schemeClr val="accent5">
                    <a:lumMod val="49000"/>
                  </a:schemeClr>
                </a:solidFill>
              </a:endParaRPr>
            </a:p>
          </p:txBody>
        </p:sp>
        <p:grpSp>
          <p:nvGrpSpPr>
            <p:cNvPr id="19" name="Group 18">
              <a:extLst>
                <a:ext uri="{FF2B5EF4-FFF2-40B4-BE49-F238E27FC236}">
                  <a16:creationId xmlns:a16="http://schemas.microsoft.com/office/drawing/2014/main" id="{4C537301-A6B3-9FE5-FA40-F7920AFC5099}"/>
                </a:ext>
              </a:extLst>
            </p:cNvPr>
            <p:cNvGrpSpPr/>
            <p:nvPr/>
          </p:nvGrpSpPr>
          <p:grpSpPr>
            <a:xfrm>
              <a:off x="4581778" y="2771055"/>
              <a:ext cx="647114" cy="647114"/>
              <a:chOff x="7433134" y="4467121"/>
              <a:chExt cx="647114" cy="647114"/>
            </a:xfrm>
          </p:grpSpPr>
          <p:sp>
            <p:nvSpPr>
              <p:cNvPr id="22" name="Text 3">
                <a:extLst>
                  <a:ext uri="{FF2B5EF4-FFF2-40B4-BE49-F238E27FC236}">
                    <a16:creationId xmlns:a16="http://schemas.microsoft.com/office/drawing/2014/main" id="{39B1EC28-962A-DE6C-C762-E786BE15D235}"/>
                  </a:ext>
                </a:extLst>
              </p:cNvPr>
              <p:cNvSpPr txBox="1"/>
              <p:nvPr/>
            </p:nvSpPr>
            <p:spPr>
              <a:xfrm>
                <a:off x="7433134" y="4467121"/>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23" name="Picture 22" descr="preencoded.png">
                <a:extLst>
                  <a:ext uri="{FF2B5EF4-FFF2-40B4-BE49-F238E27FC236}">
                    <a16:creationId xmlns:a16="http://schemas.microsoft.com/office/drawing/2014/main" id="{30386F4D-9ECE-3761-28A3-CF0B3AAFC49B}"/>
                  </a:ext>
                </a:extLst>
              </p:cNvPr>
              <p:cNvPicPr>
                <a:picLocks noChangeAspect="1"/>
              </p:cNvPicPr>
              <p:nvPr/>
            </p:nvPicPr>
            <p:blipFill>
              <a:blip r:embed="rId5"/>
              <a:stretch>
                <a:fillRect/>
              </a:stretch>
            </p:blipFill>
            <p:spPr>
              <a:xfrm>
                <a:off x="7556815" y="4599008"/>
                <a:ext cx="381000" cy="381000"/>
              </a:xfrm>
              <a:prstGeom prst="rect">
                <a:avLst/>
              </a:prstGeom>
            </p:spPr>
          </p:pic>
        </p:grpSp>
      </p:grpSp>
      <p:sp>
        <p:nvSpPr>
          <p:cNvPr id="33" name="Rectangle: Rounded Corners 32">
            <a:extLst>
              <a:ext uri="{FF2B5EF4-FFF2-40B4-BE49-F238E27FC236}">
                <a16:creationId xmlns:a16="http://schemas.microsoft.com/office/drawing/2014/main" id="{15DB2278-14B5-5F50-CFD0-5C906662DCA1}"/>
              </a:ext>
            </a:extLst>
          </p:cNvPr>
          <p:cNvSpPr/>
          <p:nvPr/>
        </p:nvSpPr>
        <p:spPr>
          <a:xfrm>
            <a:off x="4093338" y="2534183"/>
            <a:ext cx="1620022" cy="2159717"/>
          </a:xfrm>
          <a:prstGeom prst="roundRect">
            <a:avLst/>
          </a:prstGeom>
          <a:solidFill>
            <a:schemeClr val="bg1"/>
          </a:solidFill>
          <a:ln>
            <a:noFill/>
          </a:ln>
          <a:effectLst>
            <a:outerShdw blurRad="63500" dist="25400" dir="3720000">
              <a:srgbClr val="000000">
                <a:alpha val="2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A9FB09E2-41E7-F549-FA38-4DA98A023396}"/>
              </a:ext>
            </a:extLst>
          </p:cNvPr>
          <p:cNvGrpSpPr/>
          <p:nvPr/>
        </p:nvGrpSpPr>
        <p:grpSpPr>
          <a:xfrm>
            <a:off x="4576738" y="2773325"/>
            <a:ext cx="647114" cy="647114"/>
            <a:chOff x="3388673" y="4420228"/>
            <a:chExt cx="647114" cy="647114"/>
          </a:xfrm>
        </p:grpSpPr>
        <p:sp>
          <p:nvSpPr>
            <p:cNvPr id="36" name="Text 3">
              <a:extLst>
                <a:ext uri="{FF2B5EF4-FFF2-40B4-BE49-F238E27FC236}">
                  <a16:creationId xmlns:a16="http://schemas.microsoft.com/office/drawing/2014/main" id="{2C3D988C-688E-45EC-2E32-2C7496C6CF03}"/>
                </a:ext>
              </a:extLst>
            </p:cNvPr>
            <p:cNvSpPr txBox="1"/>
            <p:nvPr/>
          </p:nvSpPr>
          <p:spPr>
            <a:xfrm>
              <a:off x="3388673" y="4420228"/>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37" name="Picture 36" descr="preencoded.png">
              <a:extLst>
                <a:ext uri="{FF2B5EF4-FFF2-40B4-BE49-F238E27FC236}">
                  <a16:creationId xmlns:a16="http://schemas.microsoft.com/office/drawing/2014/main" id="{72535F08-6D93-CDEC-A6FF-020F93AC484B}"/>
                </a:ext>
              </a:extLst>
            </p:cNvPr>
            <p:cNvPicPr>
              <a:picLocks noChangeAspect="1"/>
            </p:cNvPicPr>
            <p:nvPr/>
          </p:nvPicPr>
          <p:blipFill>
            <a:blip r:embed="rId4"/>
            <a:stretch>
              <a:fillRect/>
            </a:stretch>
          </p:blipFill>
          <p:spPr>
            <a:xfrm>
              <a:off x="3533602" y="4556879"/>
              <a:ext cx="361950" cy="371475"/>
            </a:xfrm>
            <a:prstGeom prst="rect">
              <a:avLst/>
            </a:prstGeom>
          </p:spPr>
        </p:pic>
      </p:grpSp>
      <p:sp>
        <p:nvSpPr>
          <p:cNvPr id="38" name="TextBox 37">
            <a:extLst>
              <a:ext uri="{FF2B5EF4-FFF2-40B4-BE49-F238E27FC236}">
                <a16:creationId xmlns:a16="http://schemas.microsoft.com/office/drawing/2014/main" id="{424031F1-4F49-5D22-5179-44FE04CF87B6}"/>
              </a:ext>
            </a:extLst>
          </p:cNvPr>
          <p:cNvSpPr txBox="1"/>
          <p:nvPr/>
        </p:nvSpPr>
        <p:spPr>
          <a:xfrm>
            <a:off x="4097404" y="3561214"/>
            <a:ext cx="163248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cs typeface="Arial"/>
              </a:rPr>
              <a:t>Pipelines</a:t>
            </a:r>
            <a:endParaRPr lang="en-US"/>
          </a:p>
          <a:p>
            <a:pPr algn="ctr"/>
            <a:endParaRPr lang="en-US" b="1">
              <a:solidFill>
                <a:srgbClr val="000000"/>
              </a:solidFill>
              <a:latin typeface="Arial"/>
              <a:ea typeface="Calibri"/>
              <a:cs typeface="Arial"/>
            </a:endParaRPr>
          </a:p>
          <a:p>
            <a:pPr algn="ctr"/>
            <a:r>
              <a:rPr lang="en-US" sz="1600">
                <a:solidFill>
                  <a:schemeClr val="accent5">
                    <a:lumMod val="49000"/>
                  </a:schemeClr>
                </a:solidFill>
                <a:latin typeface="Calibri"/>
                <a:ea typeface="Calibri"/>
                <a:cs typeface="Calibri"/>
              </a:rPr>
              <a:t>Orchestration</a:t>
            </a:r>
          </a:p>
        </p:txBody>
      </p:sp>
      <p:sp>
        <p:nvSpPr>
          <p:cNvPr id="65" name="Text 12">
            <a:extLst>
              <a:ext uri="{FF2B5EF4-FFF2-40B4-BE49-F238E27FC236}">
                <a16:creationId xmlns:a16="http://schemas.microsoft.com/office/drawing/2014/main" id="{58F426F4-506C-696C-8531-CB5F2E207D7D}"/>
              </a:ext>
            </a:extLst>
          </p:cNvPr>
          <p:cNvSpPr txBox="1"/>
          <p:nvPr/>
        </p:nvSpPr>
        <p:spPr>
          <a:xfrm>
            <a:off x="5735336" y="3284730"/>
            <a:ext cx="25146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C8102E"/>
                </a:solidFill>
                <a:latin typeface="Arial" pitchFamily="34" charset="0"/>
                <a:ea typeface="Arial" pitchFamily="34" charset="-122"/>
                <a:cs typeface="Arial" pitchFamily="34" charset="-120"/>
              </a:rPr>
              <a:t>›</a:t>
            </a:r>
            <a:endParaRPr lang="en-US" sz="3200"/>
          </a:p>
        </p:txBody>
      </p:sp>
      <p:sp>
        <p:nvSpPr>
          <p:cNvPr id="12" name="Isosceles Triangle 11">
            <a:extLst>
              <a:ext uri="{FF2B5EF4-FFF2-40B4-BE49-F238E27FC236}">
                <a16:creationId xmlns:a16="http://schemas.microsoft.com/office/drawing/2014/main" id="{7B3EC8BF-4242-5F89-40AB-F20EDC5C4FAD}"/>
              </a:ext>
            </a:extLst>
          </p:cNvPr>
          <p:cNvSpPr/>
          <p:nvPr/>
        </p:nvSpPr>
        <p:spPr>
          <a:xfrm>
            <a:off x="2070462" y="657029"/>
            <a:ext cx="9244919" cy="1747240"/>
          </a:xfrm>
          <a:prstGeom prst="triangle">
            <a:avLst/>
          </a:prstGeom>
          <a:solidFill>
            <a:schemeClr val="accent3">
              <a:lumMod val="75000"/>
            </a:schemeClr>
          </a:solidFill>
          <a:ln>
            <a:solidFill>
              <a:schemeClr val="accent3">
                <a:lumMod val="50000"/>
              </a:schemeClr>
            </a:solidFill>
          </a:ln>
          <a:effectLst>
            <a:outerShdw blurRad="304800" dist="127000" dir="3180000">
              <a:srgbClr val="000000">
                <a:alpha val="21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C4C997A-998B-8B5A-75DC-9C9CAB0CEEC7}"/>
              </a:ext>
            </a:extLst>
          </p:cNvPr>
          <p:cNvSpPr txBox="1"/>
          <p:nvPr/>
        </p:nvSpPr>
        <p:spPr>
          <a:xfrm>
            <a:off x="5459185" y="1505881"/>
            <a:ext cx="578660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latin typeface="Arial"/>
                <a:cs typeface="Arial"/>
              </a:rPr>
              <a:t>Microsoft Azure Fabric</a:t>
            </a:r>
            <a:endParaRPr lang="en-US">
              <a:solidFill>
                <a:schemeClr val="bg1"/>
              </a:solidFill>
              <a:latin typeface="Neue Haas Grotesk Text Pro"/>
              <a:cs typeface="Arial"/>
            </a:endParaRPr>
          </a:p>
          <a:p>
            <a:r>
              <a:rPr lang="en-US" sz="1600">
                <a:solidFill>
                  <a:schemeClr val="bg1"/>
                </a:solidFill>
                <a:latin typeface="Calibri"/>
                <a:ea typeface="Calibri"/>
                <a:cs typeface="Calibri"/>
              </a:rPr>
              <a:t>Platform</a:t>
            </a:r>
          </a:p>
          <a:p>
            <a:endParaRPr lang="en-US" b="1">
              <a:latin typeface="Arial"/>
              <a:cs typeface="Arial"/>
            </a:endParaRPr>
          </a:p>
        </p:txBody>
      </p:sp>
      <p:sp>
        <p:nvSpPr>
          <p:cNvPr id="50" name="Trapezoid 49">
            <a:extLst>
              <a:ext uri="{FF2B5EF4-FFF2-40B4-BE49-F238E27FC236}">
                <a16:creationId xmlns:a16="http://schemas.microsoft.com/office/drawing/2014/main" id="{A74B0E7B-FDBA-A642-19CD-65FB7363896A}"/>
              </a:ext>
            </a:extLst>
          </p:cNvPr>
          <p:cNvSpPr/>
          <p:nvPr/>
        </p:nvSpPr>
        <p:spPr>
          <a:xfrm>
            <a:off x="1851081" y="4873741"/>
            <a:ext cx="9968556" cy="621971"/>
          </a:xfrm>
          <a:prstGeom prst="trapezoid">
            <a:avLst/>
          </a:prstGeom>
          <a:solidFill>
            <a:schemeClr val="tx1">
              <a:lumMod val="75000"/>
              <a:lumOff val="25000"/>
            </a:schemeClr>
          </a:solidFill>
          <a:ln>
            <a:solidFill>
              <a:schemeClr val="tx1"/>
            </a:solidFill>
          </a:ln>
          <a:effectLst>
            <a:outerShdw blurRad="88900" dist="76200" dir="2700000">
              <a:srgbClr val="000000">
                <a:alpha val="1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D4EB241-ABC9-832E-5E93-24FC0263206C}"/>
              </a:ext>
            </a:extLst>
          </p:cNvPr>
          <p:cNvSpPr txBox="1"/>
          <p:nvPr/>
        </p:nvSpPr>
        <p:spPr>
          <a:xfrm>
            <a:off x="5220207" y="4872973"/>
            <a:ext cx="578660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latin typeface="Arial"/>
                <a:cs typeface="Arial"/>
              </a:rPr>
              <a:t>Microsoft DevOps Project</a:t>
            </a:r>
          </a:p>
          <a:p>
            <a:r>
              <a:rPr lang="en-US" sz="1600">
                <a:solidFill>
                  <a:schemeClr val="bg1"/>
                </a:solidFill>
                <a:latin typeface="Calibri"/>
                <a:ea typeface="Calibri"/>
                <a:cs typeface="Calibri"/>
              </a:rPr>
              <a:t>CI/CD and Version control</a:t>
            </a:r>
          </a:p>
        </p:txBody>
      </p:sp>
      <p:sp>
        <p:nvSpPr>
          <p:cNvPr id="2" name="Rectangle 1">
            <a:extLst>
              <a:ext uri="{FF2B5EF4-FFF2-40B4-BE49-F238E27FC236}">
                <a16:creationId xmlns:a16="http://schemas.microsoft.com/office/drawing/2014/main" id="{0781360B-53D5-5A2E-160F-3C8E476442B3}"/>
              </a:ext>
            </a:extLst>
          </p:cNvPr>
          <p:cNvSpPr/>
          <p:nvPr/>
        </p:nvSpPr>
        <p:spPr>
          <a:xfrm>
            <a:off x="7918097" y="213437"/>
            <a:ext cx="622300" cy="1130300"/>
          </a:xfrm>
          <a:prstGeom prst="rect">
            <a:avLst/>
          </a:prstGeom>
          <a:solidFill>
            <a:srgbClr val="5C3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1848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33CFFE26-563C-75B5-0AF0-A9592DEA2AEB}"/>
              </a:ext>
            </a:extLst>
          </p:cNvPr>
          <p:cNvSpPr txBox="1"/>
          <p:nvPr/>
        </p:nvSpPr>
        <p:spPr>
          <a:xfrm>
            <a:off x="548640" y="365760"/>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dirty="0">
                <a:solidFill>
                  <a:schemeClr val="bg1"/>
                </a:solidFill>
                <a:latin typeface="Arial"/>
                <a:cs typeface="Arial"/>
              </a:rPr>
              <a:t>Challenges</a:t>
            </a:r>
          </a:p>
        </p:txBody>
      </p:sp>
      <p:sp>
        <p:nvSpPr>
          <p:cNvPr id="10" name="TextBox 9">
            <a:extLst>
              <a:ext uri="{FF2B5EF4-FFF2-40B4-BE49-F238E27FC236}">
                <a16:creationId xmlns:a16="http://schemas.microsoft.com/office/drawing/2014/main" id="{139C435B-8E52-1A65-A837-9773904A7564}"/>
              </a:ext>
            </a:extLst>
          </p:cNvPr>
          <p:cNvSpPr txBox="1"/>
          <p:nvPr/>
        </p:nvSpPr>
        <p:spPr>
          <a:xfrm>
            <a:off x="820586" y="3806982"/>
            <a:ext cx="4896612" cy="1681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E538DDA9-91A0-0440-E9DB-411780D567C0}"/>
              </a:ext>
            </a:extLst>
          </p:cNvPr>
          <p:cNvSpPr txBox="1"/>
          <p:nvPr/>
        </p:nvSpPr>
        <p:spPr>
          <a:xfrm>
            <a:off x="427364" y="1409319"/>
            <a:ext cx="5569224" cy="201783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1E81A809-5329-2D85-BACD-1B528D3AAFDB}"/>
              </a:ext>
            </a:extLst>
          </p:cNvPr>
          <p:cNvSpPr txBox="1"/>
          <p:nvPr/>
        </p:nvSpPr>
        <p:spPr>
          <a:xfrm>
            <a:off x="6288902" y="1409318"/>
            <a:ext cx="5569224" cy="201783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E99D3237-00B3-8AE8-9B89-FE0FF66258AB}"/>
              </a:ext>
            </a:extLst>
          </p:cNvPr>
          <p:cNvSpPr txBox="1"/>
          <p:nvPr/>
        </p:nvSpPr>
        <p:spPr>
          <a:xfrm>
            <a:off x="427363" y="3812549"/>
            <a:ext cx="5569224" cy="201783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E762D597-23C9-CE82-719D-2C1A3C83D625}"/>
              </a:ext>
            </a:extLst>
          </p:cNvPr>
          <p:cNvSpPr txBox="1"/>
          <p:nvPr/>
        </p:nvSpPr>
        <p:spPr>
          <a:xfrm>
            <a:off x="6288902" y="3812550"/>
            <a:ext cx="5569224" cy="201783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 3">
            <a:extLst>
              <a:ext uri="{FF2B5EF4-FFF2-40B4-BE49-F238E27FC236}">
                <a16:creationId xmlns:a16="http://schemas.microsoft.com/office/drawing/2014/main" id="{C6A3FF25-7BBE-1B0B-3D6A-350AB29D124F}"/>
              </a:ext>
            </a:extLst>
          </p:cNvPr>
          <p:cNvSpPr txBox="1"/>
          <p:nvPr/>
        </p:nvSpPr>
        <p:spPr>
          <a:xfrm>
            <a:off x="553329" y="1524000"/>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sp>
        <p:nvSpPr>
          <p:cNvPr id="19" name="Text 3">
            <a:extLst>
              <a:ext uri="{FF2B5EF4-FFF2-40B4-BE49-F238E27FC236}">
                <a16:creationId xmlns:a16="http://schemas.microsoft.com/office/drawing/2014/main" id="{C3B70238-2566-5F20-CC5D-12F81125FC20}"/>
              </a:ext>
            </a:extLst>
          </p:cNvPr>
          <p:cNvSpPr txBox="1"/>
          <p:nvPr/>
        </p:nvSpPr>
        <p:spPr>
          <a:xfrm>
            <a:off x="6520374" y="1523999"/>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sp>
        <p:nvSpPr>
          <p:cNvPr id="20" name="Text 3">
            <a:extLst>
              <a:ext uri="{FF2B5EF4-FFF2-40B4-BE49-F238E27FC236}">
                <a16:creationId xmlns:a16="http://schemas.microsoft.com/office/drawing/2014/main" id="{8B0E7E90-6165-FCA9-84EE-640D275DD4D1}"/>
              </a:ext>
            </a:extLst>
          </p:cNvPr>
          <p:cNvSpPr txBox="1"/>
          <p:nvPr/>
        </p:nvSpPr>
        <p:spPr>
          <a:xfrm>
            <a:off x="553328" y="3997568"/>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sp>
        <p:nvSpPr>
          <p:cNvPr id="21" name="Text 3">
            <a:extLst>
              <a:ext uri="{FF2B5EF4-FFF2-40B4-BE49-F238E27FC236}">
                <a16:creationId xmlns:a16="http://schemas.microsoft.com/office/drawing/2014/main" id="{4F4C91F4-2F76-8380-7F38-91B83E3DB3EC}"/>
              </a:ext>
            </a:extLst>
          </p:cNvPr>
          <p:cNvSpPr txBox="1"/>
          <p:nvPr/>
        </p:nvSpPr>
        <p:spPr>
          <a:xfrm>
            <a:off x="6520374" y="3997568"/>
            <a:ext cx="647114" cy="647114"/>
          </a:xfrm>
          <a:prstGeom prst="flowChartConnector">
            <a:avLst/>
          </a:prstGeom>
          <a:solidFill>
            <a:srgbClr val="071A2F"/>
          </a:solidFill>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600" b="1">
              <a:solidFill>
                <a:srgbClr val="FFFFFF"/>
              </a:solidFill>
              <a:latin typeface="Arial"/>
              <a:cs typeface="Arial"/>
            </a:endParaRPr>
          </a:p>
        </p:txBody>
      </p:sp>
      <p:pic>
        <p:nvPicPr>
          <p:cNvPr id="22" name="Picture 21" descr="preencoded.png">
            <a:extLst>
              <a:ext uri="{FF2B5EF4-FFF2-40B4-BE49-F238E27FC236}">
                <a16:creationId xmlns:a16="http://schemas.microsoft.com/office/drawing/2014/main" id="{8B7A8761-D86E-490A-D000-7F8527E4FBF1}"/>
              </a:ext>
            </a:extLst>
          </p:cNvPr>
          <p:cNvPicPr>
            <a:picLocks noChangeAspect="1"/>
          </p:cNvPicPr>
          <p:nvPr/>
        </p:nvPicPr>
        <p:blipFill>
          <a:blip r:embed="rId3"/>
          <a:stretch>
            <a:fillRect/>
          </a:stretch>
        </p:blipFill>
        <p:spPr>
          <a:xfrm>
            <a:off x="6626103" y="1604962"/>
            <a:ext cx="452071" cy="482844"/>
          </a:xfrm>
          <a:prstGeom prst="rect">
            <a:avLst/>
          </a:prstGeom>
        </p:spPr>
      </p:pic>
      <p:pic>
        <p:nvPicPr>
          <p:cNvPr id="24" name="Picture 23" descr="preencoded.png">
            <a:extLst>
              <a:ext uri="{FF2B5EF4-FFF2-40B4-BE49-F238E27FC236}">
                <a16:creationId xmlns:a16="http://schemas.microsoft.com/office/drawing/2014/main" id="{8E35C931-8A4D-FFFF-B7CC-3F552B8B3059}"/>
              </a:ext>
            </a:extLst>
          </p:cNvPr>
          <p:cNvPicPr>
            <a:picLocks noChangeAspect="1"/>
          </p:cNvPicPr>
          <p:nvPr/>
        </p:nvPicPr>
        <p:blipFill>
          <a:blip r:embed="rId4"/>
          <a:stretch>
            <a:fillRect/>
          </a:stretch>
        </p:blipFill>
        <p:spPr>
          <a:xfrm>
            <a:off x="6637826" y="4099779"/>
            <a:ext cx="440347" cy="440348"/>
          </a:xfrm>
          <a:prstGeom prst="rect">
            <a:avLst/>
          </a:prstGeom>
        </p:spPr>
      </p:pic>
      <p:pic>
        <p:nvPicPr>
          <p:cNvPr id="23" name="Picture 22" descr="preencoded.png">
            <a:extLst>
              <a:ext uri="{FF2B5EF4-FFF2-40B4-BE49-F238E27FC236}">
                <a16:creationId xmlns:a16="http://schemas.microsoft.com/office/drawing/2014/main" id="{BCBE28C7-253C-FDC9-8653-06777F6333A4}"/>
              </a:ext>
            </a:extLst>
          </p:cNvPr>
          <p:cNvPicPr>
            <a:picLocks noChangeAspect="1"/>
          </p:cNvPicPr>
          <p:nvPr/>
        </p:nvPicPr>
        <p:blipFill>
          <a:blip r:embed="rId5"/>
          <a:stretch>
            <a:fillRect/>
          </a:stretch>
        </p:blipFill>
        <p:spPr>
          <a:xfrm>
            <a:off x="659057" y="1602764"/>
            <a:ext cx="487240" cy="452071"/>
          </a:xfrm>
          <a:prstGeom prst="rect">
            <a:avLst/>
          </a:prstGeom>
        </p:spPr>
      </p:pic>
      <p:pic>
        <p:nvPicPr>
          <p:cNvPr id="18" name="Picture 17" descr="preencoded.png">
            <a:extLst>
              <a:ext uri="{FF2B5EF4-FFF2-40B4-BE49-F238E27FC236}">
                <a16:creationId xmlns:a16="http://schemas.microsoft.com/office/drawing/2014/main" id="{76D4406A-64D5-7583-3C1D-395BF66B6DB0}"/>
              </a:ext>
            </a:extLst>
          </p:cNvPr>
          <p:cNvPicPr>
            <a:picLocks noChangeAspect="1"/>
          </p:cNvPicPr>
          <p:nvPr/>
        </p:nvPicPr>
        <p:blipFill>
          <a:blip r:embed="rId6"/>
          <a:stretch>
            <a:fillRect/>
          </a:stretch>
        </p:blipFill>
        <p:spPr>
          <a:xfrm>
            <a:off x="677006" y="4099049"/>
            <a:ext cx="381000" cy="371475"/>
          </a:xfrm>
          <a:prstGeom prst="rect">
            <a:avLst/>
          </a:prstGeom>
        </p:spPr>
      </p:pic>
      <p:sp>
        <p:nvSpPr>
          <p:cNvPr id="26" name="TextBox 25">
            <a:extLst>
              <a:ext uri="{FF2B5EF4-FFF2-40B4-BE49-F238E27FC236}">
                <a16:creationId xmlns:a16="http://schemas.microsoft.com/office/drawing/2014/main" id="{52B95BF5-D572-1AFF-4E55-D9C3E317D0A4}"/>
              </a:ext>
            </a:extLst>
          </p:cNvPr>
          <p:cNvSpPr txBox="1"/>
          <p:nvPr/>
        </p:nvSpPr>
        <p:spPr>
          <a:xfrm>
            <a:off x="1239460" y="1609763"/>
            <a:ext cx="4604095"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Domain knowledge </a:t>
            </a:r>
            <a:endParaRPr lang="en-US"/>
          </a:p>
          <a:p>
            <a:pPr marL="285750" indent="-285750">
              <a:buFont typeface="Arial"/>
              <a:buChar char="•"/>
            </a:pPr>
            <a:r>
              <a:rPr lang="en-US" sz="1600">
                <a:solidFill>
                  <a:schemeClr val="accent5">
                    <a:lumMod val="49000"/>
                  </a:schemeClr>
                </a:solidFill>
                <a:latin typeface="Calibri"/>
                <a:ea typeface="Calibri"/>
                <a:cs typeface="Calibri"/>
              </a:rPr>
              <a:t>Virtually unheard of in sunny Singapore</a:t>
            </a:r>
          </a:p>
          <a:p>
            <a:pPr marL="285750" indent="-285750">
              <a:buFont typeface="Arial"/>
              <a:buChar char="•"/>
            </a:pPr>
            <a:r>
              <a:rPr lang="en-US" sz="1600">
                <a:solidFill>
                  <a:schemeClr val="accent5">
                    <a:lumMod val="49000"/>
                  </a:schemeClr>
                </a:solidFill>
                <a:latin typeface="Calibri"/>
                <a:ea typeface="Calibri"/>
                <a:cs typeface="Calibri"/>
              </a:rPr>
              <a:t>We had to learn how ice hockey work before we could model it</a:t>
            </a:r>
          </a:p>
          <a:p>
            <a:endParaRPr lang="en-US" b="1">
              <a:solidFill>
                <a:srgbClr val="071A2F"/>
              </a:solidFill>
              <a:latin typeface="Arial"/>
              <a:cs typeface="Arial"/>
            </a:endParaRPr>
          </a:p>
          <a:p>
            <a:endParaRPr lang="en-US" b="1">
              <a:solidFill>
                <a:srgbClr val="071A2F"/>
              </a:solidFill>
              <a:latin typeface="Arial"/>
              <a:cs typeface="Arial"/>
            </a:endParaRPr>
          </a:p>
        </p:txBody>
      </p:sp>
      <p:sp>
        <p:nvSpPr>
          <p:cNvPr id="27" name="TextBox 26">
            <a:extLst>
              <a:ext uri="{FF2B5EF4-FFF2-40B4-BE49-F238E27FC236}">
                <a16:creationId xmlns:a16="http://schemas.microsoft.com/office/drawing/2014/main" id="{1DE21BDD-0DCC-0CD8-B58F-7D0774004EBD}"/>
              </a:ext>
            </a:extLst>
          </p:cNvPr>
          <p:cNvSpPr txBox="1"/>
          <p:nvPr/>
        </p:nvSpPr>
        <p:spPr>
          <a:xfrm>
            <a:off x="1229199" y="4001270"/>
            <a:ext cx="479459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Azure Fabric </a:t>
            </a:r>
          </a:p>
          <a:p>
            <a:pPr marL="342900" indent="-342900">
              <a:spcAft>
                <a:spcPts val="400"/>
              </a:spcAft>
              <a:buFont typeface="Arial,Sans-Serif"/>
              <a:buChar char="•"/>
            </a:pPr>
            <a:r>
              <a:rPr lang="en-US" sz="1600">
                <a:solidFill>
                  <a:srgbClr val="5B7186"/>
                </a:solidFill>
                <a:latin typeface="Calibri"/>
                <a:ea typeface="Calibri"/>
                <a:cs typeface="Calibri"/>
              </a:rPr>
              <a:t>New and unfamiliar to Fabric</a:t>
            </a:r>
          </a:p>
          <a:p>
            <a:pPr marL="342900" indent="-342900">
              <a:spcAft>
                <a:spcPts val="400"/>
              </a:spcAft>
              <a:buFont typeface="Arial,Sans-Serif"/>
              <a:buChar char="•"/>
            </a:pPr>
            <a:r>
              <a:rPr lang="en-US" sz="1600">
                <a:solidFill>
                  <a:srgbClr val="5B7186"/>
                </a:solidFill>
                <a:latin typeface="Calibri"/>
                <a:ea typeface="Calibri"/>
                <a:cs typeface="Calibri"/>
              </a:rPr>
              <a:t>Free trial account limited by plan/account </a:t>
            </a:r>
            <a:endParaRPr lang="en-US" sz="1600">
              <a:solidFill>
                <a:srgbClr val="000000"/>
              </a:solidFill>
              <a:latin typeface="Calibri"/>
              <a:ea typeface="Calibri"/>
              <a:cs typeface="Calibri"/>
            </a:endParaRPr>
          </a:p>
          <a:p>
            <a:pPr marL="342900" indent="-342900">
              <a:spcAft>
                <a:spcPts val="400"/>
              </a:spcAft>
              <a:buFont typeface="Arial"/>
              <a:buChar char="•"/>
            </a:pPr>
            <a:r>
              <a:rPr lang="en-US" sz="1600">
                <a:solidFill>
                  <a:srgbClr val="5B7186"/>
                </a:solidFill>
                <a:latin typeface="Calibri"/>
                <a:ea typeface="Calibri"/>
                <a:cs typeface="Calibri"/>
              </a:rPr>
              <a:t>No Data Factory: pipelines only, no orchestration</a:t>
            </a:r>
          </a:p>
          <a:p>
            <a:endParaRPr lang="en-US" b="1">
              <a:solidFill>
                <a:srgbClr val="071A2F"/>
              </a:solidFill>
              <a:latin typeface="Arial"/>
              <a:cs typeface="Arial"/>
            </a:endParaRPr>
          </a:p>
          <a:p>
            <a:endParaRPr lang="en-US" b="1">
              <a:solidFill>
                <a:srgbClr val="071A2F"/>
              </a:solidFill>
              <a:latin typeface="Arial"/>
              <a:cs typeface="Arial"/>
            </a:endParaRPr>
          </a:p>
        </p:txBody>
      </p:sp>
      <p:sp>
        <p:nvSpPr>
          <p:cNvPr id="28" name="TextBox 27">
            <a:extLst>
              <a:ext uri="{FF2B5EF4-FFF2-40B4-BE49-F238E27FC236}">
                <a16:creationId xmlns:a16="http://schemas.microsoft.com/office/drawing/2014/main" id="{61F419A7-B71A-187E-7C0C-C564874E532B}"/>
              </a:ext>
            </a:extLst>
          </p:cNvPr>
          <p:cNvSpPr txBox="1"/>
          <p:nvPr/>
        </p:nvSpPr>
        <p:spPr>
          <a:xfrm>
            <a:off x="7160527" y="1598038"/>
            <a:ext cx="4235002" cy="22775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Data Issue</a:t>
            </a:r>
          </a:p>
          <a:p>
            <a:pPr marL="342900" indent="-342900">
              <a:spcAft>
                <a:spcPts val="400"/>
              </a:spcAft>
              <a:buFont typeface="Arial"/>
              <a:buChar char="•"/>
            </a:pPr>
            <a:r>
              <a:rPr lang="en-US" sz="1600">
                <a:solidFill>
                  <a:srgbClr val="5B7186"/>
                </a:solidFill>
                <a:latin typeface="Calibri"/>
                <a:ea typeface="Calibri"/>
                <a:cs typeface="Calibri"/>
              </a:rPr>
              <a:t>Duplicates, missing and null values: we had to decide how to handle them</a:t>
            </a:r>
            <a:endParaRPr lang="en-US" sz="1600">
              <a:solidFill>
                <a:srgbClr val="000000"/>
              </a:solidFill>
              <a:latin typeface="Calibri"/>
              <a:ea typeface="Calibri"/>
              <a:cs typeface="Calibri"/>
            </a:endParaRPr>
          </a:p>
          <a:p>
            <a:pPr marL="342900" indent="-342900">
              <a:spcAft>
                <a:spcPts val="400"/>
              </a:spcAft>
              <a:buFont typeface="Arial"/>
              <a:buChar char="•"/>
            </a:pPr>
            <a:r>
              <a:rPr lang="en-US" sz="1600">
                <a:solidFill>
                  <a:srgbClr val="5B7186"/>
                </a:solidFill>
                <a:latin typeface="Calibri"/>
                <a:ea typeface="Calibri"/>
                <a:cs typeface="Calibri"/>
              </a:rPr>
              <a:t>No referential integrity in the data lake, so we enforced it in code</a:t>
            </a:r>
            <a:endParaRPr lang="en-US" sz="1600">
              <a:solidFill>
                <a:srgbClr val="000000"/>
              </a:solidFill>
              <a:latin typeface="Calibri"/>
              <a:ea typeface="Calibri"/>
              <a:cs typeface="Calibri"/>
            </a:endParaRPr>
          </a:p>
          <a:p>
            <a:pPr marL="342900" indent="-342900">
              <a:spcAft>
                <a:spcPts val="400"/>
              </a:spcAft>
              <a:buFont typeface="Arial"/>
              <a:buChar char="•"/>
            </a:pPr>
            <a:endParaRPr lang="en-US" sz="1400">
              <a:solidFill>
                <a:srgbClr val="5B7186"/>
              </a:solidFill>
              <a:latin typeface="Arial"/>
              <a:ea typeface="Calibri"/>
              <a:cs typeface="Arial"/>
            </a:endParaRPr>
          </a:p>
          <a:p>
            <a:endParaRPr lang="en-US" b="1">
              <a:solidFill>
                <a:srgbClr val="071A2F"/>
              </a:solidFill>
              <a:latin typeface="Arial"/>
              <a:cs typeface="Arial"/>
            </a:endParaRPr>
          </a:p>
          <a:p>
            <a:endParaRPr lang="en-US" b="1">
              <a:solidFill>
                <a:srgbClr val="071A2F"/>
              </a:solidFill>
              <a:latin typeface="Arial"/>
              <a:cs typeface="Arial"/>
            </a:endParaRPr>
          </a:p>
        </p:txBody>
      </p:sp>
      <p:sp>
        <p:nvSpPr>
          <p:cNvPr id="29" name="TextBox 28">
            <a:extLst>
              <a:ext uri="{FF2B5EF4-FFF2-40B4-BE49-F238E27FC236}">
                <a16:creationId xmlns:a16="http://schemas.microsoft.com/office/drawing/2014/main" id="{68CA943B-D97F-4B10-D0A6-9ED3D72E46D1}"/>
              </a:ext>
            </a:extLst>
          </p:cNvPr>
          <p:cNvSpPr txBox="1"/>
          <p:nvPr/>
        </p:nvSpPr>
        <p:spPr>
          <a:xfrm>
            <a:off x="7301203" y="4048160"/>
            <a:ext cx="4235002" cy="25750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Data modelling</a:t>
            </a:r>
          </a:p>
          <a:p>
            <a:pPr marL="342900" indent="-342900">
              <a:spcAft>
                <a:spcPts val="400"/>
              </a:spcAft>
              <a:buFont typeface="Arial"/>
              <a:buChar char="•"/>
            </a:pPr>
            <a:r>
              <a:rPr lang="en-US" sz="1600">
                <a:solidFill>
                  <a:srgbClr val="5B7186"/>
                </a:solidFill>
                <a:latin typeface="Calibri"/>
                <a:ea typeface="Calibri"/>
                <a:cs typeface="Calibri"/>
              </a:rPr>
              <a:t> 'What should we do next?' took too long</a:t>
            </a:r>
          </a:p>
          <a:p>
            <a:pPr marL="342900" indent="-342900">
              <a:spcAft>
                <a:spcPts val="400"/>
              </a:spcAft>
              <a:buFont typeface="Arial,Sans-Serif"/>
              <a:buChar char="•"/>
            </a:pPr>
            <a:r>
              <a:rPr lang="en-US" sz="1600">
                <a:solidFill>
                  <a:srgbClr val="5B7186"/>
                </a:solidFill>
                <a:latin typeface="Calibri"/>
                <a:ea typeface="Calibri"/>
                <a:cs typeface="Calibri"/>
              </a:rPr>
              <a:t>Converting raw data into meaningful performance metrics that are insightful to ice hockey</a:t>
            </a:r>
            <a:endParaRPr lang="en-US" sz="1600">
              <a:solidFill>
                <a:srgbClr val="000000"/>
              </a:solidFill>
              <a:latin typeface="Calibri"/>
              <a:ea typeface="Calibri"/>
              <a:cs typeface="Calibri"/>
            </a:endParaRPr>
          </a:p>
          <a:p>
            <a:pPr marL="342900" indent="-342900">
              <a:spcAft>
                <a:spcPts val="400"/>
              </a:spcAft>
              <a:buFont typeface="Arial"/>
              <a:buChar char="•"/>
            </a:pPr>
            <a:endParaRPr lang="en-US" sz="1600">
              <a:solidFill>
                <a:srgbClr val="5B7186"/>
              </a:solidFill>
              <a:latin typeface="Calibri"/>
              <a:ea typeface="Calibri"/>
              <a:cs typeface="Calibri"/>
            </a:endParaRPr>
          </a:p>
          <a:p>
            <a:pPr marL="342900" indent="-342900">
              <a:spcAft>
                <a:spcPts val="400"/>
              </a:spcAft>
              <a:buFont typeface="Arial"/>
              <a:buChar char="•"/>
            </a:pPr>
            <a:endParaRPr lang="en-US" sz="1400">
              <a:solidFill>
                <a:srgbClr val="5B7186"/>
              </a:solidFill>
              <a:latin typeface="Arial"/>
              <a:ea typeface="Calibri"/>
              <a:cs typeface="Arial"/>
            </a:endParaRPr>
          </a:p>
          <a:p>
            <a:endParaRPr lang="en-US" b="1">
              <a:solidFill>
                <a:srgbClr val="071A2F"/>
              </a:solidFill>
              <a:latin typeface="Arial"/>
              <a:cs typeface="Arial"/>
            </a:endParaRPr>
          </a:p>
          <a:p>
            <a:endParaRPr lang="en-US" b="1">
              <a:solidFill>
                <a:srgbClr val="071A2F"/>
              </a:solidFill>
              <a:latin typeface="Arial"/>
              <a:cs typeface="Arial"/>
            </a:endParaRPr>
          </a:p>
        </p:txBody>
      </p:sp>
    </p:spTree>
    <p:extLst>
      <p:ext uri="{BB962C8B-B14F-4D97-AF65-F5344CB8AC3E}">
        <p14:creationId xmlns:p14="http://schemas.microsoft.com/office/powerpoint/2010/main" val="3441896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F782C-834C-FA36-1ABC-0199A33EBE76}"/>
              </a:ext>
            </a:extLst>
          </p:cNvPr>
          <p:cNvSpPr>
            <a:spLocks noGrp="1"/>
          </p:cNvSpPr>
          <p:nvPr>
            <p:ph type="title"/>
          </p:nvPr>
        </p:nvSpPr>
        <p:spPr/>
        <p:txBody>
          <a:bodyPr>
            <a:normAutofit/>
          </a:bodyPr>
          <a:lstStyle/>
          <a:p>
            <a:r>
              <a:rPr lang="en-US" sz="3600" b="1">
                <a:latin typeface="Arial"/>
                <a:cs typeface="Arial"/>
              </a:rPr>
              <a:t>Azure Fabric Medallion Architecture</a:t>
            </a:r>
          </a:p>
        </p:txBody>
      </p:sp>
      <p:sp>
        <p:nvSpPr>
          <p:cNvPr id="3" name="TextBox 2">
            <a:extLst>
              <a:ext uri="{FF2B5EF4-FFF2-40B4-BE49-F238E27FC236}">
                <a16:creationId xmlns:a16="http://schemas.microsoft.com/office/drawing/2014/main" id="{6D8AA432-6D6C-EF0D-1E42-0D57D53A288A}"/>
              </a:ext>
            </a:extLst>
          </p:cNvPr>
          <p:cNvSpPr txBox="1"/>
          <p:nvPr/>
        </p:nvSpPr>
        <p:spPr>
          <a:xfrm>
            <a:off x="329290" y="3300907"/>
            <a:ext cx="317308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latin typeface="Calibri"/>
                <a:ea typeface="Calibri"/>
                <a:cs typeface="Calibri"/>
              </a:rPr>
              <a:t>Bronze phase</a:t>
            </a:r>
          </a:p>
          <a:p>
            <a:pPr marL="285750" indent="-285750">
              <a:buFont typeface="Arial"/>
              <a:buChar char="•"/>
            </a:pPr>
            <a:r>
              <a:rPr lang="en-US">
                <a:solidFill>
                  <a:srgbClr val="FFFFFF"/>
                </a:solidFill>
                <a:latin typeface="Calibri"/>
                <a:ea typeface="Calibri"/>
                <a:cs typeface="Calibri"/>
              </a:rPr>
              <a:t>Download Kaggle datasets</a:t>
            </a:r>
          </a:p>
          <a:p>
            <a:pPr marL="285750" indent="-285750">
              <a:buFont typeface="Arial"/>
              <a:buChar char="•"/>
            </a:pPr>
            <a:r>
              <a:rPr lang="en-US">
                <a:solidFill>
                  <a:srgbClr val="FFFFFF"/>
                </a:solidFill>
                <a:latin typeface="Calibri"/>
                <a:ea typeface="Calibri"/>
                <a:cs typeface="Calibri"/>
              </a:rPr>
              <a:t>Create bronze tables</a:t>
            </a:r>
          </a:p>
        </p:txBody>
      </p:sp>
      <p:pic>
        <p:nvPicPr>
          <p:cNvPr id="6" name="Picture 5">
            <a:extLst>
              <a:ext uri="{FF2B5EF4-FFF2-40B4-BE49-F238E27FC236}">
                <a16:creationId xmlns:a16="http://schemas.microsoft.com/office/drawing/2014/main" id="{808DCE39-1865-81EB-7D2B-C68FF5A4C192}"/>
              </a:ext>
            </a:extLst>
          </p:cNvPr>
          <p:cNvPicPr>
            <a:picLocks noChangeAspect="1"/>
          </p:cNvPicPr>
          <p:nvPr/>
        </p:nvPicPr>
        <p:blipFill>
          <a:blip r:embed="rId2"/>
          <a:stretch>
            <a:fillRect/>
          </a:stretch>
        </p:blipFill>
        <p:spPr>
          <a:xfrm>
            <a:off x="100013" y="1288640"/>
            <a:ext cx="11991975" cy="2019300"/>
          </a:xfrm>
          <a:prstGeom prst="rect">
            <a:avLst/>
          </a:prstGeom>
        </p:spPr>
      </p:pic>
      <p:sp>
        <p:nvSpPr>
          <p:cNvPr id="7" name="TextBox 6">
            <a:extLst>
              <a:ext uri="{FF2B5EF4-FFF2-40B4-BE49-F238E27FC236}">
                <a16:creationId xmlns:a16="http://schemas.microsoft.com/office/drawing/2014/main" id="{7497F88B-1B96-DA7F-AB4B-CD4D01BFFB60}"/>
              </a:ext>
            </a:extLst>
          </p:cNvPr>
          <p:cNvSpPr txBox="1"/>
          <p:nvPr/>
        </p:nvSpPr>
        <p:spPr>
          <a:xfrm>
            <a:off x="3630191" y="3300907"/>
            <a:ext cx="336973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FF"/>
                </a:solidFill>
                <a:latin typeface="Calibri"/>
                <a:ea typeface="Calibri"/>
                <a:cs typeface="Calibri"/>
              </a:rPr>
              <a:t>Silver phase</a:t>
            </a:r>
          </a:p>
          <a:p>
            <a:pPr marL="285750" indent="-285750">
              <a:buFont typeface="Arial"/>
              <a:buChar char="•"/>
            </a:pPr>
            <a:r>
              <a:rPr lang="en-US" dirty="0">
                <a:solidFill>
                  <a:srgbClr val="FFFFFF"/>
                </a:solidFill>
                <a:latin typeface="Calibri"/>
                <a:ea typeface="Calibri"/>
                <a:cs typeface="Calibri"/>
              </a:rPr>
              <a:t>Perform transform process</a:t>
            </a:r>
          </a:p>
          <a:p>
            <a:pPr marL="285750" indent="-285750">
              <a:buFont typeface="Arial"/>
              <a:buChar char="•"/>
            </a:pPr>
            <a:r>
              <a:rPr lang="en-US" dirty="0">
                <a:solidFill>
                  <a:srgbClr val="FFFFFF"/>
                </a:solidFill>
                <a:latin typeface="Calibri"/>
                <a:ea typeface="Calibri"/>
                <a:cs typeface="Calibri"/>
              </a:rPr>
              <a:t>Create silver tables</a:t>
            </a:r>
          </a:p>
        </p:txBody>
      </p:sp>
      <p:sp>
        <p:nvSpPr>
          <p:cNvPr id="8" name="TextBox 7">
            <a:extLst>
              <a:ext uri="{FF2B5EF4-FFF2-40B4-BE49-F238E27FC236}">
                <a16:creationId xmlns:a16="http://schemas.microsoft.com/office/drawing/2014/main" id="{96B054A8-FB38-076B-59EC-AFCC2962A7BA}"/>
              </a:ext>
            </a:extLst>
          </p:cNvPr>
          <p:cNvSpPr txBox="1"/>
          <p:nvPr/>
        </p:nvSpPr>
        <p:spPr>
          <a:xfrm>
            <a:off x="7162600" y="3314510"/>
            <a:ext cx="351084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FF"/>
                </a:solidFill>
                <a:latin typeface="Calibri"/>
                <a:ea typeface="Calibri"/>
                <a:cs typeface="Calibri"/>
              </a:rPr>
              <a:t>Gold phase</a:t>
            </a:r>
          </a:p>
          <a:p>
            <a:pPr marL="285750" indent="-285750">
              <a:buFont typeface="Arial"/>
              <a:buChar char="•"/>
            </a:pPr>
            <a:r>
              <a:rPr lang="en-US" dirty="0">
                <a:solidFill>
                  <a:srgbClr val="FFFFFF"/>
                </a:solidFill>
                <a:latin typeface="Calibri"/>
                <a:ea typeface="Calibri"/>
                <a:cs typeface="Calibri"/>
              </a:rPr>
              <a:t>Perform further transform</a:t>
            </a:r>
          </a:p>
          <a:p>
            <a:pPr marL="285750" indent="-285750">
              <a:buFont typeface="Arial"/>
              <a:buChar char="•"/>
            </a:pPr>
            <a:r>
              <a:rPr lang="en-US" dirty="0">
                <a:solidFill>
                  <a:srgbClr val="FFFFFF"/>
                </a:solidFill>
                <a:latin typeface="Calibri"/>
                <a:ea typeface="Calibri"/>
                <a:cs typeface="Calibri"/>
              </a:rPr>
              <a:t>Create gold tables</a:t>
            </a:r>
          </a:p>
          <a:p>
            <a:pPr marL="285750" indent="-285750">
              <a:buFont typeface="Arial"/>
              <a:buChar char="•"/>
            </a:pPr>
            <a:r>
              <a:rPr lang="en-US" dirty="0">
                <a:solidFill>
                  <a:srgbClr val="FFFFFF"/>
                </a:solidFill>
                <a:latin typeface="Calibri"/>
                <a:ea typeface="Calibri"/>
                <a:cs typeface="Calibri"/>
              </a:rPr>
              <a:t>Create semantic model</a:t>
            </a:r>
          </a:p>
          <a:p>
            <a:pPr marL="285750" indent="-285750">
              <a:buFont typeface="Arial"/>
              <a:buChar char="•"/>
            </a:pPr>
            <a:r>
              <a:rPr lang="en-US" dirty="0">
                <a:solidFill>
                  <a:srgbClr val="FFFFFF"/>
                </a:solidFill>
                <a:latin typeface="Calibri"/>
                <a:ea typeface="Calibri"/>
                <a:cs typeface="Calibri"/>
              </a:rPr>
              <a:t>Perform </a:t>
            </a:r>
            <a:r>
              <a:rPr lang="en-US" dirty="0" err="1">
                <a:solidFill>
                  <a:srgbClr val="FFFFFF"/>
                </a:solidFill>
                <a:latin typeface="Calibri"/>
                <a:ea typeface="Calibri"/>
                <a:cs typeface="Calibri"/>
              </a:rPr>
              <a:t>PowerBI</a:t>
            </a:r>
            <a:r>
              <a:rPr lang="en-US" dirty="0">
                <a:solidFill>
                  <a:srgbClr val="FFFFFF"/>
                </a:solidFill>
                <a:latin typeface="Calibri"/>
                <a:ea typeface="Calibri"/>
                <a:cs typeface="Calibri"/>
              </a:rPr>
              <a:t> Analysis and ML modelling.</a:t>
            </a:r>
          </a:p>
          <a:p>
            <a:endParaRPr lang="en-US">
              <a:solidFill>
                <a:srgbClr val="FFFFFF"/>
              </a:solidFill>
            </a:endParaRPr>
          </a:p>
        </p:txBody>
      </p:sp>
      <p:cxnSp>
        <p:nvCxnSpPr>
          <p:cNvPr id="5" name="Straight Arrow Connector 4">
            <a:extLst>
              <a:ext uri="{FF2B5EF4-FFF2-40B4-BE49-F238E27FC236}">
                <a16:creationId xmlns:a16="http://schemas.microsoft.com/office/drawing/2014/main" id="{FBF15550-3446-108E-04DA-C712A0BFAFB5}"/>
              </a:ext>
            </a:extLst>
          </p:cNvPr>
          <p:cNvCxnSpPr/>
          <p:nvPr/>
        </p:nvCxnSpPr>
        <p:spPr>
          <a:xfrm>
            <a:off x="3394613" y="1247194"/>
            <a:ext cx="22795" cy="3739068"/>
          </a:xfrm>
          <a:prstGeom prst="straightConnector1">
            <a:avLst/>
          </a:prstGeom>
          <a:ln w="57150">
            <a:solidFill>
              <a:srgbClr val="FFC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DB00DB9-515B-3506-2ACE-1934A5077229}"/>
              </a:ext>
            </a:extLst>
          </p:cNvPr>
          <p:cNvCxnSpPr>
            <a:cxnSpLocks/>
          </p:cNvCxnSpPr>
          <p:nvPr/>
        </p:nvCxnSpPr>
        <p:spPr>
          <a:xfrm flipH="1">
            <a:off x="6976231" y="1245866"/>
            <a:ext cx="47760" cy="3767290"/>
          </a:xfrm>
          <a:prstGeom prst="straightConnector1">
            <a:avLst/>
          </a:prstGeom>
          <a:ln w="57150">
            <a:solidFill>
              <a:srgbClr val="FFC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675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F748-7450-B3A9-5B36-A480F506BC82}"/>
              </a:ext>
            </a:extLst>
          </p:cNvPr>
          <p:cNvSpPr>
            <a:spLocks noGrp="1"/>
          </p:cNvSpPr>
          <p:nvPr>
            <p:ph type="title"/>
          </p:nvPr>
        </p:nvSpPr>
        <p:spPr/>
        <p:txBody>
          <a:bodyPr>
            <a:normAutofit/>
          </a:bodyPr>
          <a:lstStyle/>
          <a:p>
            <a:r>
              <a:rPr lang="en-US" sz="3600" b="1">
                <a:solidFill>
                  <a:srgbClr val="FFFFFF"/>
                </a:solidFill>
                <a:latin typeface="Arial"/>
                <a:cs typeface="Arial"/>
              </a:rPr>
              <a:t>Exploratory Data Analysis</a:t>
            </a:r>
          </a:p>
        </p:txBody>
      </p:sp>
      <p:sp>
        <p:nvSpPr>
          <p:cNvPr id="3" name="Content Placeholder 2">
            <a:extLst>
              <a:ext uri="{FF2B5EF4-FFF2-40B4-BE49-F238E27FC236}">
                <a16:creationId xmlns:a16="http://schemas.microsoft.com/office/drawing/2014/main" id="{47615822-6A54-0BEB-46BD-2968C3C04CA6}"/>
              </a:ext>
            </a:extLst>
          </p:cNvPr>
          <p:cNvSpPr>
            <a:spLocks noGrp="1"/>
          </p:cNvSpPr>
          <p:nvPr>
            <p:ph idx="1"/>
          </p:nvPr>
        </p:nvSpPr>
        <p:spPr>
          <a:xfrm>
            <a:off x="-23812" y="1193146"/>
            <a:ext cx="12001592" cy="4840113"/>
          </a:xfrm>
        </p:spPr>
        <p:txBody>
          <a:bodyPr/>
          <a:lstStyle/>
          <a:p>
            <a:endParaRPr lang="en-US"/>
          </a:p>
          <a:p>
            <a:pPr marL="285750" indent="-285750">
              <a:buFont typeface="Calibri" panose="020B0604020202020204" pitchFamily="34" charset="0"/>
              <a:buChar char="-"/>
            </a:pPr>
            <a:endParaRPr lang="en-US"/>
          </a:p>
          <a:p>
            <a:pPr marL="285750" indent="-285750">
              <a:buFont typeface="Calibri" panose="020B0604020202020204" pitchFamily="34" charset="0"/>
              <a:buChar char="-"/>
            </a:pPr>
            <a:endParaRPr lang="en-US"/>
          </a:p>
        </p:txBody>
      </p:sp>
      <p:sp>
        <p:nvSpPr>
          <p:cNvPr id="5" name="TextBox 4">
            <a:extLst>
              <a:ext uri="{FF2B5EF4-FFF2-40B4-BE49-F238E27FC236}">
                <a16:creationId xmlns:a16="http://schemas.microsoft.com/office/drawing/2014/main" id="{623B3A02-CCB2-DFE8-214B-C3F7FD89F2B1}"/>
              </a:ext>
            </a:extLst>
          </p:cNvPr>
          <p:cNvSpPr txBox="1"/>
          <p:nvPr/>
        </p:nvSpPr>
        <p:spPr>
          <a:xfrm>
            <a:off x="427364" y="1350052"/>
            <a:ext cx="5040851" cy="4724370"/>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E2A47"/>
                </a:solidFill>
                <a:latin typeface="Calibri"/>
                <a:ea typeface="Arial"/>
                <a:cs typeface="Arial"/>
              </a:rPr>
              <a:t>             </a:t>
            </a:r>
            <a:r>
              <a:rPr lang="en-US" sz="2000" b="1">
                <a:solidFill>
                  <a:srgbClr val="0E2A47"/>
                </a:solidFill>
                <a:latin typeface="Calibri"/>
                <a:ea typeface="Arial"/>
                <a:cs typeface="Arial"/>
              </a:rPr>
              <a:t>Clean/Transform</a:t>
            </a:r>
          </a:p>
          <a:p>
            <a:endParaRPr lang="en-US" b="1">
              <a:solidFill>
                <a:srgbClr val="0E2A47"/>
              </a:solidFill>
              <a:latin typeface="Calibri"/>
              <a:ea typeface="Arial"/>
              <a:cs typeface="Arial"/>
            </a:endParaRPr>
          </a:p>
          <a:p>
            <a:pPr marL="285750" indent="-285750">
              <a:buFont typeface="Arial"/>
              <a:buChar char="•"/>
            </a:pPr>
            <a:r>
              <a:rPr lang="en-US" b="1">
                <a:solidFill>
                  <a:srgbClr val="0E2A47"/>
                </a:solidFill>
                <a:latin typeface="Calibri"/>
                <a:ea typeface="Calibri"/>
                <a:cs typeface="Calibri"/>
              </a:rPr>
              <a:t>Duplicated rows</a:t>
            </a:r>
          </a:p>
          <a:p>
            <a:pPr marL="285750" indent="-285750">
              <a:buFont typeface="Calibri"/>
              <a:buChar char="-"/>
            </a:pPr>
            <a:r>
              <a:rPr lang="en-US" sz="1600">
                <a:solidFill>
                  <a:srgbClr val="0E2A47"/>
                </a:solidFill>
                <a:latin typeface="Calibri"/>
                <a:ea typeface="Calibri"/>
                <a:cs typeface="Calibri"/>
              </a:rPr>
              <a:t>Identified duplicates in raw CSVs </a:t>
            </a:r>
            <a:endParaRPr lang="en-US"/>
          </a:p>
          <a:p>
            <a:pPr marL="285750" indent="-285750">
              <a:buFont typeface="Calibri"/>
              <a:buChar char="-"/>
            </a:pPr>
            <a:r>
              <a:rPr lang="en-US" sz="1600">
                <a:solidFill>
                  <a:srgbClr val="0E2A47"/>
                </a:solidFill>
                <a:latin typeface="Calibri"/>
                <a:ea typeface="Calibri"/>
                <a:cs typeface="Calibri"/>
              </a:rPr>
              <a:t>Do we pre-clean or leave it to silver phase?</a:t>
            </a:r>
          </a:p>
          <a:p>
            <a:r>
              <a:rPr lang="en-US" sz="1600">
                <a:solidFill>
                  <a:srgbClr val="0E2A47"/>
                </a:solidFill>
                <a:latin typeface="Calibri"/>
                <a:ea typeface="Calibri"/>
                <a:cs typeface="Calibri"/>
              </a:rPr>
              <a:t>       Pre-clean before bronze</a:t>
            </a:r>
          </a:p>
          <a:p>
            <a:endParaRPr lang="en-US" sz="950">
              <a:solidFill>
                <a:srgbClr val="444444"/>
              </a:solidFill>
              <a:latin typeface="Calibri"/>
              <a:ea typeface="Arial"/>
              <a:cs typeface="Arial"/>
            </a:endParaRPr>
          </a:p>
          <a:p>
            <a:endParaRPr lang="en-US" sz="950">
              <a:solidFill>
                <a:srgbClr val="444444"/>
              </a:solidFill>
              <a:latin typeface="Calibri"/>
              <a:ea typeface="Arial"/>
              <a:cs typeface="Arial"/>
            </a:endParaRPr>
          </a:p>
          <a:p>
            <a:pPr marL="285750" indent="-285750">
              <a:buFont typeface="Arial"/>
              <a:buChar char="•"/>
            </a:pPr>
            <a:r>
              <a:rPr lang="en-US" b="1">
                <a:solidFill>
                  <a:srgbClr val="0E2A47"/>
                </a:solidFill>
                <a:latin typeface="Calibri"/>
                <a:ea typeface="Calibri"/>
                <a:cs typeface="Calibri"/>
              </a:rPr>
              <a:t>Null Values</a:t>
            </a:r>
          </a:p>
          <a:p>
            <a:pPr marL="285750" indent="-285750">
              <a:buFont typeface="Calibri,Sans-Serif"/>
              <a:buChar char="-"/>
            </a:pPr>
            <a:r>
              <a:rPr lang="en-US" sz="1600">
                <a:solidFill>
                  <a:srgbClr val="0E2A47"/>
                </a:solidFill>
                <a:latin typeface="Calibri"/>
                <a:ea typeface="Calibri"/>
                <a:cs typeface="Calibri"/>
              </a:rPr>
              <a:t>Some nulls are expected</a:t>
            </a:r>
          </a:p>
          <a:p>
            <a:pPr marL="285750" indent="-285750">
              <a:buFont typeface="Calibri,Sans-Serif"/>
              <a:buChar char="-"/>
            </a:pPr>
            <a:r>
              <a:rPr lang="en-US" sz="1600">
                <a:solidFill>
                  <a:srgbClr val="0E2A47"/>
                </a:solidFill>
                <a:latin typeface="Calibri"/>
                <a:ea typeface="Calibri"/>
                <a:cs typeface="Calibri"/>
              </a:rPr>
              <a:t>Some needs to be fill (e.g. nationality)</a:t>
            </a:r>
          </a:p>
          <a:p>
            <a:pPr marL="1200150" lvl="2" indent="-285750">
              <a:buFont typeface="Wingdings"/>
              <a:buChar char="§"/>
            </a:pPr>
            <a:r>
              <a:rPr lang="en-US" sz="1600">
                <a:solidFill>
                  <a:srgbClr val="0E2A47"/>
                </a:solidFill>
                <a:latin typeface="Calibri"/>
                <a:ea typeface="Calibri"/>
                <a:cs typeface="Calibri"/>
              </a:rPr>
              <a:t>   Ignore expected nulls and fill in missing values when needed</a:t>
            </a:r>
            <a:endParaRPr lang="en-US" sz="1600">
              <a:solidFill>
                <a:srgbClr val="000000"/>
              </a:solidFill>
              <a:latin typeface="Calibri"/>
              <a:ea typeface="Calibri"/>
              <a:cs typeface="Calibri"/>
            </a:endParaRPr>
          </a:p>
          <a:p>
            <a:pPr marL="285750" indent="-285750">
              <a:buFont typeface="Calibri,Sans-Serif"/>
              <a:buChar char="-"/>
            </a:pPr>
            <a:endParaRPr lang="en-US" sz="1600">
              <a:solidFill>
                <a:srgbClr val="0E2A47"/>
              </a:solidFill>
              <a:latin typeface="Calibri"/>
              <a:ea typeface="Calibri"/>
              <a:cs typeface="Calibri"/>
            </a:endParaRPr>
          </a:p>
          <a:p>
            <a:pPr marL="285750" indent="-285750">
              <a:buFont typeface="Arial,Sans-Serif"/>
              <a:buChar char="•"/>
            </a:pPr>
            <a:r>
              <a:rPr lang="en-US" b="1">
                <a:solidFill>
                  <a:srgbClr val="0E2A47"/>
                </a:solidFill>
                <a:latin typeface="Calibri"/>
                <a:ea typeface="Calibri"/>
                <a:cs typeface="Calibri"/>
              </a:rPr>
              <a:t>Referential integrity</a:t>
            </a:r>
            <a:endParaRPr lang="en-US">
              <a:solidFill>
                <a:srgbClr val="000000"/>
              </a:solidFill>
              <a:latin typeface="Calibri"/>
              <a:ea typeface="Calibri"/>
              <a:cs typeface="Calibri"/>
            </a:endParaRPr>
          </a:p>
          <a:p>
            <a:pPr marL="285750" indent="-285750">
              <a:buFont typeface="Calibri,Sans-Serif"/>
              <a:buChar char="-"/>
            </a:pPr>
            <a:r>
              <a:rPr lang="en-US" sz="1600">
                <a:solidFill>
                  <a:srgbClr val="000000"/>
                </a:solidFill>
                <a:latin typeface="Calibri"/>
                <a:ea typeface="Calibri"/>
                <a:cs typeface="Calibri"/>
              </a:rPr>
              <a:t>Some foreign keys cannot be found</a:t>
            </a:r>
            <a:endParaRPr lang="en-US"/>
          </a:p>
          <a:p>
            <a:pPr marL="1200150" lvl="2" indent="-285750">
              <a:buFont typeface="Wingdings"/>
              <a:buChar char="§"/>
            </a:pPr>
            <a:r>
              <a:rPr lang="en-US" sz="1600">
                <a:solidFill>
                  <a:srgbClr val="000000"/>
                </a:solidFill>
                <a:latin typeface="Calibri"/>
                <a:ea typeface="Calibri"/>
                <a:cs typeface="Calibri"/>
              </a:rPr>
              <a:t>Drop invalid foreign keys</a:t>
            </a:r>
          </a:p>
          <a:p>
            <a:pPr marL="285750" indent="-285750">
              <a:buFont typeface="Calibri,Sans-Serif"/>
              <a:buChar char="-"/>
            </a:pPr>
            <a:endParaRPr lang="en-US" sz="1600">
              <a:solidFill>
                <a:srgbClr val="000000"/>
              </a:solidFill>
              <a:latin typeface="Calibri"/>
              <a:ea typeface="Calibri"/>
              <a:cs typeface="Calibri"/>
            </a:endParaRPr>
          </a:p>
          <a:p>
            <a:pPr marL="285750" indent="-285750">
              <a:buFont typeface="Calibri,Sans-Serif"/>
              <a:buChar char="-"/>
            </a:pPr>
            <a:endParaRPr lang="en-US" sz="1600">
              <a:solidFill>
                <a:srgbClr val="000000"/>
              </a:solidFill>
              <a:latin typeface="Calibri"/>
              <a:ea typeface="Calibri"/>
              <a:cs typeface="Calibri"/>
            </a:endParaRPr>
          </a:p>
        </p:txBody>
      </p:sp>
      <p:sp>
        <p:nvSpPr>
          <p:cNvPr id="6" name="TextBox 5">
            <a:extLst>
              <a:ext uri="{FF2B5EF4-FFF2-40B4-BE49-F238E27FC236}">
                <a16:creationId xmlns:a16="http://schemas.microsoft.com/office/drawing/2014/main" id="{6FF66E4D-000F-4DDF-F535-057186B7F7D2}"/>
              </a:ext>
            </a:extLst>
          </p:cNvPr>
          <p:cNvSpPr txBox="1"/>
          <p:nvPr/>
        </p:nvSpPr>
        <p:spPr>
          <a:xfrm>
            <a:off x="5860054" y="1350052"/>
            <a:ext cx="5464184" cy="467820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E2A47"/>
                </a:solidFill>
                <a:latin typeface="Calibri"/>
                <a:ea typeface="Calibri"/>
                <a:cs typeface="Calibri"/>
              </a:rPr>
              <a:t>               </a:t>
            </a:r>
            <a:r>
              <a:rPr lang="en-US" sz="2000" b="1">
                <a:solidFill>
                  <a:srgbClr val="0E2A47"/>
                </a:solidFill>
                <a:latin typeface="Calibri"/>
                <a:ea typeface="Calibri"/>
                <a:cs typeface="Calibri"/>
              </a:rPr>
              <a:t>Data Quality</a:t>
            </a:r>
          </a:p>
          <a:p>
            <a:endParaRPr lang="en-US" b="1"/>
          </a:p>
          <a:p>
            <a:pPr marL="285750" indent="-285750">
              <a:buFont typeface="Arial"/>
              <a:buChar char="•"/>
            </a:pPr>
            <a:r>
              <a:rPr lang="en-US" b="1">
                <a:solidFill>
                  <a:srgbClr val="0E2A47"/>
                </a:solidFill>
                <a:latin typeface="Calibri"/>
                <a:ea typeface="Calibri"/>
                <a:cs typeface="Calibri"/>
              </a:rPr>
              <a:t>Validate Categories</a:t>
            </a:r>
            <a:endParaRPr lang="en-US">
              <a:solidFill>
                <a:srgbClr val="000000"/>
              </a:solidFill>
              <a:latin typeface="Calibri"/>
              <a:ea typeface="Calibri"/>
              <a:cs typeface="Calibri"/>
            </a:endParaRPr>
          </a:p>
          <a:p>
            <a:pPr marL="285750" indent="-285750">
              <a:buFont typeface="Calibri,Sans-Serif"/>
              <a:buChar char="-"/>
            </a:pPr>
            <a:r>
              <a:rPr lang="en-US" sz="1600">
                <a:solidFill>
                  <a:srgbClr val="0E2A47"/>
                </a:solidFill>
                <a:latin typeface="Calibri"/>
                <a:ea typeface="Calibri"/>
                <a:cs typeface="Calibri"/>
              </a:rPr>
              <a:t>Identify which columns are categorical</a:t>
            </a:r>
            <a:endParaRPr lang="en-US" sz="1600">
              <a:solidFill>
                <a:srgbClr val="000000"/>
              </a:solidFill>
              <a:latin typeface="Calibri"/>
              <a:ea typeface="Calibri"/>
              <a:cs typeface="Calibri"/>
            </a:endParaRPr>
          </a:p>
          <a:p>
            <a:pPr marL="285750" indent="-285750">
              <a:buFont typeface="Calibri,Sans-Serif"/>
              <a:buChar char="-"/>
            </a:pPr>
            <a:r>
              <a:rPr lang="en-US" sz="1600">
                <a:solidFill>
                  <a:srgbClr val="0E2A47"/>
                </a:solidFill>
                <a:latin typeface="Calibri"/>
                <a:ea typeface="Calibri"/>
                <a:cs typeface="Calibri"/>
              </a:rPr>
              <a:t>For example: Type, </a:t>
            </a:r>
            <a:r>
              <a:rPr lang="en-US" sz="1600" err="1">
                <a:solidFill>
                  <a:srgbClr val="0E2A47"/>
                </a:solidFill>
                <a:latin typeface="Calibri"/>
                <a:ea typeface="Calibri"/>
                <a:cs typeface="Calibri"/>
              </a:rPr>
              <a:t>playerPosition</a:t>
            </a:r>
            <a:r>
              <a:rPr lang="en-US" sz="1600">
                <a:solidFill>
                  <a:srgbClr val="0E2A47"/>
                </a:solidFill>
                <a:latin typeface="Calibri"/>
                <a:ea typeface="Calibri"/>
                <a:cs typeface="Calibri"/>
              </a:rPr>
              <a:t>, </a:t>
            </a:r>
            <a:r>
              <a:rPr lang="en-US" sz="1600" err="1">
                <a:solidFill>
                  <a:srgbClr val="0E2A47"/>
                </a:solidFill>
                <a:latin typeface="Calibri"/>
                <a:ea typeface="Calibri"/>
                <a:cs typeface="Calibri"/>
              </a:rPr>
              <a:t>HoA</a:t>
            </a:r>
            <a:endParaRPr lang="en-US" sz="1600" err="1">
              <a:solidFill>
                <a:srgbClr val="000000"/>
              </a:solidFill>
              <a:latin typeface="Calibri"/>
              <a:ea typeface="Calibri"/>
              <a:cs typeface="Calibri"/>
            </a:endParaRPr>
          </a:p>
          <a:p>
            <a:r>
              <a:rPr lang="en-US" sz="1600">
                <a:solidFill>
                  <a:srgbClr val="0E2A47"/>
                </a:solidFill>
                <a:latin typeface="Calibri"/>
                <a:ea typeface="Calibri"/>
                <a:cs typeface="Calibri"/>
              </a:rPr>
              <a:t>       Validated categories</a:t>
            </a:r>
            <a:endParaRPr lang="en-US" sz="1600">
              <a:solidFill>
                <a:srgbClr val="000000"/>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Arial,Sans-Serif"/>
              <a:buChar char="•"/>
            </a:pPr>
            <a:r>
              <a:rPr lang="en-US" b="1">
                <a:solidFill>
                  <a:srgbClr val="0E2A47"/>
                </a:solidFill>
                <a:latin typeface="Calibri"/>
                <a:ea typeface="Calibri"/>
                <a:cs typeface="Calibri"/>
              </a:rPr>
              <a:t>Validate Season/game dates</a:t>
            </a:r>
            <a:endParaRPr lang="en-US">
              <a:solidFill>
                <a:srgbClr val="000000"/>
              </a:solidFill>
              <a:latin typeface="Calibri"/>
              <a:ea typeface="Calibri"/>
              <a:cs typeface="Calibri"/>
            </a:endParaRPr>
          </a:p>
          <a:p>
            <a:pPr marL="285750" indent="-285750">
              <a:buFont typeface="Calibri,Sans-Serif"/>
              <a:buChar char="-"/>
            </a:pPr>
            <a:r>
              <a:rPr lang="en-US" sz="1600">
                <a:solidFill>
                  <a:srgbClr val="0E2A47"/>
                </a:solidFill>
                <a:latin typeface="Calibri"/>
                <a:ea typeface="Calibri"/>
                <a:cs typeface="Calibri"/>
              </a:rPr>
              <a:t>Prevent invalid game dates for a season</a:t>
            </a:r>
            <a:endParaRPr lang="en-US" sz="1600">
              <a:solidFill>
                <a:srgbClr val="000000"/>
              </a:solidFill>
              <a:latin typeface="Calibri"/>
              <a:ea typeface="Calibri"/>
              <a:cs typeface="Calibri"/>
            </a:endParaRPr>
          </a:p>
          <a:p>
            <a:r>
              <a:rPr lang="en-US" sz="1600">
                <a:solidFill>
                  <a:srgbClr val="0E2A47"/>
                </a:solidFill>
                <a:latin typeface="Calibri"/>
                <a:ea typeface="Calibri"/>
                <a:cs typeface="Calibri"/>
              </a:rPr>
              <a:t>       Validated game dates against season</a:t>
            </a:r>
            <a:endParaRPr lang="en-US" sz="1600">
              <a:solidFill>
                <a:srgbClr val="000000"/>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Arial"/>
              <a:buChar char="•"/>
            </a:pPr>
            <a:r>
              <a:rPr lang="en-US" b="1">
                <a:solidFill>
                  <a:srgbClr val="0E2A47"/>
                </a:solidFill>
                <a:latin typeface="Calibri"/>
                <a:ea typeface="Calibri"/>
                <a:cs typeface="Calibri"/>
              </a:rPr>
              <a:t>Referential integrity</a:t>
            </a:r>
            <a:endParaRPr lang="en-US" b="1">
              <a:latin typeface="Calibri"/>
              <a:ea typeface="Calibri"/>
              <a:cs typeface="Calibri"/>
            </a:endParaRPr>
          </a:p>
          <a:p>
            <a:pPr marL="285750" indent="-285750">
              <a:buFont typeface="Calibri,Sans-Serif"/>
              <a:buChar char="-"/>
            </a:pPr>
            <a:r>
              <a:rPr lang="en-US" sz="1600">
                <a:solidFill>
                  <a:srgbClr val="000000"/>
                </a:solidFill>
                <a:latin typeface="Calibri"/>
                <a:ea typeface="Calibri"/>
                <a:cs typeface="Calibri"/>
              </a:rPr>
              <a:t>Referential integrity is not enforced in Lakehouse tables</a:t>
            </a:r>
          </a:p>
          <a:p>
            <a:pPr marL="285750" indent="-285750">
              <a:buFont typeface="Calibri,Sans-Serif"/>
              <a:buChar char="-"/>
            </a:pPr>
            <a:r>
              <a:rPr lang="en-US" sz="1600">
                <a:solidFill>
                  <a:srgbClr val="000000"/>
                </a:solidFill>
                <a:latin typeface="Calibri"/>
                <a:ea typeface="Calibri"/>
                <a:cs typeface="Calibri"/>
              </a:rPr>
              <a:t>As such, related tables have dependencies </a:t>
            </a:r>
          </a:p>
          <a:p>
            <a:r>
              <a:rPr lang="en-US" sz="1600">
                <a:solidFill>
                  <a:srgbClr val="000000"/>
                </a:solidFill>
                <a:latin typeface="Calibri"/>
                <a:ea typeface="Calibri"/>
                <a:cs typeface="Calibri"/>
              </a:rPr>
              <a:t>         Validate primary/foreign keys</a:t>
            </a: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p:txBody>
      </p:sp>
      <p:sp>
        <p:nvSpPr>
          <p:cNvPr id="4" name="Rectangle: Rounded Corners 3">
            <a:extLst>
              <a:ext uri="{FF2B5EF4-FFF2-40B4-BE49-F238E27FC236}">
                <a16:creationId xmlns:a16="http://schemas.microsoft.com/office/drawing/2014/main" id="{88868FD0-4B79-EF2D-96C8-F1926231F7D7}"/>
              </a:ext>
            </a:extLst>
          </p:cNvPr>
          <p:cNvSpPr/>
          <p:nvPr/>
        </p:nvSpPr>
        <p:spPr>
          <a:xfrm>
            <a:off x="6249494" y="5019158"/>
            <a:ext cx="989505" cy="2864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latin typeface="Calibri"/>
                <a:ea typeface="Calibri"/>
                <a:cs typeface="Calibri"/>
              </a:rPr>
              <a:t>Decision:</a:t>
            </a:r>
          </a:p>
        </p:txBody>
      </p:sp>
      <p:sp>
        <p:nvSpPr>
          <p:cNvPr id="9" name="Rectangle: Rounded Corners 8">
            <a:extLst>
              <a:ext uri="{FF2B5EF4-FFF2-40B4-BE49-F238E27FC236}">
                <a16:creationId xmlns:a16="http://schemas.microsoft.com/office/drawing/2014/main" id="{A68770FC-72ED-7925-48DC-B1B71BEB8F09}"/>
              </a:ext>
            </a:extLst>
          </p:cNvPr>
          <p:cNvSpPr/>
          <p:nvPr/>
        </p:nvSpPr>
        <p:spPr>
          <a:xfrm>
            <a:off x="6249494" y="3790993"/>
            <a:ext cx="989505" cy="2864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latin typeface="Calibri"/>
                <a:ea typeface="Calibri"/>
                <a:cs typeface="Calibri"/>
              </a:rPr>
              <a:t>Decision:</a:t>
            </a:r>
          </a:p>
        </p:txBody>
      </p:sp>
      <p:sp>
        <p:nvSpPr>
          <p:cNvPr id="10" name="Rectangle: Rounded Corners 9">
            <a:extLst>
              <a:ext uri="{FF2B5EF4-FFF2-40B4-BE49-F238E27FC236}">
                <a16:creationId xmlns:a16="http://schemas.microsoft.com/office/drawing/2014/main" id="{FF2125BA-54B1-B788-6FAF-56D350EE5BCD}"/>
              </a:ext>
            </a:extLst>
          </p:cNvPr>
          <p:cNvSpPr/>
          <p:nvPr/>
        </p:nvSpPr>
        <p:spPr>
          <a:xfrm>
            <a:off x="6249493" y="2760799"/>
            <a:ext cx="989505" cy="2864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latin typeface="Calibri"/>
                <a:ea typeface="Calibri"/>
                <a:cs typeface="Calibri"/>
              </a:rPr>
              <a:t>Decision:</a:t>
            </a:r>
          </a:p>
        </p:txBody>
      </p:sp>
      <p:sp>
        <p:nvSpPr>
          <p:cNvPr id="11" name="Rectangle: Rounded Corners 10">
            <a:extLst>
              <a:ext uri="{FF2B5EF4-FFF2-40B4-BE49-F238E27FC236}">
                <a16:creationId xmlns:a16="http://schemas.microsoft.com/office/drawing/2014/main" id="{78F85C88-0EB4-307B-9DF1-9815C93A74BD}"/>
              </a:ext>
            </a:extLst>
          </p:cNvPr>
          <p:cNvSpPr/>
          <p:nvPr/>
        </p:nvSpPr>
        <p:spPr>
          <a:xfrm>
            <a:off x="769818" y="2709999"/>
            <a:ext cx="989505" cy="2864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latin typeface="Calibri"/>
                <a:ea typeface="Calibri"/>
                <a:cs typeface="Calibri"/>
              </a:rPr>
              <a:t>Decision:</a:t>
            </a:r>
          </a:p>
        </p:txBody>
      </p:sp>
      <p:sp>
        <p:nvSpPr>
          <p:cNvPr id="12" name="Rectangle: Rounded Corners 11">
            <a:extLst>
              <a:ext uri="{FF2B5EF4-FFF2-40B4-BE49-F238E27FC236}">
                <a16:creationId xmlns:a16="http://schemas.microsoft.com/office/drawing/2014/main" id="{E8D2E7A8-B213-9F25-98A4-A38550E6E42D}"/>
              </a:ext>
            </a:extLst>
          </p:cNvPr>
          <p:cNvSpPr/>
          <p:nvPr/>
        </p:nvSpPr>
        <p:spPr>
          <a:xfrm>
            <a:off x="744417" y="4077863"/>
            <a:ext cx="989505" cy="2864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latin typeface="Calibri"/>
                <a:ea typeface="Calibri"/>
                <a:cs typeface="Calibri"/>
              </a:rPr>
              <a:t>Decision:</a:t>
            </a:r>
          </a:p>
        </p:txBody>
      </p:sp>
      <p:sp>
        <p:nvSpPr>
          <p:cNvPr id="13" name="Rectangle: Rounded Corners 12">
            <a:extLst>
              <a:ext uri="{FF2B5EF4-FFF2-40B4-BE49-F238E27FC236}">
                <a16:creationId xmlns:a16="http://schemas.microsoft.com/office/drawing/2014/main" id="{1CC62012-2D0A-E19B-047F-5C22B05069D0}"/>
              </a:ext>
            </a:extLst>
          </p:cNvPr>
          <p:cNvSpPr/>
          <p:nvPr/>
        </p:nvSpPr>
        <p:spPr>
          <a:xfrm>
            <a:off x="668964" y="5236552"/>
            <a:ext cx="989505" cy="2864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latin typeface="Calibri"/>
                <a:ea typeface="Calibri"/>
                <a:cs typeface="Calibri"/>
              </a:rPr>
              <a:t>Decision:</a:t>
            </a:r>
          </a:p>
        </p:txBody>
      </p:sp>
      <p:sp>
        <p:nvSpPr>
          <p:cNvPr id="8" name="Text 3">
            <a:extLst>
              <a:ext uri="{FF2B5EF4-FFF2-40B4-BE49-F238E27FC236}">
                <a16:creationId xmlns:a16="http://schemas.microsoft.com/office/drawing/2014/main" id="{E25DADA4-2C19-FB39-F0B8-C66105AAEF3C}"/>
              </a:ext>
            </a:extLst>
          </p:cNvPr>
          <p:cNvSpPr txBox="1"/>
          <p:nvPr/>
        </p:nvSpPr>
        <p:spPr>
          <a:xfrm>
            <a:off x="581660" y="1354992"/>
            <a:ext cx="581660" cy="543560"/>
          </a:xfrm>
          <a:prstGeom prst="flowChartConnector">
            <a:avLst/>
          </a:prstGeom>
          <a:ln w="28575">
            <a:solidFill>
              <a:srgbClr val="F7CD4F"/>
            </a:solid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pitchFamily="34" charset="0"/>
                <a:ea typeface="Arial" pitchFamily="34" charset="-122"/>
                <a:cs typeface="Arial" pitchFamily="34" charset="-120"/>
              </a:rPr>
              <a:t>1</a:t>
            </a:r>
            <a:endParaRPr lang="en-US" sz="2600"/>
          </a:p>
        </p:txBody>
      </p:sp>
      <p:sp>
        <p:nvSpPr>
          <p:cNvPr id="14" name="Text 3">
            <a:extLst>
              <a:ext uri="{FF2B5EF4-FFF2-40B4-BE49-F238E27FC236}">
                <a16:creationId xmlns:a16="http://schemas.microsoft.com/office/drawing/2014/main" id="{B4473C88-0944-1984-08A0-62DBCAA0199E}"/>
              </a:ext>
            </a:extLst>
          </p:cNvPr>
          <p:cNvSpPr txBox="1"/>
          <p:nvPr/>
        </p:nvSpPr>
        <p:spPr>
          <a:xfrm>
            <a:off x="6093459" y="1354991"/>
            <a:ext cx="581660" cy="543560"/>
          </a:xfrm>
          <a:prstGeom prst="flowChartConnector">
            <a:avLst/>
          </a:prstGeom>
          <a:ln w="28575">
            <a:solidFill>
              <a:srgbClr val="F7CD4F"/>
            </a:solid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600" b="1">
                <a:solidFill>
                  <a:srgbClr val="FFFFFF"/>
                </a:solidFill>
                <a:latin typeface="Arial"/>
                <a:cs typeface="Arial"/>
              </a:rPr>
              <a:t>2</a:t>
            </a:r>
            <a:endParaRPr lang="en-US"/>
          </a:p>
        </p:txBody>
      </p:sp>
    </p:spTree>
    <p:extLst>
      <p:ext uri="{BB962C8B-B14F-4D97-AF65-F5344CB8AC3E}">
        <p14:creationId xmlns:p14="http://schemas.microsoft.com/office/powerpoint/2010/main" val="769108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35D31-CD60-1BAB-F4D2-CC15E6235A4E}"/>
              </a:ext>
            </a:extLst>
          </p:cNvPr>
          <p:cNvSpPr>
            <a:spLocks noGrp="1"/>
          </p:cNvSpPr>
          <p:nvPr>
            <p:ph type="title"/>
          </p:nvPr>
        </p:nvSpPr>
        <p:spPr>
          <a:xfrm>
            <a:off x="-1901" y="677437"/>
            <a:ext cx="8535722" cy="686875"/>
          </a:xfrm>
        </p:spPr>
        <p:txBody>
          <a:bodyPr/>
          <a:lstStyle/>
          <a:p>
            <a:r>
              <a:rPr lang="en-US" sz="3600" b="1">
                <a:solidFill>
                  <a:srgbClr val="FFFFFF"/>
                </a:solidFill>
                <a:latin typeface="Arial"/>
                <a:cs typeface="Arial"/>
              </a:rPr>
              <a:t>Entity-Relationship Diagram (ERD)</a:t>
            </a:r>
          </a:p>
        </p:txBody>
      </p:sp>
      <p:pic>
        <p:nvPicPr>
          <p:cNvPr id="4" name="Content Placeholder 3">
            <a:extLst>
              <a:ext uri="{FF2B5EF4-FFF2-40B4-BE49-F238E27FC236}">
                <a16:creationId xmlns:a16="http://schemas.microsoft.com/office/drawing/2014/main" id="{211CA449-217A-9D2B-7E2F-23EF6F22DABF}"/>
              </a:ext>
            </a:extLst>
          </p:cNvPr>
          <p:cNvPicPr>
            <a:picLocks noGrp="1" noChangeAspect="1"/>
          </p:cNvPicPr>
          <p:nvPr>
            <p:ph idx="1"/>
          </p:nvPr>
        </p:nvPicPr>
        <p:blipFill>
          <a:blip r:embed="rId2"/>
          <a:stretch>
            <a:fillRect/>
          </a:stretch>
        </p:blipFill>
        <p:spPr>
          <a:xfrm>
            <a:off x="1017199" y="1456876"/>
            <a:ext cx="9765247" cy="4840113"/>
          </a:xfrm>
          <a:prstGeom prst="rect">
            <a:avLst/>
          </a:prstGeom>
        </p:spPr>
      </p:pic>
    </p:spTree>
    <p:extLst>
      <p:ext uri="{BB962C8B-B14F-4D97-AF65-F5344CB8AC3E}">
        <p14:creationId xmlns:p14="http://schemas.microsoft.com/office/powerpoint/2010/main" val="2068680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40324-6D7E-B9D7-786A-3A7FC24F8DCB}"/>
              </a:ext>
            </a:extLst>
          </p:cNvPr>
          <p:cNvSpPr>
            <a:spLocks noGrp="1"/>
          </p:cNvSpPr>
          <p:nvPr>
            <p:ph type="title"/>
          </p:nvPr>
        </p:nvSpPr>
        <p:spPr/>
        <p:txBody>
          <a:bodyPr>
            <a:normAutofit/>
          </a:bodyPr>
          <a:lstStyle/>
          <a:p>
            <a:r>
              <a:rPr lang="en-US" sz="3600" b="1">
                <a:solidFill>
                  <a:srgbClr val="FFFFFF"/>
                </a:solidFill>
                <a:latin typeface="Arial"/>
                <a:cs typeface="Arial"/>
              </a:rPr>
              <a:t>The Actual Pipeline</a:t>
            </a:r>
          </a:p>
        </p:txBody>
      </p:sp>
      <p:pic>
        <p:nvPicPr>
          <p:cNvPr id="5" name="Picture 4" descr="A screenshot of a computer&#10;&#10;AI-generated content may be incorrect.">
            <a:extLst>
              <a:ext uri="{FF2B5EF4-FFF2-40B4-BE49-F238E27FC236}">
                <a16:creationId xmlns:a16="http://schemas.microsoft.com/office/drawing/2014/main" id="{A0929857-ACB4-102F-35EC-B56D21CF9C61}"/>
              </a:ext>
            </a:extLst>
          </p:cNvPr>
          <p:cNvPicPr>
            <a:picLocks noChangeAspect="1"/>
          </p:cNvPicPr>
          <p:nvPr/>
        </p:nvPicPr>
        <p:blipFill>
          <a:blip r:embed="rId2"/>
          <a:stretch>
            <a:fillRect/>
          </a:stretch>
        </p:blipFill>
        <p:spPr>
          <a:xfrm>
            <a:off x="431800" y="1513010"/>
            <a:ext cx="11091333" cy="2384180"/>
          </a:xfrm>
          <a:prstGeom prst="rect">
            <a:avLst/>
          </a:prstGeom>
        </p:spPr>
      </p:pic>
      <p:sp>
        <p:nvSpPr>
          <p:cNvPr id="3" name="TextBox 2">
            <a:extLst>
              <a:ext uri="{FF2B5EF4-FFF2-40B4-BE49-F238E27FC236}">
                <a16:creationId xmlns:a16="http://schemas.microsoft.com/office/drawing/2014/main" id="{C3F39899-BAF8-A182-E5C0-6E478F282A85}"/>
              </a:ext>
            </a:extLst>
          </p:cNvPr>
          <p:cNvSpPr txBox="1"/>
          <p:nvPr/>
        </p:nvSpPr>
        <p:spPr>
          <a:xfrm>
            <a:off x="546626" y="4121042"/>
            <a:ext cx="3027242" cy="2369880"/>
          </a:xfrm>
          <a:prstGeom prst="rect">
            <a:avLst/>
          </a:prstGeom>
          <a:noFill/>
          <a:ln>
            <a:solidFill>
              <a:schemeClr val="bg2"/>
            </a:solidFill>
          </a:ln>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FFFFFF"/>
                </a:solidFill>
                <a:latin typeface="Calibri"/>
                <a:ea typeface="Calibri"/>
                <a:cs typeface="Calibri"/>
              </a:rPr>
              <a:t>Bronze phase</a:t>
            </a:r>
          </a:p>
          <a:p>
            <a:pPr marL="285750" indent="-285750">
              <a:buFont typeface="Calibri"/>
              <a:buChar char="-"/>
            </a:pPr>
            <a:r>
              <a:rPr lang="en-US" sz="1600">
                <a:solidFill>
                  <a:srgbClr val="FFFFFF"/>
                </a:solidFill>
                <a:latin typeface="Calibri"/>
                <a:ea typeface="Calibri"/>
                <a:cs typeface="Calibri"/>
              </a:rPr>
              <a:t>Unit testing</a:t>
            </a:r>
          </a:p>
          <a:p>
            <a:pPr marL="742950" lvl="1" indent="-285750">
              <a:buFont typeface="Courier New"/>
              <a:buChar char="o"/>
            </a:pPr>
            <a:r>
              <a:rPr lang="en-US" sz="1600">
                <a:solidFill>
                  <a:srgbClr val="FFFFFF"/>
                </a:solidFill>
                <a:latin typeface="Calibri"/>
                <a:ea typeface="Calibri"/>
                <a:cs typeface="Calibri"/>
              </a:rPr>
              <a:t>Guard rail</a:t>
            </a:r>
          </a:p>
          <a:p>
            <a:pPr marL="742950" lvl="1" indent="-285750">
              <a:buFont typeface="Courier New"/>
              <a:buChar char="o"/>
            </a:pPr>
            <a:r>
              <a:rPr lang="en-US" sz="1600">
                <a:solidFill>
                  <a:srgbClr val="FFFFFF"/>
                </a:solidFill>
                <a:latin typeface="Calibri"/>
                <a:ea typeface="Calibri"/>
                <a:cs typeface="Calibri"/>
              </a:rPr>
              <a:t>No CI/CD integration</a:t>
            </a:r>
          </a:p>
          <a:p>
            <a:pPr marL="285750" indent="-285750">
              <a:buFont typeface="Calibri"/>
              <a:buChar char="-"/>
            </a:pPr>
            <a:r>
              <a:rPr lang="en-US" sz="1600">
                <a:solidFill>
                  <a:srgbClr val="FFFFFF"/>
                </a:solidFill>
                <a:latin typeface="Calibri"/>
                <a:ea typeface="Calibri"/>
                <a:cs typeface="Calibri"/>
              </a:rPr>
              <a:t>Dataset download</a:t>
            </a:r>
          </a:p>
          <a:p>
            <a:pPr marL="285750" indent="-285750">
              <a:buFont typeface="Calibri"/>
              <a:buChar char="-"/>
            </a:pPr>
            <a:r>
              <a:rPr lang="en-US" sz="1600">
                <a:solidFill>
                  <a:srgbClr val="FFFFFF"/>
                </a:solidFill>
                <a:latin typeface="Calibri"/>
                <a:ea typeface="Calibri"/>
                <a:cs typeface="Calibri"/>
              </a:rPr>
              <a:t>Create bronze tables</a:t>
            </a:r>
          </a:p>
          <a:p>
            <a:pPr marL="742950" lvl="1" indent="-285750">
              <a:buFont typeface="Courier New"/>
              <a:buChar char="o"/>
            </a:pPr>
            <a:r>
              <a:rPr lang="en-US" sz="1600">
                <a:solidFill>
                  <a:srgbClr val="FFFFFF"/>
                </a:solidFill>
                <a:latin typeface="Calibri"/>
                <a:ea typeface="Calibri"/>
                <a:cs typeface="Calibri"/>
              </a:rPr>
              <a:t>Deduplicate rows</a:t>
            </a:r>
          </a:p>
          <a:p>
            <a:pPr marL="742950" lvl="1" indent="-285750">
              <a:buFont typeface="Courier New"/>
              <a:buChar char="o"/>
            </a:pPr>
            <a:endParaRPr lang="en-US">
              <a:solidFill>
                <a:srgbClr val="FFFFFF"/>
              </a:solidFill>
            </a:endParaRPr>
          </a:p>
          <a:p>
            <a:pPr marL="742950" lvl="1" indent="-285750">
              <a:buFont typeface="Courier New"/>
              <a:buChar char="o"/>
            </a:pPr>
            <a:endParaRPr lang="en-US">
              <a:solidFill>
                <a:srgbClr val="FFFFFF"/>
              </a:solidFill>
            </a:endParaRPr>
          </a:p>
        </p:txBody>
      </p:sp>
      <p:sp>
        <p:nvSpPr>
          <p:cNvPr id="6" name="TextBox 5">
            <a:extLst>
              <a:ext uri="{FF2B5EF4-FFF2-40B4-BE49-F238E27FC236}">
                <a16:creationId xmlns:a16="http://schemas.microsoft.com/office/drawing/2014/main" id="{6CFFA7A3-5FE9-82F3-EDA2-E753CC2BBE25}"/>
              </a:ext>
            </a:extLst>
          </p:cNvPr>
          <p:cNvSpPr txBox="1"/>
          <p:nvPr/>
        </p:nvSpPr>
        <p:spPr>
          <a:xfrm>
            <a:off x="3988247" y="4103491"/>
            <a:ext cx="3720513" cy="2392889"/>
          </a:xfrm>
          <a:prstGeom prst="rect">
            <a:avLst/>
          </a:prstGeom>
          <a:noFill/>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FFFFFF"/>
                </a:solidFill>
                <a:latin typeface="Calibri"/>
                <a:ea typeface="Calibri"/>
                <a:cs typeface="Calibri"/>
              </a:rPr>
              <a:t>Silver phase</a:t>
            </a:r>
          </a:p>
          <a:p>
            <a:pPr indent="-285750">
              <a:buFont typeface="Calibri"/>
              <a:buChar char="-"/>
            </a:pPr>
            <a:r>
              <a:rPr lang="en-US" sz="1600" dirty="0">
                <a:solidFill>
                  <a:srgbClr val="FFFFFF"/>
                </a:solidFill>
                <a:latin typeface="Calibri"/>
                <a:ea typeface="Calibri"/>
                <a:cs typeface="Calibri"/>
              </a:rPr>
              <a:t>Step wise transform, not parallel</a:t>
            </a:r>
          </a:p>
          <a:p>
            <a:pPr indent="-285750">
              <a:buFont typeface="Calibri"/>
              <a:buChar char="-"/>
            </a:pPr>
            <a:r>
              <a:rPr lang="en-US" sz="1600" dirty="0">
                <a:solidFill>
                  <a:srgbClr val="FFFFFF"/>
                </a:solidFill>
                <a:latin typeface="Calibri"/>
                <a:ea typeface="Calibri"/>
                <a:cs typeface="Calibri"/>
              </a:rPr>
              <a:t>Create base silver tables</a:t>
            </a:r>
          </a:p>
          <a:p>
            <a:pPr marL="742950" lvl="1" indent="-285750">
              <a:buFont typeface="Courier New"/>
              <a:buChar char="o"/>
            </a:pPr>
            <a:r>
              <a:rPr lang="en-US" sz="1600" dirty="0">
                <a:solidFill>
                  <a:srgbClr val="FFFFFF"/>
                </a:solidFill>
                <a:latin typeface="Calibri"/>
                <a:ea typeface="Calibri"/>
                <a:cs typeface="Calibri"/>
              </a:rPr>
              <a:t>Cleaning</a:t>
            </a:r>
          </a:p>
          <a:p>
            <a:pPr marL="742950" lvl="1" indent="-285750">
              <a:buFont typeface="Courier New"/>
              <a:buChar char="o"/>
            </a:pPr>
            <a:r>
              <a:rPr lang="en-US" sz="1600" dirty="0">
                <a:solidFill>
                  <a:srgbClr val="FFFFFF"/>
                </a:solidFill>
                <a:latin typeface="Calibri"/>
                <a:ea typeface="Calibri"/>
                <a:cs typeface="Calibri"/>
              </a:rPr>
              <a:t>Transform</a:t>
            </a:r>
          </a:p>
          <a:p>
            <a:pPr marL="742950" lvl="1" indent="-285750">
              <a:buFont typeface="Courier New"/>
              <a:buChar char="o"/>
            </a:pPr>
            <a:r>
              <a:rPr lang="en-US" sz="1600" dirty="0">
                <a:solidFill>
                  <a:srgbClr val="FFFFFF"/>
                </a:solidFill>
                <a:latin typeface="Calibri"/>
                <a:ea typeface="Calibri"/>
                <a:cs typeface="Calibri"/>
              </a:rPr>
              <a:t>Validation</a:t>
            </a:r>
          </a:p>
          <a:p>
            <a:pPr indent="-285750">
              <a:buFont typeface="Calibri"/>
              <a:buChar char="-"/>
            </a:pPr>
            <a:r>
              <a:rPr lang="en-US" sz="1600" dirty="0">
                <a:solidFill>
                  <a:srgbClr val="FFFFFF"/>
                </a:solidFill>
                <a:latin typeface="Calibri"/>
                <a:ea typeface="Calibri"/>
                <a:cs typeface="Calibri"/>
              </a:rPr>
              <a:t>Create intermediate silver tables</a:t>
            </a:r>
          </a:p>
          <a:p>
            <a:pPr marL="742950" lvl="1" indent="-285750">
              <a:buFont typeface="Courier New"/>
              <a:buChar char="o"/>
            </a:pPr>
            <a:r>
              <a:rPr lang="en-US" sz="1600" dirty="0">
                <a:solidFill>
                  <a:srgbClr val="FFFFFF"/>
                </a:solidFill>
                <a:latin typeface="Calibri"/>
                <a:ea typeface="Calibri"/>
                <a:cs typeface="Calibri"/>
              </a:rPr>
              <a:t>Calculated columns</a:t>
            </a:r>
          </a:p>
          <a:p>
            <a:pPr marL="742950" lvl="1" indent="-285750">
              <a:buFont typeface="Courier New"/>
              <a:buChar char="o"/>
            </a:pPr>
            <a:r>
              <a:rPr lang="en-US" sz="1600" dirty="0">
                <a:solidFill>
                  <a:srgbClr val="FFFFFF"/>
                </a:solidFill>
                <a:latin typeface="Calibri"/>
                <a:ea typeface="Calibri"/>
                <a:cs typeface="Calibri"/>
              </a:rPr>
              <a:t>Joins</a:t>
            </a:r>
          </a:p>
        </p:txBody>
      </p:sp>
      <p:sp>
        <p:nvSpPr>
          <p:cNvPr id="7" name="TextBox 6">
            <a:extLst>
              <a:ext uri="{FF2B5EF4-FFF2-40B4-BE49-F238E27FC236}">
                <a16:creationId xmlns:a16="http://schemas.microsoft.com/office/drawing/2014/main" id="{1D145DCD-BAC7-4205-5520-B5ABC2CEBE12}"/>
              </a:ext>
            </a:extLst>
          </p:cNvPr>
          <p:cNvSpPr txBox="1"/>
          <p:nvPr/>
        </p:nvSpPr>
        <p:spPr>
          <a:xfrm>
            <a:off x="8415751" y="4123734"/>
            <a:ext cx="3099470" cy="2400657"/>
          </a:xfrm>
          <a:prstGeom prst="rect">
            <a:avLst/>
          </a:prstGeom>
          <a:noFill/>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FFFFFF"/>
                </a:solidFill>
                <a:latin typeface="Calibri"/>
                <a:ea typeface="Calibri"/>
                <a:cs typeface="Calibri"/>
              </a:rPr>
              <a:t>Gold phase</a:t>
            </a:r>
          </a:p>
          <a:p>
            <a:pPr marL="285750" indent="-285750">
              <a:buFont typeface="Calibri"/>
              <a:buChar char="-"/>
            </a:pPr>
            <a:r>
              <a:rPr lang="en-US" sz="1600">
                <a:solidFill>
                  <a:srgbClr val="FFFFFF"/>
                </a:solidFill>
                <a:latin typeface="Calibri"/>
                <a:ea typeface="Calibri"/>
                <a:cs typeface="Calibri"/>
              </a:rPr>
              <a:t>Create gold tables</a:t>
            </a:r>
          </a:p>
          <a:p>
            <a:pPr marL="742950" lvl="1" indent="-285750">
              <a:buFont typeface="Courier New"/>
              <a:buChar char="o"/>
            </a:pPr>
            <a:r>
              <a:rPr lang="en-US" sz="1600">
                <a:solidFill>
                  <a:srgbClr val="FFFFFF"/>
                </a:solidFill>
                <a:latin typeface="Calibri"/>
                <a:ea typeface="Calibri"/>
                <a:cs typeface="Calibri"/>
              </a:rPr>
              <a:t>Aggregation</a:t>
            </a:r>
          </a:p>
          <a:p>
            <a:pPr marL="742950" lvl="1" indent="-285750">
              <a:buFont typeface="Courier New"/>
              <a:buChar char="o"/>
            </a:pPr>
            <a:r>
              <a:rPr lang="en-US" sz="1600">
                <a:solidFill>
                  <a:srgbClr val="FFFFFF"/>
                </a:solidFill>
                <a:latin typeface="Calibri"/>
                <a:ea typeface="Calibri"/>
                <a:cs typeface="Calibri"/>
              </a:rPr>
              <a:t>Joins</a:t>
            </a:r>
          </a:p>
          <a:p>
            <a:pPr marL="285750" indent="-285750">
              <a:buFont typeface="Calibri"/>
              <a:buChar char="-"/>
            </a:pPr>
            <a:r>
              <a:rPr lang="en-US" sz="1600">
                <a:solidFill>
                  <a:srgbClr val="FFFFFF"/>
                </a:solidFill>
                <a:latin typeface="Calibri"/>
                <a:ea typeface="Calibri"/>
                <a:cs typeface="Calibri"/>
              </a:rPr>
              <a:t>Stanley Cup Predictions</a:t>
            </a:r>
          </a:p>
          <a:p>
            <a:pPr marL="285750" indent="-285750">
              <a:buFont typeface="Calibri"/>
              <a:buChar char="-"/>
            </a:pPr>
            <a:r>
              <a:rPr lang="en-US" sz="1600">
                <a:solidFill>
                  <a:srgbClr val="FFFFFF"/>
                </a:solidFill>
                <a:latin typeface="Calibri"/>
                <a:ea typeface="Calibri"/>
                <a:cs typeface="Calibri"/>
              </a:rPr>
              <a:t>Seasonal Odds ML Predictions</a:t>
            </a:r>
          </a:p>
          <a:p>
            <a:pPr marL="742950" lvl="1" indent="-285750">
              <a:buFont typeface="Courier New"/>
              <a:buChar char="o"/>
            </a:pPr>
            <a:endParaRPr lang="en-US">
              <a:solidFill>
                <a:srgbClr val="FFFFFF"/>
              </a:solidFill>
            </a:endParaRPr>
          </a:p>
          <a:p>
            <a:pPr marL="742950" lvl="1" indent="-285750">
              <a:buFont typeface="Courier New"/>
              <a:buChar char="o"/>
            </a:pPr>
            <a:endParaRPr lang="en-US">
              <a:solidFill>
                <a:srgbClr val="FFFFFF"/>
              </a:solidFill>
            </a:endParaRPr>
          </a:p>
          <a:p>
            <a:pPr marL="742950" lvl="1" indent="-285750">
              <a:buFont typeface="Courier New"/>
              <a:buChar char="o"/>
            </a:pPr>
            <a:endParaRPr lang="en-US">
              <a:solidFill>
                <a:srgbClr val="FFFFFF"/>
              </a:solidFill>
            </a:endParaRPr>
          </a:p>
        </p:txBody>
      </p:sp>
      <p:cxnSp>
        <p:nvCxnSpPr>
          <p:cNvPr id="8" name="Straight Arrow Connector 7">
            <a:extLst>
              <a:ext uri="{FF2B5EF4-FFF2-40B4-BE49-F238E27FC236}">
                <a16:creationId xmlns:a16="http://schemas.microsoft.com/office/drawing/2014/main" id="{34E4D08F-6971-6AA1-3A89-834C68A57FA2}"/>
              </a:ext>
            </a:extLst>
          </p:cNvPr>
          <p:cNvCxnSpPr/>
          <p:nvPr/>
        </p:nvCxnSpPr>
        <p:spPr>
          <a:xfrm>
            <a:off x="3380439" y="1512572"/>
            <a:ext cx="36906" cy="2624291"/>
          </a:xfrm>
          <a:prstGeom prst="straightConnector1">
            <a:avLst/>
          </a:prstGeom>
          <a:ln w="57150">
            <a:solidFill>
              <a:srgbClr val="FFC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50A1022-EA35-A7A2-361A-FD78E6BD6A77}"/>
              </a:ext>
            </a:extLst>
          </p:cNvPr>
          <p:cNvCxnSpPr/>
          <p:nvPr/>
        </p:nvCxnSpPr>
        <p:spPr>
          <a:xfrm>
            <a:off x="10074647" y="1512483"/>
            <a:ext cx="8684" cy="2821846"/>
          </a:xfrm>
          <a:prstGeom prst="straightConnector1">
            <a:avLst/>
          </a:prstGeom>
          <a:ln w="57150">
            <a:solidFill>
              <a:srgbClr val="FFC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182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C54A5-0A96-3783-721E-45AF41BAD582}"/>
              </a:ext>
            </a:extLst>
          </p:cNvPr>
          <p:cNvSpPr>
            <a:spLocks noGrp="1"/>
          </p:cNvSpPr>
          <p:nvPr>
            <p:ph type="title"/>
          </p:nvPr>
        </p:nvSpPr>
        <p:spPr/>
        <p:txBody>
          <a:bodyPr/>
          <a:lstStyle/>
          <a:p>
            <a:r>
              <a:rPr lang="en-US" sz="3600" b="1">
                <a:solidFill>
                  <a:srgbClr val="FFFFFF"/>
                </a:solidFill>
                <a:latin typeface="Arial"/>
                <a:cs typeface="Arial"/>
              </a:rPr>
              <a:t>The Actual Pipeline [Successful Run]</a:t>
            </a:r>
            <a:endParaRPr lang="en-US" sz="3600">
              <a:solidFill>
                <a:srgbClr val="FFFFFF"/>
              </a:solidFill>
              <a:latin typeface="Arial"/>
              <a:cs typeface="Arial"/>
            </a:endParaRPr>
          </a:p>
        </p:txBody>
      </p:sp>
      <p:pic>
        <p:nvPicPr>
          <p:cNvPr id="4" name="Content Placeholder 3">
            <a:extLst>
              <a:ext uri="{FF2B5EF4-FFF2-40B4-BE49-F238E27FC236}">
                <a16:creationId xmlns:a16="http://schemas.microsoft.com/office/drawing/2014/main" id="{386091D6-1443-694E-124F-D8C4564E8601}"/>
              </a:ext>
            </a:extLst>
          </p:cNvPr>
          <p:cNvPicPr>
            <a:picLocks noGrp="1" noChangeAspect="1"/>
          </p:cNvPicPr>
          <p:nvPr>
            <p:ph idx="1"/>
          </p:nvPr>
        </p:nvPicPr>
        <p:blipFill>
          <a:blip r:embed="rId2"/>
          <a:stretch>
            <a:fillRect/>
          </a:stretch>
        </p:blipFill>
        <p:spPr>
          <a:xfrm>
            <a:off x="419012" y="1450321"/>
            <a:ext cx="11207110" cy="5297313"/>
          </a:xfrm>
          <a:prstGeom prst="rect">
            <a:avLst/>
          </a:prstGeom>
        </p:spPr>
      </p:pic>
    </p:spTree>
    <p:extLst>
      <p:ext uri="{BB962C8B-B14F-4D97-AF65-F5344CB8AC3E}">
        <p14:creationId xmlns:p14="http://schemas.microsoft.com/office/powerpoint/2010/main" val="157200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FABC-6EDF-50F2-E58C-E838BEC1A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83A54-FEC8-3583-1758-3EFEED1C51D5}"/>
              </a:ext>
            </a:extLst>
          </p:cNvPr>
          <p:cNvSpPr>
            <a:spLocks noGrp="1"/>
          </p:cNvSpPr>
          <p:nvPr>
            <p:ph type="title"/>
          </p:nvPr>
        </p:nvSpPr>
        <p:spPr/>
        <p:txBody>
          <a:bodyPr>
            <a:normAutofit/>
          </a:bodyPr>
          <a:lstStyle/>
          <a:p>
            <a:r>
              <a:rPr lang="en-US" sz="3600" b="1">
                <a:solidFill>
                  <a:srgbClr val="FFFFFF"/>
                </a:solidFill>
                <a:latin typeface="Arial"/>
                <a:cs typeface="Arial"/>
              </a:rPr>
              <a:t>Ensure Idempotency: Tracking File Content Changes</a:t>
            </a:r>
          </a:p>
        </p:txBody>
      </p:sp>
      <p:sp>
        <p:nvSpPr>
          <p:cNvPr id="3" name="Content Placeholder 2">
            <a:extLst>
              <a:ext uri="{FF2B5EF4-FFF2-40B4-BE49-F238E27FC236}">
                <a16:creationId xmlns:a16="http://schemas.microsoft.com/office/drawing/2014/main" id="{EF08A93B-A8B3-FC66-5B2B-C14537C6F7CE}"/>
              </a:ext>
            </a:extLst>
          </p:cNvPr>
          <p:cNvSpPr>
            <a:spLocks noGrp="1"/>
          </p:cNvSpPr>
          <p:nvPr>
            <p:ph idx="1"/>
          </p:nvPr>
        </p:nvSpPr>
        <p:spPr>
          <a:xfrm>
            <a:off x="101600" y="1480801"/>
            <a:ext cx="11879672" cy="3692033"/>
          </a:xfrm>
        </p:spPr>
        <p:txBody>
          <a:bodyPr>
            <a:normAutofit/>
          </a:bodyPr>
          <a:lstStyle/>
          <a:p>
            <a:pPr marL="514350" lvl="1" indent="-285750">
              <a:buFont typeface="Courier New" panose="020B0604020202020204" pitchFamily="34" charset="0"/>
              <a:buChar char="o"/>
            </a:pPr>
            <a:endParaRPr lang="en-US"/>
          </a:p>
          <a:p>
            <a:pPr marL="971550" lvl="3" indent="-285750">
              <a:buFont typeface="Calibri" panose="020B0604020202020204" pitchFamily="34" charset="0"/>
              <a:buChar char="-"/>
            </a:pPr>
            <a:endParaRPr lang="en-US"/>
          </a:p>
          <a:p>
            <a:pPr marL="514350" lvl="1" indent="-285750">
              <a:buFont typeface="Courier New" panose="020B0604020202020204" pitchFamily="34" charset="0"/>
              <a:buChar char="o"/>
            </a:pPr>
            <a:endParaRPr lang="en-US"/>
          </a:p>
        </p:txBody>
      </p:sp>
      <p:sp>
        <p:nvSpPr>
          <p:cNvPr id="10" name="TextBox 9">
            <a:extLst>
              <a:ext uri="{FF2B5EF4-FFF2-40B4-BE49-F238E27FC236}">
                <a16:creationId xmlns:a16="http://schemas.microsoft.com/office/drawing/2014/main" id="{74DF122A-58B1-2D76-C16C-15591987AF15}"/>
              </a:ext>
            </a:extLst>
          </p:cNvPr>
          <p:cNvSpPr txBox="1"/>
          <p:nvPr/>
        </p:nvSpPr>
        <p:spPr>
          <a:xfrm>
            <a:off x="379739" y="1674431"/>
            <a:ext cx="5004074" cy="3881575"/>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r>
              <a:rPr lang="en-US" sz="1600">
                <a:solidFill>
                  <a:srgbClr val="0E2A47"/>
                </a:solidFill>
                <a:latin typeface="Calibri"/>
                <a:ea typeface="Calibri"/>
                <a:cs typeface="Calibri"/>
              </a:rPr>
              <a:t>Original assumption: one-time download, tables recreated every run, but what if there are new data?</a:t>
            </a:r>
            <a:endParaRPr lang="en-US" sz="1600">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r>
              <a:rPr lang="en-US" sz="1600">
                <a:solidFill>
                  <a:srgbClr val="0E2A47"/>
                </a:solidFill>
                <a:latin typeface="Calibri"/>
                <a:ea typeface="Calibri"/>
                <a:cs typeface="Calibri"/>
              </a:rPr>
              <a:t>New assumption: the CSV file name stays the same, but its contents can change.</a:t>
            </a:r>
          </a:p>
          <a:p>
            <a:pPr marL="285750" indent="-285750">
              <a:lnSpc>
                <a:spcPct val="80000"/>
              </a:lnSpc>
              <a:spcBef>
                <a:spcPts val="1000"/>
              </a:spcBef>
              <a:buFont typeface="Calibri,Sans-Serif"/>
              <a:buChar char="-"/>
            </a:pPr>
            <a:r>
              <a:rPr lang="en-US" sz="1600" err="1">
                <a:solidFill>
                  <a:srgbClr val="0E2A47"/>
                </a:solidFill>
                <a:latin typeface="Calibri"/>
                <a:ea typeface="Calibri"/>
                <a:cs typeface="Calibri"/>
              </a:rPr>
              <a:t>Player_info</a:t>
            </a:r>
            <a:r>
              <a:rPr lang="en-US" sz="1600">
                <a:solidFill>
                  <a:srgbClr val="0E2A47"/>
                </a:solidFill>
                <a:latin typeface="Calibri"/>
                <a:ea typeface="Calibri"/>
                <a:cs typeface="Calibri"/>
              </a:rPr>
              <a:t> and </a:t>
            </a:r>
            <a:r>
              <a:rPr lang="en-US" sz="1600" err="1">
                <a:solidFill>
                  <a:srgbClr val="0E2A47"/>
                </a:solidFill>
                <a:latin typeface="Calibri"/>
                <a:ea typeface="Calibri"/>
                <a:cs typeface="Calibri"/>
              </a:rPr>
              <a:t>team_info</a:t>
            </a:r>
            <a:r>
              <a:rPr lang="en-US" sz="1600">
                <a:solidFill>
                  <a:srgbClr val="0E2A47"/>
                </a:solidFill>
                <a:latin typeface="Calibri"/>
                <a:ea typeface="Calibri"/>
                <a:cs typeface="Calibri"/>
              </a:rPr>
              <a:t> rows can update over time (nationality, position, team name, abbreviation); every other table should only ever gain new rows. </a:t>
            </a:r>
            <a:endParaRPr lang="en-US" sz="1600">
              <a:solidFill>
                <a:srgbClr val="000000"/>
              </a:solidFill>
              <a:latin typeface="Calibri"/>
              <a:ea typeface="Calibri"/>
              <a:cs typeface="Calibri"/>
            </a:endParaRPr>
          </a:p>
          <a:p>
            <a:pPr marL="285750" indent="-285750">
              <a:buFont typeface="Calibri"/>
              <a:buChar char="-"/>
            </a:pPr>
            <a:endParaRPr lang="en-US" sz="1400">
              <a:solidFill>
                <a:srgbClr val="5D614B"/>
              </a:solidFill>
              <a:latin typeface="Calibri"/>
              <a:ea typeface="Calibri"/>
              <a:cs typeface="Calibri"/>
            </a:endParaRPr>
          </a:p>
          <a:p>
            <a:pPr marL="285750" indent="-285750">
              <a:buFont typeface="Calibri"/>
              <a:buChar char="-"/>
            </a:pPr>
            <a:r>
              <a:rPr lang="en-US" sz="1600" err="1">
                <a:solidFill>
                  <a:srgbClr val="0E2A47"/>
                </a:solidFill>
                <a:latin typeface="Calibri"/>
                <a:ea typeface="Calibri"/>
                <a:cs typeface="Calibri"/>
              </a:rPr>
              <a:t>Metatable</a:t>
            </a:r>
            <a:r>
              <a:rPr lang="en-US" sz="1600">
                <a:solidFill>
                  <a:srgbClr val="0E2A47"/>
                </a:solidFill>
                <a:latin typeface="Calibri"/>
                <a:ea typeface="Calibri"/>
                <a:cs typeface="Calibri"/>
              </a:rPr>
              <a:t>: </a:t>
            </a:r>
            <a:r>
              <a:rPr lang="en-US" sz="1600" err="1">
                <a:solidFill>
                  <a:srgbClr val="0E2A47"/>
                </a:solidFill>
                <a:latin typeface="Calibri"/>
                <a:ea typeface="Calibri"/>
                <a:cs typeface="Calibri"/>
              </a:rPr>
              <a:t>dbo_file_manifest</a:t>
            </a:r>
            <a:r>
              <a:rPr lang="en-US" sz="1600">
                <a:solidFill>
                  <a:srgbClr val="0E2A47"/>
                </a:solidFill>
                <a:latin typeface="Calibri"/>
                <a:ea typeface="Calibri"/>
                <a:cs typeface="Calibri"/>
              </a:rPr>
              <a:t> table that tracks content changes with a sha-256 key.</a:t>
            </a:r>
          </a:p>
          <a:p>
            <a:endParaRPr lang="en-US" sz="950">
              <a:solidFill>
                <a:srgbClr val="444444"/>
              </a:solidFill>
              <a:latin typeface="Calibri"/>
              <a:ea typeface="Calibri"/>
              <a:cs typeface="Arial"/>
            </a:endParaRPr>
          </a:p>
        </p:txBody>
      </p:sp>
      <p:pic>
        <p:nvPicPr>
          <p:cNvPr id="6" name="Picture 5" descr="A computer screen shot of a program&#10;&#10;AI-generated content may be incorrect.">
            <a:extLst>
              <a:ext uri="{FF2B5EF4-FFF2-40B4-BE49-F238E27FC236}">
                <a16:creationId xmlns:a16="http://schemas.microsoft.com/office/drawing/2014/main" id="{583EFB49-2FA8-036B-377E-326BA4C64EB7}"/>
              </a:ext>
            </a:extLst>
          </p:cNvPr>
          <p:cNvPicPr>
            <a:picLocks noChangeAspect="1"/>
          </p:cNvPicPr>
          <p:nvPr/>
        </p:nvPicPr>
        <p:blipFill>
          <a:blip r:embed="rId3"/>
          <a:stretch>
            <a:fillRect/>
          </a:stretch>
        </p:blipFill>
        <p:spPr>
          <a:xfrm>
            <a:off x="5843489" y="1622421"/>
            <a:ext cx="6009006" cy="2552972"/>
          </a:xfrm>
          <a:prstGeom prst="rect">
            <a:avLst/>
          </a:prstGeom>
          <a:ln>
            <a:noFill/>
          </a:ln>
          <a:effectLst>
            <a:outerShdw blurRad="177800" dist="50800" dir="2700000">
              <a:srgbClr val="000000">
                <a:alpha val="22000"/>
              </a:srgbClr>
            </a:outerShdw>
          </a:effectLst>
        </p:spPr>
      </p:pic>
      <p:sp>
        <p:nvSpPr>
          <p:cNvPr id="5" name="Rectangle: Rounded Corners 4">
            <a:extLst>
              <a:ext uri="{FF2B5EF4-FFF2-40B4-BE49-F238E27FC236}">
                <a16:creationId xmlns:a16="http://schemas.microsoft.com/office/drawing/2014/main" id="{DC03311D-FB8B-9476-8A42-A309402504AD}"/>
              </a:ext>
            </a:extLst>
          </p:cNvPr>
          <p:cNvSpPr/>
          <p:nvPr/>
        </p:nvSpPr>
        <p:spPr>
          <a:xfrm>
            <a:off x="532422" y="1929948"/>
            <a:ext cx="4695748" cy="654545"/>
          </a:xfrm>
          <a:prstGeom prst="roundRect">
            <a:avLst/>
          </a:prstGeom>
          <a:solidFill>
            <a:srgbClr val="0E2A4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1500">
              <a:solidFill>
                <a:srgbClr val="000000"/>
              </a:solidFill>
              <a:latin typeface="Calibri"/>
              <a:ea typeface="Calibri"/>
              <a:cs typeface="Calibri"/>
            </a:endParaRPr>
          </a:p>
        </p:txBody>
      </p:sp>
      <p:sp>
        <p:nvSpPr>
          <p:cNvPr id="8" name="TextBox 7">
            <a:extLst>
              <a:ext uri="{FF2B5EF4-FFF2-40B4-BE49-F238E27FC236}">
                <a16:creationId xmlns:a16="http://schemas.microsoft.com/office/drawing/2014/main" id="{50322E0D-4033-10F6-696A-001710AB02EB}"/>
              </a:ext>
            </a:extLst>
          </p:cNvPr>
          <p:cNvSpPr txBox="1"/>
          <p:nvPr/>
        </p:nvSpPr>
        <p:spPr>
          <a:xfrm>
            <a:off x="670846" y="1981710"/>
            <a:ext cx="441959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chemeClr val="bg1"/>
                </a:solidFill>
                <a:latin typeface="Calibri"/>
                <a:ea typeface="Calibri"/>
                <a:cs typeface="Calibri"/>
              </a:rPr>
              <a:t>Skip same file even if it's</a:t>
            </a:r>
            <a:endParaRPr lang="en-US">
              <a:solidFill>
                <a:schemeClr val="bg1"/>
              </a:solidFill>
              <a:latin typeface="Neue Haas Grotesk Text Pro"/>
              <a:ea typeface="Calibri"/>
              <a:cs typeface="Calibri"/>
            </a:endParaRPr>
          </a:p>
          <a:p>
            <a:pPr algn="ctr"/>
            <a:r>
              <a:rPr lang="en-US" sz="1500">
                <a:solidFill>
                  <a:schemeClr val="bg1"/>
                </a:solidFill>
                <a:latin typeface="Calibri"/>
                <a:ea typeface="Calibri"/>
                <a:cs typeface="Calibri"/>
              </a:rPr>
              <a:t>downloaded again</a:t>
            </a:r>
            <a:endParaRPr lang="en-US">
              <a:solidFill>
                <a:schemeClr val="bg1"/>
              </a:solidFill>
              <a:latin typeface="Neue Haas Grotesk Text Pro"/>
              <a:ea typeface="Calibri"/>
              <a:cs typeface="Calibri"/>
            </a:endParaRPr>
          </a:p>
          <a:p>
            <a:pPr algn="ctr"/>
            <a:endParaRPr lang="en-US" sz="1500">
              <a:solidFill>
                <a:schemeClr val="bg1"/>
              </a:solidFill>
              <a:latin typeface="Calibri"/>
              <a:ea typeface="Calibri"/>
              <a:cs typeface="Calibri"/>
            </a:endParaRPr>
          </a:p>
        </p:txBody>
      </p:sp>
    </p:spTree>
    <p:extLst>
      <p:ext uri="{BB962C8B-B14F-4D97-AF65-F5344CB8AC3E}">
        <p14:creationId xmlns:p14="http://schemas.microsoft.com/office/powerpoint/2010/main" val="34101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30A9D-115B-E09C-4271-73703612C57E}"/>
              </a:ext>
            </a:extLst>
          </p:cNvPr>
          <p:cNvSpPr>
            <a:spLocks noGrp="1"/>
          </p:cNvSpPr>
          <p:nvPr>
            <p:ph idx="1"/>
          </p:nvPr>
        </p:nvSpPr>
        <p:spPr>
          <a:xfrm>
            <a:off x="101600" y="1744961"/>
            <a:ext cx="4249512" cy="3966353"/>
          </a:xfrm>
        </p:spPr>
        <p:txBody>
          <a:bodyPr>
            <a:normAutofit/>
          </a:bodyPr>
          <a:lstStyle/>
          <a:p>
            <a:pPr marL="742950" lvl="2" indent="-285750">
              <a:buFont typeface="Wingdings" panose="020B0604020202020204" pitchFamily="34" charset="0"/>
              <a:buChar char="§"/>
            </a:pPr>
            <a:endParaRPr lang="en-US"/>
          </a:p>
          <a:p>
            <a:pPr marL="514350" lvl="1" indent="-285750">
              <a:buFont typeface="Calibri" panose="020B0604020202020204" pitchFamily="34" charset="0"/>
              <a:buChar char="-"/>
            </a:pPr>
            <a:endParaRPr lang="en-US"/>
          </a:p>
          <a:p>
            <a:pPr marL="971550" lvl="3" indent="-285750">
              <a:buFont typeface="Calibri" panose="020B0604020202020204" pitchFamily="34" charset="0"/>
              <a:buChar char="-"/>
            </a:pPr>
            <a:endParaRPr lang="en-US"/>
          </a:p>
          <a:p>
            <a:pPr marL="514350" lvl="1" indent="-285750">
              <a:buFont typeface="Calibri" panose="020B0604020202020204" pitchFamily="34" charset="0"/>
              <a:buChar char="-"/>
            </a:pPr>
            <a:endParaRPr lang="en-US"/>
          </a:p>
        </p:txBody>
      </p:sp>
      <p:pic>
        <p:nvPicPr>
          <p:cNvPr id="4" name="Picture 3">
            <a:extLst>
              <a:ext uri="{FF2B5EF4-FFF2-40B4-BE49-F238E27FC236}">
                <a16:creationId xmlns:a16="http://schemas.microsoft.com/office/drawing/2014/main" id="{ED14D327-FC0B-4238-36B9-C558E970FCD3}"/>
              </a:ext>
            </a:extLst>
          </p:cNvPr>
          <p:cNvPicPr>
            <a:picLocks noChangeAspect="1"/>
          </p:cNvPicPr>
          <p:nvPr/>
        </p:nvPicPr>
        <p:blipFill>
          <a:blip r:embed="rId3"/>
          <a:stretch>
            <a:fillRect/>
          </a:stretch>
        </p:blipFill>
        <p:spPr>
          <a:xfrm>
            <a:off x="6621226" y="1622737"/>
            <a:ext cx="4766128" cy="3270430"/>
          </a:xfrm>
          <a:prstGeom prst="rect">
            <a:avLst/>
          </a:prstGeom>
        </p:spPr>
      </p:pic>
      <p:sp>
        <p:nvSpPr>
          <p:cNvPr id="7" name="Title 6">
            <a:extLst>
              <a:ext uri="{FF2B5EF4-FFF2-40B4-BE49-F238E27FC236}">
                <a16:creationId xmlns:a16="http://schemas.microsoft.com/office/drawing/2014/main" id="{829BB24B-0D2F-4EBE-57D4-2499ED98CCC0}"/>
              </a:ext>
            </a:extLst>
          </p:cNvPr>
          <p:cNvSpPr>
            <a:spLocks noGrp="1"/>
          </p:cNvSpPr>
          <p:nvPr>
            <p:ph type="title"/>
          </p:nvPr>
        </p:nvSpPr>
        <p:spPr/>
        <p:txBody>
          <a:bodyPr/>
          <a:lstStyle/>
          <a:p>
            <a:r>
              <a:rPr lang="en-US" sz="3600" b="1">
                <a:solidFill>
                  <a:srgbClr val="FFFFFF"/>
                </a:solidFill>
                <a:latin typeface="Arial"/>
                <a:cs typeface="Arial"/>
              </a:rPr>
              <a:t>Ensure Idempotency: Bronze [Append Only Merges]</a:t>
            </a:r>
            <a:endParaRPr lang="en-US">
              <a:solidFill>
                <a:srgbClr val="FFFFFF"/>
              </a:solidFill>
            </a:endParaRPr>
          </a:p>
        </p:txBody>
      </p:sp>
      <p:sp>
        <p:nvSpPr>
          <p:cNvPr id="10" name="TextBox 9">
            <a:extLst>
              <a:ext uri="{FF2B5EF4-FFF2-40B4-BE49-F238E27FC236}">
                <a16:creationId xmlns:a16="http://schemas.microsoft.com/office/drawing/2014/main" id="{B1BAF31F-5B8A-3112-37A1-E3582FA59463}"/>
              </a:ext>
            </a:extLst>
          </p:cNvPr>
          <p:cNvSpPr txBox="1"/>
          <p:nvPr/>
        </p:nvSpPr>
        <p:spPr>
          <a:xfrm>
            <a:off x="379739" y="1623631"/>
            <a:ext cx="5191296" cy="3766159"/>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endParaRPr lang="en-US" sz="1500">
              <a:solidFill>
                <a:srgbClr val="5B7186"/>
              </a:solidFill>
              <a:latin typeface="Calibri"/>
              <a:ea typeface="Calibri"/>
              <a:cs typeface="Calibri"/>
            </a:endParaRPr>
          </a:p>
          <a:p>
            <a:pPr>
              <a:buFont typeface="Arial"/>
              <a:buChar char="•"/>
            </a:pPr>
            <a:endParaRPr lang="en-US" sz="1500">
              <a:solidFill>
                <a:srgbClr val="5B7186"/>
              </a:solidFill>
              <a:latin typeface="Calibri"/>
              <a:ea typeface="Calibri"/>
              <a:cs typeface="Calibri"/>
            </a:endParaRPr>
          </a:p>
          <a:p>
            <a:pPr>
              <a:buFont typeface="Arial"/>
              <a:buChar char="•"/>
            </a:pPr>
            <a:endParaRPr lang="en-US" sz="1500">
              <a:solidFill>
                <a:srgbClr val="5B7186"/>
              </a:solidFill>
              <a:latin typeface="Calibri"/>
              <a:ea typeface="Calibri"/>
              <a:cs typeface="Calibri"/>
            </a:endParaRPr>
          </a:p>
          <a:p>
            <a:pPr>
              <a:buFont typeface="Arial"/>
              <a:buChar char="•"/>
            </a:pPr>
            <a:endParaRPr lang="en-US" sz="1500">
              <a:solidFill>
                <a:srgbClr val="5B7186"/>
              </a:solidFill>
              <a:latin typeface="Calibri"/>
              <a:ea typeface="Calibri"/>
              <a:cs typeface="Calibri"/>
            </a:endParaRPr>
          </a:p>
          <a:p>
            <a:pPr>
              <a:buFont typeface="Arial"/>
              <a:buChar char="•"/>
            </a:pPr>
            <a:endParaRPr lang="en-US" sz="1500">
              <a:solidFill>
                <a:srgbClr val="5B7186"/>
              </a:solidFill>
              <a:latin typeface="Calibri"/>
              <a:ea typeface="Calibri"/>
              <a:cs typeface="Calibri"/>
            </a:endParaRPr>
          </a:p>
          <a:p>
            <a:pPr marL="285750" indent="-285750">
              <a:lnSpc>
                <a:spcPct val="80000"/>
              </a:lnSpc>
              <a:spcBef>
                <a:spcPts val="1000"/>
              </a:spcBef>
              <a:buFont typeface="Calibri" panose="020B0604020202020204" pitchFamily="34" charset="0"/>
              <a:buChar char="-"/>
            </a:pPr>
            <a:r>
              <a:rPr lang="en-US" sz="1600">
                <a:solidFill>
                  <a:srgbClr val="0E2A47"/>
                </a:solidFill>
                <a:latin typeface="Calibri"/>
                <a:ea typeface="Calibri"/>
                <a:cs typeface="Calibri"/>
              </a:rPr>
              <a:t>Add audit columns: _</a:t>
            </a:r>
            <a:r>
              <a:rPr lang="en-US" sz="1600" err="1">
                <a:solidFill>
                  <a:srgbClr val="0E2A47"/>
                </a:solidFill>
                <a:latin typeface="Calibri"/>
                <a:ea typeface="Calibri"/>
                <a:cs typeface="Calibri"/>
              </a:rPr>
              <a:t>ingested_timestamp</a:t>
            </a:r>
            <a:r>
              <a:rPr lang="en-US" sz="1600">
                <a:solidFill>
                  <a:srgbClr val="0E2A47"/>
                </a:solidFill>
                <a:latin typeface="Calibri"/>
                <a:ea typeface="Calibri"/>
                <a:cs typeface="Calibri"/>
              </a:rPr>
              <a:t>,  _</a:t>
            </a:r>
            <a:r>
              <a:rPr lang="en-US" sz="1600" err="1">
                <a:solidFill>
                  <a:srgbClr val="0E2A47"/>
                </a:solidFill>
                <a:latin typeface="Calibri"/>
                <a:ea typeface="Calibri"/>
                <a:cs typeface="Calibri"/>
              </a:rPr>
              <a:t>source_file</a:t>
            </a:r>
            <a:r>
              <a:rPr lang="en-US" sz="1600">
                <a:solidFill>
                  <a:srgbClr val="0E2A47"/>
                </a:solidFill>
                <a:latin typeface="Calibri"/>
                <a:ea typeface="Calibri"/>
                <a:cs typeface="Calibri"/>
              </a:rPr>
              <a:t>, _</a:t>
            </a:r>
            <a:r>
              <a:rPr lang="en-US" sz="1600" err="1">
                <a:solidFill>
                  <a:srgbClr val="0E2A47"/>
                </a:solidFill>
                <a:latin typeface="Calibri"/>
                <a:ea typeface="Calibri"/>
                <a:cs typeface="Calibri"/>
              </a:rPr>
              <a:t>row_hash</a:t>
            </a:r>
            <a:r>
              <a:rPr lang="en-US" sz="1600">
                <a:solidFill>
                  <a:srgbClr val="0E2A47"/>
                </a:solidFill>
                <a:latin typeface="Calibri"/>
                <a:ea typeface="Calibri"/>
                <a:cs typeface="Calibri"/>
              </a:rPr>
              <a:t>.</a:t>
            </a:r>
          </a:p>
          <a:p>
            <a:pPr marL="285750" indent="-285750">
              <a:lnSpc>
                <a:spcPct val="80000"/>
              </a:lnSpc>
              <a:spcBef>
                <a:spcPts val="1000"/>
              </a:spcBef>
              <a:buFont typeface="Calibri" panose="020B0604020202020204" pitchFamily="34" charset="0"/>
              <a:buChar char="-"/>
            </a:pPr>
            <a:r>
              <a:rPr lang="en-US" sz="1600">
                <a:solidFill>
                  <a:srgbClr val="0E2A47"/>
                </a:solidFill>
                <a:latin typeface="Calibri"/>
                <a:ea typeface="Calibri"/>
                <a:cs typeface="Calibri"/>
              </a:rPr>
              <a:t>Row hash – selected columns to check for updates, e.g. </a:t>
            </a:r>
            <a:r>
              <a:rPr lang="en-US" sz="1600" err="1">
                <a:solidFill>
                  <a:srgbClr val="0E2A47"/>
                </a:solidFill>
                <a:latin typeface="Calibri"/>
                <a:ea typeface="Calibri"/>
                <a:cs typeface="Calibri"/>
              </a:rPr>
              <a:t>player_id</a:t>
            </a:r>
            <a:r>
              <a:rPr lang="en-US" sz="1600">
                <a:solidFill>
                  <a:srgbClr val="0E2A47"/>
                </a:solidFill>
                <a:latin typeface="Calibri"/>
                <a:ea typeface="Calibri"/>
                <a:cs typeface="Calibri"/>
              </a:rPr>
              <a:t>, </a:t>
            </a:r>
            <a:r>
              <a:rPr lang="en-US" sz="1600" err="1">
                <a:solidFill>
                  <a:srgbClr val="0E2A47"/>
                </a:solidFill>
                <a:latin typeface="Calibri"/>
                <a:ea typeface="Calibri"/>
                <a:cs typeface="Calibri"/>
              </a:rPr>
              <a:t>firstName</a:t>
            </a:r>
            <a:r>
              <a:rPr lang="en-US" sz="1600">
                <a:solidFill>
                  <a:srgbClr val="0E2A47"/>
                </a:solidFill>
                <a:latin typeface="Calibri"/>
                <a:ea typeface="Calibri"/>
                <a:cs typeface="Calibri"/>
              </a:rPr>
              <a:t>, </a:t>
            </a:r>
            <a:r>
              <a:rPr lang="en-US" sz="1600" err="1">
                <a:solidFill>
                  <a:srgbClr val="0E2A47"/>
                </a:solidFill>
                <a:latin typeface="Calibri"/>
                <a:ea typeface="Calibri"/>
                <a:cs typeface="Calibri"/>
              </a:rPr>
              <a:t>lastName</a:t>
            </a:r>
            <a:r>
              <a:rPr lang="en-US" sz="1600">
                <a:solidFill>
                  <a:srgbClr val="0E2A47"/>
                </a:solidFill>
                <a:latin typeface="Calibri"/>
                <a:ea typeface="Calibri"/>
                <a:cs typeface="Calibri"/>
              </a:rPr>
              <a:t> &amp; nationality.</a:t>
            </a:r>
          </a:p>
          <a:p>
            <a:pPr marL="285750" indent="-285750">
              <a:lnSpc>
                <a:spcPct val="80000"/>
              </a:lnSpc>
              <a:spcBef>
                <a:spcPts val="1000"/>
              </a:spcBef>
              <a:buFont typeface="Calibri" panose="020B0604020202020204" pitchFamily="34" charset="0"/>
              <a:buChar char="-"/>
            </a:pPr>
            <a:r>
              <a:rPr lang="en-US" sz="1600">
                <a:solidFill>
                  <a:srgbClr val="0E2A47"/>
                </a:solidFill>
                <a:latin typeface="Calibri"/>
                <a:ea typeface="Calibri"/>
                <a:cs typeface="Calibri"/>
              </a:rPr>
              <a:t>Merge Delta table on column hash (_</a:t>
            </a:r>
            <a:r>
              <a:rPr lang="en-US" sz="1600" err="1">
                <a:solidFill>
                  <a:srgbClr val="0E2A47"/>
                </a:solidFill>
                <a:latin typeface="Calibri"/>
                <a:ea typeface="Calibri"/>
                <a:cs typeface="Calibri"/>
              </a:rPr>
              <a:t>row_hash</a:t>
            </a:r>
            <a:r>
              <a:rPr lang="en-US" sz="1600">
                <a:solidFill>
                  <a:srgbClr val="0E2A47"/>
                </a:solidFill>
                <a:latin typeface="Calibri"/>
                <a:ea typeface="Calibri"/>
                <a:cs typeface="Calibri"/>
              </a:rPr>
              <a:t>), so re-ingesting the same file will not duplicates rows.</a:t>
            </a:r>
            <a:endParaRPr lang="en-US"/>
          </a:p>
          <a:p>
            <a:pPr marL="285750" indent="-285750">
              <a:lnSpc>
                <a:spcPct val="80000"/>
              </a:lnSpc>
              <a:spcBef>
                <a:spcPts val="1000"/>
              </a:spcBef>
              <a:buFont typeface="Calibri" panose="020B0604020202020204" pitchFamily="34" charset="0"/>
              <a:buChar char="-"/>
            </a:pPr>
            <a:r>
              <a:rPr lang="en-US" sz="1600">
                <a:solidFill>
                  <a:srgbClr val="0E2A47"/>
                </a:solidFill>
                <a:latin typeface="Calibri"/>
                <a:ea typeface="Calibri"/>
                <a:cs typeface="Calibri"/>
              </a:rPr>
              <a:t>Cannot use COPY INTO as we are ingesting the same file name. </a:t>
            </a:r>
          </a:p>
          <a:p>
            <a:pPr marL="285750" indent="-285750">
              <a:buFont typeface="Arial"/>
              <a:buChar char="•"/>
            </a:pPr>
            <a:endParaRPr lang="en-US" sz="1400">
              <a:solidFill>
                <a:schemeClr val="accent5">
                  <a:lumMod val="49000"/>
                </a:schemeClr>
              </a:solidFill>
              <a:latin typeface="Calibri"/>
              <a:ea typeface="Calibri"/>
              <a:cs typeface="Calibri"/>
            </a:endParaRPr>
          </a:p>
          <a:p>
            <a:pPr marL="285750" indent="-285750">
              <a:buFont typeface="Arial"/>
              <a:buChar char="•"/>
            </a:pPr>
            <a:endParaRPr lang="en-US" sz="1400">
              <a:solidFill>
                <a:schemeClr val="accent5">
                  <a:lumMod val="49000"/>
                </a:schemeClr>
              </a:solidFill>
              <a:latin typeface="Calibri"/>
              <a:ea typeface="Calibri"/>
              <a:cs typeface="Calibri"/>
            </a:endParaRPr>
          </a:p>
        </p:txBody>
      </p:sp>
      <p:sp>
        <p:nvSpPr>
          <p:cNvPr id="12" name="Rectangle: Rounded Corners 11">
            <a:extLst>
              <a:ext uri="{FF2B5EF4-FFF2-40B4-BE49-F238E27FC236}">
                <a16:creationId xmlns:a16="http://schemas.microsoft.com/office/drawing/2014/main" id="{CB224ACE-481A-0166-81EA-B01B0580EEF8}"/>
              </a:ext>
            </a:extLst>
          </p:cNvPr>
          <p:cNvSpPr/>
          <p:nvPr/>
        </p:nvSpPr>
        <p:spPr>
          <a:xfrm>
            <a:off x="583222" y="1910693"/>
            <a:ext cx="4695748" cy="654545"/>
          </a:xfrm>
          <a:prstGeom prst="roundRect">
            <a:avLst/>
          </a:prstGeom>
          <a:solidFill>
            <a:srgbClr val="0E2A4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a:buChar char="•"/>
            </a:pPr>
            <a:endParaRPr lang="en-US" sz="1500">
              <a:solidFill>
                <a:srgbClr val="000000"/>
              </a:solidFill>
              <a:latin typeface="Calibri"/>
              <a:ea typeface="Calibri"/>
              <a:cs typeface="Calibri"/>
            </a:endParaRPr>
          </a:p>
          <a:p>
            <a:pPr algn="ctr"/>
            <a:endParaRPr lang="en-US" sz="1400">
              <a:solidFill>
                <a:schemeClr val="bg1"/>
              </a:solidFill>
              <a:latin typeface="Calibri"/>
              <a:ea typeface="Calibri"/>
              <a:cs typeface="Calibri"/>
            </a:endParaRPr>
          </a:p>
        </p:txBody>
      </p:sp>
      <p:sp>
        <p:nvSpPr>
          <p:cNvPr id="13" name="TextBox 12">
            <a:extLst>
              <a:ext uri="{FF2B5EF4-FFF2-40B4-BE49-F238E27FC236}">
                <a16:creationId xmlns:a16="http://schemas.microsoft.com/office/drawing/2014/main" id="{55611DBA-25E2-D2EA-C82C-3AE31D4BB478}"/>
              </a:ext>
            </a:extLst>
          </p:cNvPr>
          <p:cNvSpPr txBox="1"/>
          <p:nvPr/>
        </p:nvSpPr>
        <p:spPr>
          <a:xfrm>
            <a:off x="704849" y="1952624"/>
            <a:ext cx="44195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chemeClr val="bg1"/>
                </a:solidFill>
                <a:latin typeface="Calibri"/>
                <a:ea typeface="Calibri"/>
                <a:cs typeface="Calibri"/>
              </a:rPr>
              <a:t>Only new and updated rows are appended  </a:t>
            </a:r>
            <a:endParaRPr lang="en-US">
              <a:solidFill>
                <a:schemeClr val="bg1"/>
              </a:solidFill>
              <a:latin typeface="Neue Haas Grotesk Text Pro"/>
              <a:ea typeface="Calibri"/>
              <a:cs typeface="Calibri"/>
            </a:endParaRPr>
          </a:p>
          <a:p>
            <a:pPr algn="ctr"/>
            <a:r>
              <a:rPr lang="en-US" sz="1500">
                <a:solidFill>
                  <a:schemeClr val="bg1"/>
                </a:solidFill>
                <a:latin typeface="Calibri"/>
                <a:ea typeface="Calibri"/>
                <a:cs typeface="Calibri"/>
              </a:rPr>
              <a:t>into bronze tables.</a:t>
            </a:r>
            <a:endParaRPr lang="en-US">
              <a:solidFill>
                <a:schemeClr val="bg1"/>
              </a:solidFill>
            </a:endParaRPr>
          </a:p>
          <a:p>
            <a:pPr algn="l"/>
            <a:endParaRPr lang="en-US"/>
          </a:p>
        </p:txBody>
      </p:sp>
    </p:spTree>
    <p:extLst>
      <p:ext uri="{BB962C8B-B14F-4D97-AF65-F5344CB8AC3E}">
        <p14:creationId xmlns:p14="http://schemas.microsoft.com/office/powerpoint/2010/main" val="2665790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0E9302-4605-514A-A1EF-5FD3DFCC0855}"/>
              </a:ext>
            </a:extLst>
          </p:cNvPr>
          <p:cNvPicPr>
            <a:picLocks noChangeAspect="1"/>
          </p:cNvPicPr>
          <p:nvPr/>
        </p:nvPicPr>
        <p:blipFill>
          <a:blip r:embed="rId3"/>
          <a:stretch>
            <a:fillRect/>
          </a:stretch>
        </p:blipFill>
        <p:spPr>
          <a:xfrm>
            <a:off x="6259666" y="1621758"/>
            <a:ext cx="5495925" cy="3761013"/>
          </a:xfrm>
          <a:prstGeom prst="rect">
            <a:avLst/>
          </a:prstGeom>
        </p:spPr>
      </p:pic>
      <p:sp>
        <p:nvSpPr>
          <p:cNvPr id="8" name="Title 6">
            <a:extLst>
              <a:ext uri="{FF2B5EF4-FFF2-40B4-BE49-F238E27FC236}">
                <a16:creationId xmlns:a16="http://schemas.microsoft.com/office/drawing/2014/main" id="{38504987-8996-600E-F827-E7E85F783EB6}"/>
              </a:ext>
            </a:extLst>
          </p:cNvPr>
          <p:cNvSpPr>
            <a:spLocks noGrp="1"/>
          </p:cNvSpPr>
          <p:nvPr>
            <p:ph type="title"/>
          </p:nvPr>
        </p:nvSpPr>
        <p:spPr>
          <a:xfrm>
            <a:off x="-18288" y="644663"/>
            <a:ext cx="12001592" cy="1088358"/>
          </a:xfrm>
        </p:spPr>
        <p:txBody>
          <a:bodyPr/>
          <a:lstStyle/>
          <a:p>
            <a:r>
              <a:rPr lang="en-US" sz="3600" b="1">
                <a:solidFill>
                  <a:srgbClr val="FFFFFF"/>
                </a:solidFill>
                <a:latin typeface="Arial"/>
                <a:cs typeface="Arial"/>
              </a:rPr>
              <a:t>Ensure Idempotency: Silver [SCD Type 1 Upserts]</a:t>
            </a:r>
            <a:endParaRPr lang="en-US">
              <a:solidFill>
                <a:srgbClr val="FFFFFF"/>
              </a:solidFill>
            </a:endParaRPr>
          </a:p>
        </p:txBody>
      </p:sp>
      <p:sp>
        <p:nvSpPr>
          <p:cNvPr id="7" name="TextBox 6">
            <a:extLst>
              <a:ext uri="{FF2B5EF4-FFF2-40B4-BE49-F238E27FC236}">
                <a16:creationId xmlns:a16="http://schemas.microsoft.com/office/drawing/2014/main" id="{4A5DE908-619F-F198-C1D1-CB36DC87B6C5}"/>
              </a:ext>
            </a:extLst>
          </p:cNvPr>
          <p:cNvSpPr txBox="1"/>
          <p:nvPr/>
        </p:nvSpPr>
        <p:spPr>
          <a:xfrm>
            <a:off x="379739" y="1623631"/>
            <a:ext cx="5092974" cy="3508653"/>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pPr marL="285750" indent="-285750">
              <a:buFont typeface="Calibri,Sans-Serif"/>
              <a:buChar char="-"/>
            </a:pPr>
            <a:r>
              <a:rPr lang="en-US" sz="1600" dirty="0">
                <a:solidFill>
                  <a:srgbClr val="0E2A47"/>
                </a:solidFill>
                <a:latin typeface="Calibri"/>
                <a:ea typeface="Calibri"/>
                <a:cs typeface="Calibri"/>
              </a:rPr>
              <a:t>Adds a _</a:t>
            </a:r>
            <a:r>
              <a:rPr lang="en-US" sz="1600" dirty="0" err="1">
                <a:solidFill>
                  <a:srgbClr val="0E2A47"/>
                </a:solidFill>
                <a:latin typeface="Calibri"/>
                <a:ea typeface="Calibri"/>
                <a:cs typeface="Calibri"/>
              </a:rPr>
              <a:t>bronze_ingested_timestamp</a:t>
            </a:r>
            <a:r>
              <a:rPr lang="en-US" sz="1600" dirty="0">
                <a:solidFill>
                  <a:srgbClr val="0E2A47"/>
                </a:solidFill>
                <a:latin typeface="Calibri"/>
                <a:ea typeface="Calibri"/>
                <a:cs typeface="Calibri"/>
              </a:rPr>
              <a:t> column, silver table tracks this for latest </a:t>
            </a:r>
            <a:r>
              <a:rPr lang="en-US" sz="1600" dirty="0" err="1">
                <a:solidFill>
                  <a:srgbClr val="0E2A47"/>
                </a:solidFill>
                <a:latin typeface="Calibri"/>
                <a:ea typeface="Calibri"/>
                <a:cs typeface="Calibri"/>
              </a:rPr>
              <a:t>upserts</a:t>
            </a:r>
            <a:endParaRPr lang="en-US" sz="1600" dirty="0" err="1">
              <a:solidFill>
                <a:srgbClr val="000000"/>
              </a:solidFill>
              <a:latin typeface="Calibri"/>
              <a:ea typeface="Calibri"/>
              <a:cs typeface="Calibri"/>
            </a:endParaRP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r>
              <a:rPr lang="en-US" sz="1600" dirty="0" err="1">
                <a:solidFill>
                  <a:srgbClr val="0E2A47"/>
                </a:solidFill>
                <a:latin typeface="Calibri"/>
                <a:ea typeface="Calibri"/>
                <a:cs typeface="Calibri"/>
              </a:rPr>
              <a:t>Upsert</a:t>
            </a:r>
            <a:r>
              <a:rPr lang="en-US" sz="1600" dirty="0">
                <a:solidFill>
                  <a:srgbClr val="0E2A47"/>
                </a:solidFill>
                <a:latin typeface="Calibri"/>
                <a:ea typeface="Calibri"/>
                <a:cs typeface="Calibri"/>
              </a:rPr>
              <a:t> (Update + Insert) via Delta table merge, keyed on primary keys and the latest ingested timestamp.</a:t>
            </a:r>
          </a:p>
          <a:p>
            <a:pPr marL="285750" indent="-285750">
              <a:buFont typeface="Calibri"/>
              <a:buChar char="-"/>
            </a:pPr>
            <a:endParaRPr lang="en-US" sz="1600">
              <a:solidFill>
                <a:srgbClr val="0E2A47"/>
              </a:solidFill>
              <a:latin typeface="Calibri"/>
              <a:ea typeface="Calibri"/>
              <a:cs typeface="Calibri"/>
            </a:endParaRPr>
          </a:p>
          <a:p>
            <a:pPr marL="285750" indent="-285750">
              <a:buFont typeface="Calibri"/>
              <a:buChar char="-"/>
            </a:pPr>
            <a:r>
              <a:rPr lang="en-US" sz="1600" b="1" dirty="0">
                <a:solidFill>
                  <a:srgbClr val="0E2A47"/>
                </a:solidFill>
                <a:latin typeface="Calibri"/>
                <a:ea typeface="Calibri"/>
                <a:cs typeface="Calibri"/>
              </a:rPr>
              <a:t>Intermediate silver tables are recreated every run; so are gold tables (due to aggregations and joins)</a:t>
            </a:r>
          </a:p>
          <a:p>
            <a:endParaRPr lang="en-US" sz="950" b="1">
              <a:solidFill>
                <a:srgbClr val="FF0000"/>
              </a:solidFill>
              <a:latin typeface="Calibri"/>
              <a:ea typeface="Arial"/>
              <a:cs typeface="Arial"/>
            </a:endParaRPr>
          </a:p>
          <a:p>
            <a:endParaRPr lang="en-US" sz="950">
              <a:solidFill>
                <a:srgbClr val="444444"/>
              </a:solidFill>
              <a:latin typeface="Calibri"/>
              <a:ea typeface="Arial"/>
              <a:cs typeface="Arial"/>
            </a:endParaRPr>
          </a:p>
          <a:p>
            <a:endParaRPr lang="en-US" sz="950">
              <a:solidFill>
                <a:srgbClr val="444444"/>
              </a:solidFill>
              <a:latin typeface="Calibri"/>
              <a:ea typeface="Arial"/>
              <a:cs typeface="Arial"/>
            </a:endParaRPr>
          </a:p>
          <a:p>
            <a:endParaRPr lang="en-US" sz="950">
              <a:solidFill>
                <a:srgbClr val="444444"/>
              </a:solidFill>
              <a:latin typeface="Calibri"/>
              <a:ea typeface="Arial"/>
              <a:cs typeface="Arial"/>
            </a:endParaRPr>
          </a:p>
        </p:txBody>
      </p:sp>
      <p:sp>
        <p:nvSpPr>
          <p:cNvPr id="10" name="Rectangle: Rounded Corners 9">
            <a:extLst>
              <a:ext uri="{FF2B5EF4-FFF2-40B4-BE49-F238E27FC236}">
                <a16:creationId xmlns:a16="http://schemas.microsoft.com/office/drawing/2014/main" id="{B60C4B25-0187-482B-A186-1F5D9FD8D5A5}"/>
              </a:ext>
            </a:extLst>
          </p:cNvPr>
          <p:cNvSpPr/>
          <p:nvPr/>
        </p:nvSpPr>
        <p:spPr>
          <a:xfrm>
            <a:off x="583222" y="1733998"/>
            <a:ext cx="4695748" cy="654545"/>
          </a:xfrm>
          <a:prstGeom prst="roundRect">
            <a:avLst/>
          </a:prstGeom>
          <a:solidFill>
            <a:srgbClr val="0E2A4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a:buChar char="•"/>
            </a:pPr>
            <a:endParaRPr lang="en-US" sz="1500">
              <a:solidFill>
                <a:srgbClr val="000000"/>
              </a:solidFill>
              <a:latin typeface="Calibri"/>
              <a:ea typeface="Calibri"/>
              <a:cs typeface="Calibri"/>
            </a:endParaRPr>
          </a:p>
          <a:p>
            <a:r>
              <a:rPr lang="en-US" sz="1400">
                <a:solidFill>
                  <a:schemeClr val="bg1"/>
                </a:solidFill>
                <a:latin typeface="Calibri"/>
                <a:ea typeface="Calibri"/>
                <a:cs typeface="Calibri"/>
              </a:rPr>
              <a:t>Silver tables SCD Type 1 tables — updates overwrite, they don’t keep records of past changes.</a:t>
            </a:r>
          </a:p>
          <a:p>
            <a:pPr algn="ctr"/>
            <a:endParaRPr lang="en-US" sz="1400">
              <a:solidFill>
                <a:schemeClr val="bg1"/>
              </a:solidFill>
              <a:latin typeface="Calibri"/>
              <a:ea typeface="Calibri"/>
              <a:cs typeface="Calibri"/>
            </a:endParaRPr>
          </a:p>
        </p:txBody>
      </p:sp>
    </p:spTree>
    <p:extLst>
      <p:ext uri="{BB962C8B-B14F-4D97-AF65-F5344CB8AC3E}">
        <p14:creationId xmlns:p14="http://schemas.microsoft.com/office/powerpoint/2010/main" val="1573615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B22F3FCE-FAE4-0206-5C67-BA8BD26954EF}"/>
              </a:ext>
            </a:extLst>
          </p:cNvPr>
          <p:cNvSpPr txBox="1"/>
          <p:nvPr/>
        </p:nvSpPr>
        <p:spPr>
          <a:xfrm>
            <a:off x="5659257" y="3755022"/>
            <a:ext cx="6536356" cy="1746632"/>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a:p>
        </p:txBody>
      </p:sp>
      <p:sp>
        <p:nvSpPr>
          <p:cNvPr id="18" name="TextBox 17">
            <a:extLst>
              <a:ext uri="{FF2B5EF4-FFF2-40B4-BE49-F238E27FC236}">
                <a16:creationId xmlns:a16="http://schemas.microsoft.com/office/drawing/2014/main" id="{315BBCE9-E563-1596-428D-921709E31D6E}"/>
              </a:ext>
            </a:extLst>
          </p:cNvPr>
          <p:cNvSpPr txBox="1"/>
          <p:nvPr/>
        </p:nvSpPr>
        <p:spPr>
          <a:xfrm>
            <a:off x="-4206" y="3763488"/>
            <a:ext cx="5410656" cy="171585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endParaRPr lang="en-US" sz="950">
              <a:solidFill>
                <a:srgbClr val="444444"/>
              </a:solidFill>
              <a:latin typeface="Arial"/>
              <a:ea typeface="Calibri"/>
              <a:cs typeface="Arial"/>
            </a:endParaRPr>
          </a:p>
          <a:p>
            <a:endParaRPr lang="en-US"/>
          </a:p>
          <a:p>
            <a:endParaRPr lang="en-US"/>
          </a:p>
          <a:p>
            <a:endParaRPr lang="en-US"/>
          </a:p>
        </p:txBody>
      </p:sp>
      <p:sp>
        <p:nvSpPr>
          <p:cNvPr id="17" name="TextBox 16">
            <a:extLst>
              <a:ext uri="{FF2B5EF4-FFF2-40B4-BE49-F238E27FC236}">
                <a16:creationId xmlns:a16="http://schemas.microsoft.com/office/drawing/2014/main" id="{31D9B643-9C8B-760A-CC2C-5B4FA00DBF02}"/>
              </a:ext>
            </a:extLst>
          </p:cNvPr>
          <p:cNvSpPr txBox="1"/>
          <p:nvPr/>
        </p:nvSpPr>
        <p:spPr>
          <a:xfrm>
            <a:off x="5657760" y="1723026"/>
            <a:ext cx="6537763" cy="1239864"/>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sz="950">
              <a:solidFill>
                <a:srgbClr val="444444"/>
              </a:solidFill>
              <a:latin typeface="Arial"/>
              <a:ea typeface="Calibri"/>
              <a:cs typeface="Arial"/>
            </a:endParaRPr>
          </a:p>
          <a:p>
            <a:endParaRPr lang="en-US"/>
          </a:p>
          <a:p>
            <a:endParaRPr lang="en-US"/>
          </a:p>
        </p:txBody>
      </p:sp>
      <p:sp>
        <p:nvSpPr>
          <p:cNvPr id="15" name="TextBox 14">
            <a:extLst>
              <a:ext uri="{FF2B5EF4-FFF2-40B4-BE49-F238E27FC236}">
                <a16:creationId xmlns:a16="http://schemas.microsoft.com/office/drawing/2014/main" id="{165D3569-EE85-B243-3EC9-4FD9254FA9E3}"/>
              </a:ext>
            </a:extLst>
          </p:cNvPr>
          <p:cNvSpPr txBox="1"/>
          <p:nvPr/>
        </p:nvSpPr>
        <p:spPr>
          <a:xfrm>
            <a:off x="2357" y="1745490"/>
            <a:ext cx="5469594" cy="1205650"/>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pPr marL="285750" indent="-285750">
              <a:buFont typeface="Arial"/>
              <a:buChar char="•"/>
            </a:pPr>
            <a:endParaRPr lang="en-US" sz="1400">
              <a:solidFill>
                <a:srgbClr val="5B7186"/>
              </a:solidFill>
              <a:latin typeface="Calibri"/>
              <a:ea typeface="Calibri"/>
              <a:cs typeface="Calibri"/>
            </a:endParaRPr>
          </a:p>
          <a:p>
            <a:endParaRPr lang="en-US" sz="950">
              <a:solidFill>
                <a:srgbClr val="444444"/>
              </a:solidFill>
              <a:latin typeface="Arial"/>
              <a:ea typeface="Calibri"/>
              <a:cs typeface="Arial"/>
            </a:endParaRPr>
          </a:p>
          <a:p>
            <a:endParaRPr lang="en-US"/>
          </a:p>
        </p:txBody>
      </p:sp>
      <p:pic>
        <p:nvPicPr>
          <p:cNvPr id="4" name="Picture 3" descr="A screenshot of a computer&#10;&#10;AI-generated content may be incorrect.">
            <a:extLst>
              <a:ext uri="{FF2B5EF4-FFF2-40B4-BE49-F238E27FC236}">
                <a16:creationId xmlns:a16="http://schemas.microsoft.com/office/drawing/2014/main" id="{9D60E06F-AFAC-61A6-AE1F-CEC2B4627954}"/>
              </a:ext>
            </a:extLst>
          </p:cNvPr>
          <p:cNvPicPr>
            <a:picLocks noChangeAspect="1"/>
          </p:cNvPicPr>
          <p:nvPr/>
        </p:nvPicPr>
        <p:blipFill>
          <a:blip r:embed="rId2"/>
          <a:srcRect l="-291" r="30590" b="651"/>
          <a:stretch>
            <a:fillRect/>
          </a:stretch>
        </p:blipFill>
        <p:spPr>
          <a:xfrm>
            <a:off x="5804839" y="1911867"/>
            <a:ext cx="6193170" cy="909298"/>
          </a:xfrm>
          <a:prstGeom prst="rect">
            <a:avLst/>
          </a:prstGeom>
        </p:spPr>
      </p:pic>
      <p:pic>
        <p:nvPicPr>
          <p:cNvPr id="5" name="Picture 4" descr="A computer screen shot of text&#10;&#10;AI-generated content may be incorrect.">
            <a:extLst>
              <a:ext uri="{FF2B5EF4-FFF2-40B4-BE49-F238E27FC236}">
                <a16:creationId xmlns:a16="http://schemas.microsoft.com/office/drawing/2014/main" id="{3D88A71F-53A0-7A18-95DC-BAD10395F75C}"/>
              </a:ext>
            </a:extLst>
          </p:cNvPr>
          <p:cNvPicPr>
            <a:picLocks noChangeAspect="1"/>
          </p:cNvPicPr>
          <p:nvPr/>
        </p:nvPicPr>
        <p:blipFill>
          <a:blip r:embed="rId3"/>
          <a:srcRect l="25" r="23267"/>
          <a:stretch>
            <a:fillRect/>
          </a:stretch>
        </p:blipFill>
        <p:spPr>
          <a:xfrm>
            <a:off x="-4206" y="4081481"/>
            <a:ext cx="5259220" cy="126954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15B415BE-943A-D6D2-224A-879C715DAD47}"/>
              </a:ext>
            </a:extLst>
          </p:cNvPr>
          <p:cNvPicPr>
            <a:picLocks noChangeAspect="1"/>
          </p:cNvPicPr>
          <p:nvPr/>
        </p:nvPicPr>
        <p:blipFill>
          <a:blip r:embed="rId4"/>
          <a:srcRect t="9917" b="2479"/>
          <a:stretch>
            <a:fillRect/>
          </a:stretch>
        </p:blipFill>
        <p:spPr>
          <a:xfrm>
            <a:off x="5871516" y="3843826"/>
            <a:ext cx="5109583" cy="1390861"/>
          </a:xfrm>
          <a:prstGeom prst="rect">
            <a:avLst/>
          </a:prstGeom>
        </p:spPr>
      </p:pic>
      <p:pic>
        <p:nvPicPr>
          <p:cNvPr id="7" name="Picture 6" descr="A black and white text&#10;&#10;AI-generated content may be incorrect.">
            <a:extLst>
              <a:ext uri="{FF2B5EF4-FFF2-40B4-BE49-F238E27FC236}">
                <a16:creationId xmlns:a16="http://schemas.microsoft.com/office/drawing/2014/main" id="{7C509179-0C6A-8CDF-7CA1-7F781F3F38C3}"/>
              </a:ext>
            </a:extLst>
          </p:cNvPr>
          <p:cNvPicPr>
            <a:picLocks noChangeAspect="1"/>
          </p:cNvPicPr>
          <p:nvPr/>
        </p:nvPicPr>
        <p:blipFill>
          <a:blip r:embed="rId5"/>
          <a:stretch>
            <a:fillRect/>
          </a:stretch>
        </p:blipFill>
        <p:spPr>
          <a:xfrm>
            <a:off x="191389" y="2020050"/>
            <a:ext cx="4769956" cy="629340"/>
          </a:xfrm>
          <a:prstGeom prst="rect">
            <a:avLst/>
          </a:prstGeom>
        </p:spPr>
      </p:pic>
      <p:sp>
        <p:nvSpPr>
          <p:cNvPr id="9" name="Title 6">
            <a:extLst>
              <a:ext uri="{FF2B5EF4-FFF2-40B4-BE49-F238E27FC236}">
                <a16:creationId xmlns:a16="http://schemas.microsoft.com/office/drawing/2014/main" id="{91D91009-BA88-D2DE-8CF7-E7D9FF0C2335}"/>
              </a:ext>
            </a:extLst>
          </p:cNvPr>
          <p:cNvSpPr txBox="1">
            <a:spLocks/>
          </p:cNvSpPr>
          <p:nvPr/>
        </p:nvSpPr>
        <p:spPr>
          <a:xfrm>
            <a:off x="316330" y="501957"/>
            <a:ext cx="12001592" cy="1088358"/>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r>
              <a:rPr lang="en-US" sz="3600" b="1">
                <a:solidFill>
                  <a:srgbClr val="FFFFFF"/>
                </a:solidFill>
                <a:latin typeface="Arial"/>
                <a:cs typeface="Arial"/>
              </a:rPr>
              <a:t>Quick Example: Row Update in </a:t>
            </a:r>
            <a:r>
              <a:rPr lang="en-US" sz="3600" b="1" err="1">
                <a:solidFill>
                  <a:srgbClr val="FFFFFF"/>
                </a:solidFill>
                <a:latin typeface="Arial"/>
                <a:cs typeface="Arial"/>
              </a:rPr>
              <a:t>Player_Info</a:t>
            </a:r>
            <a:r>
              <a:rPr lang="en-US" sz="3600" b="1">
                <a:solidFill>
                  <a:srgbClr val="FFFFFF"/>
                </a:solidFill>
                <a:latin typeface="Arial"/>
                <a:cs typeface="Arial"/>
              </a:rPr>
              <a:t> Dataset</a:t>
            </a:r>
          </a:p>
        </p:txBody>
      </p:sp>
      <p:sp>
        <p:nvSpPr>
          <p:cNvPr id="21" name="TextBox 20">
            <a:extLst>
              <a:ext uri="{FF2B5EF4-FFF2-40B4-BE49-F238E27FC236}">
                <a16:creationId xmlns:a16="http://schemas.microsoft.com/office/drawing/2014/main" id="{F5B2CAC6-AF92-E8E0-4437-605B13789D37}"/>
              </a:ext>
            </a:extLst>
          </p:cNvPr>
          <p:cNvSpPr txBox="1"/>
          <p:nvPr/>
        </p:nvSpPr>
        <p:spPr>
          <a:xfrm>
            <a:off x="539197" y="1422537"/>
            <a:ext cx="44195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solidFill>
                  <a:srgbClr val="FFFFFF"/>
                </a:solidFill>
                <a:latin typeface="Calibri"/>
                <a:ea typeface="Calibri"/>
                <a:cs typeface="Calibri"/>
              </a:rPr>
              <a:t>Player 8466148's original nationality is SVK</a:t>
            </a:r>
            <a:endParaRPr lang="en-US" dirty="0">
              <a:solidFill>
                <a:srgbClr val="FFFFFF"/>
              </a:solidFill>
            </a:endParaRPr>
          </a:p>
        </p:txBody>
      </p:sp>
      <p:sp>
        <p:nvSpPr>
          <p:cNvPr id="22" name="TextBox 21">
            <a:extLst>
              <a:ext uri="{FF2B5EF4-FFF2-40B4-BE49-F238E27FC236}">
                <a16:creationId xmlns:a16="http://schemas.microsoft.com/office/drawing/2014/main" id="{A6F2ECE3-2FE5-E008-FBED-FBFFED189511}"/>
              </a:ext>
            </a:extLst>
          </p:cNvPr>
          <p:cNvSpPr txBox="1"/>
          <p:nvPr/>
        </p:nvSpPr>
        <p:spPr>
          <a:xfrm>
            <a:off x="6013715" y="1391984"/>
            <a:ext cx="598593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solidFill>
                  <a:srgbClr val="FFFFFF"/>
                </a:solidFill>
                <a:latin typeface="Calibri"/>
                <a:ea typeface="Calibri"/>
                <a:cs typeface="Calibri"/>
              </a:rPr>
              <a:t>Create a new player_info.csv with an updated nationality</a:t>
            </a:r>
            <a:endParaRPr lang="en-US">
              <a:solidFill>
                <a:srgbClr val="FFFFFF"/>
              </a:solidFill>
            </a:endParaRPr>
          </a:p>
        </p:txBody>
      </p:sp>
      <p:sp>
        <p:nvSpPr>
          <p:cNvPr id="23" name="TextBox 22">
            <a:extLst>
              <a:ext uri="{FF2B5EF4-FFF2-40B4-BE49-F238E27FC236}">
                <a16:creationId xmlns:a16="http://schemas.microsoft.com/office/drawing/2014/main" id="{97908DE6-C4D8-8F3C-45BF-981461D2BD25}"/>
              </a:ext>
            </a:extLst>
          </p:cNvPr>
          <p:cNvSpPr txBox="1"/>
          <p:nvPr/>
        </p:nvSpPr>
        <p:spPr>
          <a:xfrm>
            <a:off x="561283" y="3432450"/>
            <a:ext cx="44195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solidFill>
                  <a:srgbClr val="FFFFFF"/>
                </a:solidFill>
                <a:latin typeface="Calibri"/>
                <a:ea typeface="Calibri"/>
                <a:cs typeface="Calibri"/>
              </a:rPr>
              <a:t>Final run from the silver phase shows merge done</a:t>
            </a:r>
          </a:p>
        </p:txBody>
      </p:sp>
      <p:sp>
        <p:nvSpPr>
          <p:cNvPr id="24" name="TextBox 23">
            <a:extLst>
              <a:ext uri="{FF2B5EF4-FFF2-40B4-BE49-F238E27FC236}">
                <a16:creationId xmlns:a16="http://schemas.microsoft.com/office/drawing/2014/main" id="{FBDC7FD2-6FEA-0C61-D54F-DB63FFDC4A12}"/>
              </a:ext>
            </a:extLst>
          </p:cNvPr>
          <p:cNvSpPr txBox="1"/>
          <p:nvPr/>
        </p:nvSpPr>
        <p:spPr>
          <a:xfrm>
            <a:off x="5972588" y="3432449"/>
            <a:ext cx="44195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solidFill>
                  <a:srgbClr val="FFFFFF"/>
                </a:solidFill>
                <a:latin typeface="Calibri"/>
                <a:ea typeface="Calibri"/>
                <a:cs typeface="Calibri"/>
              </a:rPr>
              <a:t>Confirm with SQL on the silver table</a:t>
            </a:r>
          </a:p>
        </p:txBody>
      </p:sp>
      <p:sp>
        <p:nvSpPr>
          <p:cNvPr id="27" name="Text 3">
            <a:extLst>
              <a:ext uri="{FF2B5EF4-FFF2-40B4-BE49-F238E27FC236}">
                <a16:creationId xmlns:a16="http://schemas.microsoft.com/office/drawing/2014/main" id="{8949CA54-CBE3-A9F3-E811-66AA86CF5AE5}"/>
              </a:ext>
            </a:extLst>
          </p:cNvPr>
          <p:cNvSpPr txBox="1"/>
          <p:nvPr/>
        </p:nvSpPr>
        <p:spPr>
          <a:xfrm>
            <a:off x="193481" y="3432820"/>
            <a:ext cx="348092" cy="326004"/>
          </a:xfrm>
          <a:prstGeom prst="flowChartConnector">
            <a:avLst/>
          </a:prstGeom>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solidFill>
                  <a:srgbClr val="FFFFFF"/>
                </a:solidFill>
                <a:latin typeface="Arial"/>
                <a:cs typeface="Arial"/>
              </a:rPr>
              <a:t>2.1</a:t>
            </a:r>
            <a:endParaRPr lang="en-US" sz="1200"/>
          </a:p>
        </p:txBody>
      </p:sp>
      <p:sp>
        <p:nvSpPr>
          <p:cNvPr id="29" name="Text 3">
            <a:extLst>
              <a:ext uri="{FF2B5EF4-FFF2-40B4-BE49-F238E27FC236}">
                <a16:creationId xmlns:a16="http://schemas.microsoft.com/office/drawing/2014/main" id="{61DD0DE6-D17C-BC08-5EF6-76E8FEFE7D5E}"/>
              </a:ext>
            </a:extLst>
          </p:cNvPr>
          <p:cNvSpPr txBox="1"/>
          <p:nvPr/>
        </p:nvSpPr>
        <p:spPr>
          <a:xfrm>
            <a:off x="5626872" y="3432820"/>
            <a:ext cx="348092" cy="326004"/>
          </a:xfrm>
          <a:prstGeom prst="flowChartConnector">
            <a:avLst/>
          </a:prstGeom>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solidFill>
                  <a:srgbClr val="FFFFFF"/>
                </a:solidFill>
                <a:latin typeface="Arial"/>
                <a:cs typeface="Arial"/>
              </a:rPr>
              <a:t>2.2</a:t>
            </a:r>
            <a:endParaRPr lang="en-US" sz="1200"/>
          </a:p>
        </p:txBody>
      </p:sp>
      <p:sp>
        <p:nvSpPr>
          <p:cNvPr id="30" name="Text 3">
            <a:extLst>
              <a:ext uri="{FF2B5EF4-FFF2-40B4-BE49-F238E27FC236}">
                <a16:creationId xmlns:a16="http://schemas.microsoft.com/office/drawing/2014/main" id="{F5958454-43EE-8E79-871D-670E723FBEFF}"/>
              </a:ext>
            </a:extLst>
          </p:cNvPr>
          <p:cNvSpPr txBox="1"/>
          <p:nvPr/>
        </p:nvSpPr>
        <p:spPr>
          <a:xfrm>
            <a:off x="149307" y="1400820"/>
            <a:ext cx="348092" cy="326004"/>
          </a:xfrm>
          <a:prstGeom prst="flowChartConnector">
            <a:avLst/>
          </a:prstGeom>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solidFill>
                  <a:srgbClr val="FFFFFF"/>
                </a:solidFill>
                <a:latin typeface="Arial"/>
                <a:cs typeface="Arial"/>
              </a:rPr>
              <a:t>1.1</a:t>
            </a:r>
            <a:endParaRPr lang="en-US" sz="1200"/>
          </a:p>
        </p:txBody>
      </p:sp>
      <p:sp>
        <p:nvSpPr>
          <p:cNvPr id="31" name="Text 3">
            <a:extLst>
              <a:ext uri="{FF2B5EF4-FFF2-40B4-BE49-F238E27FC236}">
                <a16:creationId xmlns:a16="http://schemas.microsoft.com/office/drawing/2014/main" id="{2D5692DF-1688-36B7-3A38-9D2F7C861A62}"/>
              </a:ext>
            </a:extLst>
          </p:cNvPr>
          <p:cNvSpPr txBox="1"/>
          <p:nvPr/>
        </p:nvSpPr>
        <p:spPr>
          <a:xfrm>
            <a:off x="5624207" y="1389776"/>
            <a:ext cx="348092" cy="326004"/>
          </a:xfrm>
          <a:prstGeom prst="flowChartConnector">
            <a:avLst/>
          </a:prstGeom>
          <a:ln w="28575">
            <a:noFill/>
          </a:ln>
        </p:spPr>
        <p:style>
          <a:lnRef idx="3">
            <a:schemeClr val="lt1"/>
          </a:lnRef>
          <a:fillRef idx="1">
            <a:schemeClr val="dk1"/>
          </a:fillRef>
          <a:effectRef idx="1">
            <a:schemeClr val="dk1"/>
          </a:effectRef>
          <a:fontRef idx="minor">
            <a:schemeClr val="lt1"/>
          </a:fontRef>
        </p:style>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solidFill>
                  <a:srgbClr val="FFFFFF"/>
                </a:solidFill>
                <a:latin typeface="Arial"/>
                <a:cs typeface="Arial"/>
              </a:rPr>
              <a:t>1.2</a:t>
            </a:r>
          </a:p>
        </p:txBody>
      </p:sp>
    </p:spTree>
    <p:extLst>
      <p:ext uri="{BB962C8B-B14F-4D97-AF65-F5344CB8AC3E}">
        <p14:creationId xmlns:p14="http://schemas.microsoft.com/office/powerpoint/2010/main" val="3667844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2311-9A07-8969-F61D-7EF4F343E93B}"/>
              </a:ext>
            </a:extLst>
          </p:cNvPr>
          <p:cNvSpPr>
            <a:spLocks noGrp="1"/>
          </p:cNvSpPr>
          <p:nvPr>
            <p:ph type="title"/>
          </p:nvPr>
        </p:nvSpPr>
        <p:spPr/>
        <p:txBody>
          <a:bodyPr>
            <a:normAutofit/>
          </a:bodyPr>
          <a:lstStyle/>
          <a:p>
            <a:r>
              <a:rPr lang="en-US" sz="3600" b="1" dirty="0">
                <a:solidFill>
                  <a:srgbClr val="FFFFFF"/>
                </a:solidFill>
                <a:latin typeface="Arial"/>
                <a:cs typeface="Arial"/>
              </a:rPr>
              <a:t>Optimization and Improvements</a:t>
            </a:r>
          </a:p>
        </p:txBody>
      </p:sp>
      <p:sp>
        <p:nvSpPr>
          <p:cNvPr id="3" name="Content Placeholder 2">
            <a:extLst>
              <a:ext uri="{FF2B5EF4-FFF2-40B4-BE49-F238E27FC236}">
                <a16:creationId xmlns:a16="http://schemas.microsoft.com/office/drawing/2014/main" id="{C047CBD5-2FC7-3E00-444A-08EF84028CE7}"/>
              </a:ext>
            </a:extLst>
          </p:cNvPr>
          <p:cNvSpPr>
            <a:spLocks noGrp="1"/>
          </p:cNvSpPr>
          <p:nvPr>
            <p:ph idx="1"/>
          </p:nvPr>
        </p:nvSpPr>
        <p:spPr>
          <a:xfrm>
            <a:off x="267063" y="1391843"/>
            <a:ext cx="5105083" cy="4878271"/>
          </a:xfrm>
        </p:spPr>
        <p:txBody>
          <a:bodyPr vert="horz" lIns="91440" tIns="45720" rIns="91440" bIns="45720" rtlCol="0" anchor="t">
            <a:normAutofit/>
          </a:bodyPr>
          <a:lstStyle/>
          <a:p>
            <a:r>
              <a:rPr lang="en-US" sz="1600" b="1">
                <a:solidFill>
                  <a:srgbClr val="FFFFFF"/>
                </a:solidFill>
                <a:latin typeface="Calibri"/>
                <a:ea typeface="Calibri"/>
                <a:cs typeface="Calibri"/>
              </a:rPr>
              <a:t>Optimization</a:t>
            </a:r>
          </a:p>
          <a:p>
            <a:pPr marL="285750" indent="-285750">
              <a:buFont typeface="Calibri" panose="020B0604020202020204" pitchFamily="34" charset="0"/>
              <a:buChar char="-"/>
            </a:pPr>
            <a:r>
              <a:rPr lang="en-US" sz="1600" b="1">
                <a:solidFill>
                  <a:srgbClr val="FFFFFF"/>
                </a:solidFill>
                <a:latin typeface="Calibri"/>
                <a:ea typeface="Calibri"/>
                <a:cs typeface="Calibri"/>
              </a:rPr>
              <a:t>Flexibility</a:t>
            </a:r>
            <a:r>
              <a:rPr lang="en-US" sz="1600">
                <a:solidFill>
                  <a:srgbClr val="FFFFFF"/>
                </a:solidFill>
                <a:latin typeface="Calibri"/>
                <a:ea typeface="Calibri"/>
                <a:cs typeface="Calibri"/>
              </a:rPr>
              <a:t>:</a:t>
            </a:r>
          </a:p>
          <a:p>
            <a:pPr marL="514350" lvl="1" indent="-285750">
              <a:buFont typeface="Courier New" panose="020B0604020202020204" pitchFamily="34" charset="0"/>
              <a:buChar char="o"/>
            </a:pPr>
            <a:r>
              <a:rPr lang="en-US" sz="1600">
                <a:solidFill>
                  <a:srgbClr val="FFFFFF"/>
                </a:solidFill>
                <a:latin typeface="Calibri"/>
                <a:ea typeface="Calibri"/>
                <a:cs typeface="Calibri"/>
              </a:rPr>
              <a:t>Use </a:t>
            </a:r>
            <a:r>
              <a:rPr lang="en-US" sz="1600" err="1">
                <a:solidFill>
                  <a:srgbClr val="FFFFFF"/>
                </a:solidFill>
                <a:latin typeface="Calibri"/>
                <a:ea typeface="Calibri"/>
                <a:cs typeface="Calibri"/>
              </a:rPr>
              <a:t>metatable</a:t>
            </a:r>
            <a:r>
              <a:rPr lang="en-US" sz="1600">
                <a:solidFill>
                  <a:srgbClr val="FFFFFF"/>
                </a:solidFill>
                <a:latin typeface="Calibri"/>
                <a:ea typeface="Calibri"/>
                <a:cs typeface="Calibri"/>
              </a:rPr>
              <a:t>, </a:t>
            </a:r>
            <a:r>
              <a:rPr lang="en-US" sz="1600" err="1">
                <a:solidFill>
                  <a:srgbClr val="FFFFFF"/>
                </a:solidFill>
                <a:latin typeface="Calibri"/>
                <a:ea typeface="Calibri"/>
                <a:cs typeface="Calibri"/>
              </a:rPr>
              <a:t>dbo.config_datasets</a:t>
            </a:r>
            <a:r>
              <a:rPr lang="en-US" sz="1600">
                <a:solidFill>
                  <a:srgbClr val="FFFFFF"/>
                </a:solidFill>
                <a:latin typeface="Calibri"/>
                <a:ea typeface="Calibri"/>
                <a:cs typeface="Calibri"/>
              </a:rPr>
              <a:t>, to define </a:t>
            </a:r>
            <a:r>
              <a:rPr lang="en-US" sz="1600" err="1">
                <a:solidFill>
                  <a:srgbClr val="FFFFFF"/>
                </a:solidFill>
                <a:latin typeface="Calibri"/>
                <a:ea typeface="Calibri"/>
                <a:cs typeface="Calibri"/>
              </a:rPr>
              <a:t>url</a:t>
            </a:r>
            <a:r>
              <a:rPr lang="en-US" sz="1600">
                <a:solidFill>
                  <a:srgbClr val="FFFFFF"/>
                </a:solidFill>
                <a:latin typeface="Calibri"/>
                <a:ea typeface="Calibri"/>
                <a:cs typeface="Calibri"/>
              </a:rPr>
              <a:t>, datasets and column hash to be ingested</a:t>
            </a:r>
            <a:endParaRPr lang="en-US">
              <a:solidFill>
                <a:srgbClr val="FFFFFF"/>
              </a:solidFill>
            </a:endParaRPr>
          </a:p>
          <a:p>
            <a:pPr marL="285750" indent="-285750">
              <a:buFont typeface="Calibri" panose="020B0604020202020204" pitchFamily="34" charset="0"/>
              <a:buChar char="-"/>
            </a:pPr>
            <a:r>
              <a:rPr lang="en-US" sz="1600" b="1">
                <a:solidFill>
                  <a:srgbClr val="FFFFFF"/>
                </a:solidFill>
                <a:latin typeface="Calibri"/>
                <a:ea typeface="Calibri"/>
                <a:cs typeface="Calibri"/>
              </a:rPr>
              <a:t>Performance</a:t>
            </a:r>
            <a:r>
              <a:rPr lang="en-US" sz="1600">
                <a:solidFill>
                  <a:srgbClr val="FFFFFF"/>
                </a:solidFill>
                <a:latin typeface="Calibri"/>
                <a:ea typeface="Calibri"/>
                <a:cs typeface="Calibri"/>
              </a:rPr>
              <a:t>:</a:t>
            </a:r>
            <a:endParaRPr lang="en-US">
              <a:solidFill>
                <a:srgbClr val="FFFFFF"/>
              </a:solidFill>
              <a:latin typeface="Neue Haas Grotesk Text Pro"/>
              <a:ea typeface="Calibri"/>
              <a:cs typeface="Calibri"/>
            </a:endParaRPr>
          </a:p>
          <a:p>
            <a:pPr marL="514350" lvl="1" indent="-285750">
              <a:buFont typeface="Courier New" panose="020B0604020202020204" pitchFamily="34" charset="0"/>
              <a:buChar char="o"/>
            </a:pPr>
            <a:r>
              <a:rPr lang="en-US" sz="1600">
                <a:solidFill>
                  <a:srgbClr val="FFFFFF"/>
                </a:solidFill>
                <a:latin typeface="Calibri"/>
                <a:ea typeface="Calibri"/>
                <a:cs typeface="Calibri"/>
              </a:rPr>
              <a:t>Drop use of count() unless really necessary</a:t>
            </a:r>
            <a:endParaRPr lang="en-US">
              <a:solidFill>
                <a:srgbClr val="FFFFFF"/>
              </a:solidFill>
            </a:endParaRPr>
          </a:p>
          <a:p>
            <a:pPr marL="514350" lvl="1" indent="-285750">
              <a:buFont typeface="Courier New" panose="020B0604020202020204" pitchFamily="34" charset="0"/>
              <a:buChar char="o"/>
            </a:pPr>
            <a:r>
              <a:rPr lang="en-US" sz="1600">
                <a:solidFill>
                  <a:srgbClr val="FFFFFF"/>
                </a:solidFill>
                <a:latin typeface="Calibri"/>
                <a:ea typeface="Calibri"/>
                <a:cs typeface="Calibri"/>
              </a:rPr>
              <a:t>Read/write only required columns early during bronze table creation.</a:t>
            </a:r>
          </a:p>
          <a:p>
            <a:pPr marL="514350" lvl="1" indent="-285750">
              <a:buFont typeface="Courier New" panose="020B0604020202020204" pitchFamily="34" charset="0"/>
              <a:buChar char="o"/>
            </a:pPr>
            <a:r>
              <a:rPr lang="en-US" sz="1600">
                <a:solidFill>
                  <a:srgbClr val="FFFFFF"/>
                </a:solidFill>
                <a:latin typeface="Calibri"/>
                <a:ea typeface="Calibri"/>
                <a:cs typeface="Calibri"/>
              </a:rPr>
              <a:t>Use chaining effectively instead of creating yet-another-</a:t>
            </a:r>
            <a:r>
              <a:rPr lang="en-US" sz="1600" err="1">
                <a:solidFill>
                  <a:srgbClr val="FFFFFF"/>
                </a:solidFill>
                <a:latin typeface="Calibri"/>
                <a:ea typeface="Calibri"/>
                <a:cs typeface="Calibri"/>
              </a:rPr>
              <a:t>dataframe</a:t>
            </a:r>
            <a:endParaRPr lang="en-US" sz="1600">
              <a:solidFill>
                <a:srgbClr val="FFFFFF"/>
              </a:solidFill>
              <a:latin typeface="Calibri"/>
              <a:ea typeface="Calibri"/>
              <a:cs typeface="Calibri"/>
            </a:endParaRPr>
          </a:p>
          <a:p>
            <a:pPr marL="514350" lvl="1" indent="-285750">
              <a:buFont typeface="Courier New" panose="020B0604020202020204" pitchFamily="34" charset="0"/>
              <a:buChar char="o"/>
            </a:pPr>
            <a:r>
              <a:rPr lang="en-US" sz="1600">
                <a:solidFill>
                  <a:srgbClr val="FFFFFF"/>
                </a:solidFill>
                <a:latin typeface="Calibri"/>
                <a:ea typeface="Calibri"/>
                <a:cs typeface="Calibri"/>
              </a:rPr>
              <a:t>Filter early: filter run before joins and aggregations. </a:t>
            </a:r>
          </a:p>
          <a:p>
            <a:pPr marL="285750" indent="-285750">
              <a:lnSpc>
                <a:spcPct val="90000"/>
              </a:lnSpc>
              <a:buFont typeface="Calibri" panose="020B0604020202020204" pitchFamily="34" charset="0"/>
              <a:buChar char="-"/>
            </a:pPr>
            <a:r>
              <a:rPr lang="en-US" sz="1600" b="1">
                <a:solidFill>
                  <a:srgbClr val="FFFFFF"/>
                </a:solidFill>
                <a:latin typeface="Calibri"/>
                <a:ea typeface="Calibri"/>
                <a:cs typeface="Calibri"/>
              </a:rPr>
              <a:t>Schema Evolution:</a:t>
            </a:r>
          </a:p>
          <a:p>
            <a:pPr marL="514350" lvl="1" indent="-285750">
              <a:buFont typeface="Courier New" panose="020B0604020202020204" pitchFamily="34" charset="0"/>
              <a:buChar char="o"/>
            </a:pPr>
            <a:r>
              <a:rPr lang="en-US" sz="1600">
                <a:solidFill>
                  <a:srgbClr val="FFFFFF"/>
                </a:solidFill>
                <a:latin typeface="Calibri"/>
                <a:ea typeface="Calibri"/>
                <a:cs typeface="Calibri"/>
              </a:rPr>
              <a:t>Use auto-</a:t>
            </a:r>
            <a:r>
              <a:rPr lang="en-US" sz="1600" err="1">
                <a:solidFill>
                  <a:srgbClr val="FFFFFF"/>
                </a:solidFill>
                <a:latin typeface="Calibri"/>
                <a:ea typeface="Calibri"/>
                <a:cs typeface="Calibri"/>
              </a:rPr>
              <a:t>mergeDelta</a:t>
            </a:r>
            <a:r>
              <a:rPr lang="en-US" sz="1600">
                <a:solidFill>
                  <a:srgbClr val="FFFFFF"/>
                </a:solidFill>
                <a:latin typeface="Calibri"/>
                <a:ea typeface="Calibri"/>
                <a:cs typeface="Calibri"/>
              </a:rPr>
              <a:t> schema auto-merge (</a:t>
            </a:r>
            <a:r>
              <a:rPr lang="en-US" sz="1600" err="1">
                <a:solidFill>
                  <a:srgbClr val="FFFFFF"/>
                </a:solidFill>
                <a:latin typeface="Calibri"/>
                <a:ea typeface="Calibri"/>
                <a:cs typeface="Calibri"/>
              </a:rPr>
              <a:t>autoMerge.enabled</a:t>
            </a:r>
            <a:r>
              <a:rPr lang="en-US" sz="1600">
                <a:solidFill>
                  <a:srgbClr val="FFFFFF"/>
                </a:solidFill>
                <a:latin typeface="Calibri"/>
                <a:ea typeface="Calibri"/>
                <a:cs typeface="Calibri"/>
              </a:rPr>
              <a:t>): this handles schema drift without manual table rebuilds.</a:t>
            </a:r>
            <a:endParaRPr lang="en-US">
              <a:solidFill>
                <a:srgbClr val="FFFFFF"/>
              </a:solidFill>
              <a:latin typeface="Neue Haas Grotesk Text Pro"/>
              <a:ea typeface="Calibri"/>
              <a:cs typeface="Calibri"/>
            </a:endParaRPr>
          </a:p>
        </p:txBody>
      </p:sp>
      <p:sp>
        <p:nvSpPr>
          <p:cNvPr id="5" name="Content Placeholder 2">
            <a:extLst>
              <a:ext uri="{FF2B5EF4-FFF2-40B4-BE49-F238E27FC236}">
                <a16:creationId xmlns:a16="http://schemas.microsoft.com/office/drawing/2014/main" id="{FA3241A9-5A7E-593A-F23B-CF878EF4C7FB}"/>
              </a:ext>
            </a:extLst>
          </p:cNvPr>
          <p:cNvSpPr txBox="1">
            <a:spLocks/>
          </p:cNvSpPr>
          <p:nvPr/>
        </p:nvSpPr>
        <p:spPr>
          <a:xfrm>
            <a:off x="5979768" y="1388893"/>
            <a:ext cx="5439027" cy="5541480"/>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solidFill>
                  <a:srgbClr val="FFFFFF"/>
                </a:solidFill>
                <a:latin typeface="Calibri"/>
                <a:ea typeface="Calibri"/>
                <a:cs typeface="Calibri"/>
              </a:rPr>
              <a:t>Improvements</a:t>
            </a:r>
            <a:endParaRPr lang="en-US">
              <a:solidFill>
                <a:srgbClr val="FFFFFF"/>
              </a:solidFill>
            </a:endParaRPr>
          </a:p>
          <a:p>
            <a:pPr marL="285750" indent="-285750">
              <a:lnSpc>
                <a:spcPct val="90000"/>
              </a:lnSpc>
              <a:buFont typeface="Calibri" panose="020B0604020202020204" pitchFamily="34" charset="0"/>
              <a:buChar char="-"/>
            </a:pPr>
            <a:r>
              <a:rPr lang="en-US" sz="1600" b="1">
                <a:solidFill>
                  <a:srgbClr val="FFFFFF"/>
                </a:solidFill>
                <a:latin typeface="Calibri"/>
                <a:ea typeface="Calibri"/>
                <a:cs typeface="Calibri"/>
              </a:rPr>
              <a:t>Architecture &amp; Governance</a:t>
            </a:r>
          </a:p>
          <a:p>
            <a:pPr marL="514350" lvl="1" indent="-285750">
              <a:lnSpc>
                <a:spcPct val="90000"/>
              </a:lnSpc>
              <a:buFont typeface="Courier New" panose="020B0604020202020204" pitchFamily="34" charset="0"/>
              <a:buChar char="o"/>
            </a:pPr>
            <a:r>
              <a:rPr lang="en-US" sz="1600">
                <a:solidFill>
                  <a:srgbClr val="FFFFFF"/>
                </a:solidFill>
                <a:latin typeface="Calibri"/>
                <a:ea typeface="Calibri"/>
                <a:cs typeface="Calibri"/>
              </a:rPr>
              <a:t>Implement dedicated Bronze, Silver, and Gold </a:t>
            </a:r>
            <a:r>
              <a:rPr lang="en-US" sz="1600" err="1">
                <a:solidFill>
                  <a:srgbClr val="FFFFFF"/>
                </a:solidFill>
                <a:latin typeface="Calibri"/>
                <a:ea typeface="Calibri"/>
                <a:cs typeface="Calibri"/>
              </a:rPr>
              <a:t>Lakehouses</a:t>
            </a:r>
            <a:r>
              <a:rPr lang="en-US" sz="1600">
                <a:solidFill>
                  <a:srgbClr val="FFFFFF"/>
                </a:solidFill>
                <a:latin typeface="Calibri"/>
                <a:ea typeface="Calibri"/>
                <a:cs typeface="Calibri"/>
              </a:rPr>
              <a:t> instead of a single Lakehouse.</a:t>
            </a:r>
          </a:p>
          <a:p>
            <a:pPr marL="514350" lvl="1" indent="-285750">
              <a:lnSpc>
                <a:spcPct val="90000"/>
              </a:lnSpc>
              <a:buFont typeface="Courier New" panose="020B0604020202020204" pitchFamily="34" charset="0"/>
              <a:buChar char="o"/>
            </a:pPr>
            <a:r>
              <a:rPr lang="en-US" sz="1600">
                <a:solidFill>
                  <a:srgbClr val="FFFFFF"/>
                </a:solidFill>
                <a:latin typeface="Calibri"/>
                <a:ea typeface="Calibri"/>
                <a:cs typeface="Calibri"/>
              </a:rPr>
              <a:t>Implement a full CI/CD process with Azure DevOps for automated testing and controlled deployments.</a:t>
            </a:r>
          </a:p>
          <a:p>
            <a:pPr marL="285750" indent="-285750">
              <a:lnSpc>
                <a:spcPct val="100000"/>
              </a:lnSpc>
              <a:buFont typeface="Calibri" panose="020B0604020202020204" pitchFamily="34" charset="0"/>
              <a:buChar char="-"/>
            </a:pPr>
            <a:r>
              <a:rPr lang="en-US" sz="1600" b="1">
                <a:solidFill>
                  <a:srgbClr val="FFFFFF"/>
                </a:solidFill>
                <a:latin typeface="Calibri"/>
                <a:ea typeface="Calibri"/>
                <a:cs typeface="Calibri"/>
              </a:rPr>
              <a:t>Data Quality &amp; Schema Management</a:t>
            </a:r>
          </a:p>
          <a:p>
            <a:pPr marL="514350" lvl="1" indent="-285750">
              <a:lnSpc>
                <a:spcPct val="110000"/>
              </a:lnSpc>
              <a:buFont typeface="Courier New" panose="020B0604020202020204" pitchFamily="34" charset="0"/>
              <a:buChar char="o"/>
            </a:pPr>
            <a:r>
              <a:rPr lang="en-US" sz="1600">
                <a:solidFill>
                  <a:srgbClr val="FFFFFF"/>
                </a:solidFill>
                <a:latin typeface="Calibri"/>
                <a:ea typeface="Calibri"/>
                <a:cs typeface="Calibri"/>
              </a:rPr>
              <a:t>Use explicit schemas when reading CSV files to improve schema drift detection and avoid the overhead of </a:t>
            </a:r>
            <a:r>
              <a:rPr lang="en-US" sz="1600" err="1">
                <a:solidFill>
                  <a:srgbClr val="FFFFFF"/>
                </a:solidFill>
                <a:latin typeface="Calibri"/>
                <a:ea typeface="Calibri"/>
                <a:cs typeface="Calibri"/>
              </a:rPr>
              <a:t>inferSchema</a:t>
            </a:r>
            <a:r>
              <a:rPr lang="en-US" sz="1600">
                <a:solidFill>
                  <a:srgbClr val="FFFFFF"/>
                </a:solidFill>
                <a:latin typeface="Calibri"/>
                <a:ea typeface="Calibri"/>
                <a:cs typeface="Calibri"/>
              </a:rPr>
              <a:t>=True.</a:t>
            </a:r>
          </a:p>
          <a:p>
            <a:pPr marL="285750" indent="-285750">
              <a:lnSpc>
                <a:spcPct val="100000"/>
              </a:lnSpc>
              <a:buFont typeface="Calibri" panose="020B0604020202020204" pitchFamily="34" charset="0"/>
              <a:buChar char="-"/>
            </a:pPr>
            <a:r>
              <a:rPr lang="en-US" sz="1600" b="1">
                <a:solidFill>
                  <a:srgbClr val="FFFFFF"/>
                </a:solidFill>
                <a:latin typeface="Calibri"/>
                <a:ea typeface="Calibri"/>
                <a:cs typeface="Calibri"/>
              </a:rPr>
              <a:t>Performance Optimization</a:t>
            </a:r>
          </a:p>
          <a:p>
            <a:pPr marL="514350" lvl="1" indent="-285750">
              <a:lnSpc>
                <a:spcPct val="110000"/>
              </a:lnSpc>
              <a:buFont typeface="Courier New" panose="020B0604020202020204" pitchFamily="34" charset="0"/>
              <a:buChar char="o"/>
            </a:pPr>
            <a:r>
              <a:rPr lang="en-US" sz="1600">
                <a:solidFill>
                  <a:srgbClr val="FFFFFF"/>
                </a:solidFill>
                <a:latin typeface="Calibri"/>
                <a:ea typeface="Calibri"/>
                <a:cs typeface="Calibri"/>
              </a:rPr>
              <a:t>Broadcast small dimension tables, such as </a:t>
            </a:r>
            <a:r>
              <a:rPr lang="en-US" sz="1600" err="1">
                <a:solidFill>
                  <a:srgbClr val="FFFFFF"/>
                </a:solidFill>
                <a:latin typeface="Calibri"/>
                <a:ea typeface="Calibri"/>
                <a:cs typeface="Calibri"/>
              </a:rPr>
              <a:t>team_info</a:t>
            </a:r>
            <a:r>
              <a:rPr lang="en-US" sz="1600">
                <a:solidFill>
                  <a:srgbClr val="FFFFFF"/>
                </a:solidFill>
                <a:latin typeface="Calibri"/>
                <a:ea typeface="Calibri"/>
                <a:cs typeface="Calibri"/>
              </a:rPr>
              <a:t> table, to reduce shuffle operations during joins.</a:t>
            </a:r>
          </a:p>
          <a:p>
            <a:pPr marL="285750" indent="-285750">
              <a:lnSpc>
                <a:spcPct val="100000"/>
              </a:lnSpc>
              <a:buFont typeface="Calibri" panose="020B0604020202020204" pitchFamily="34" charset="0"/>
              <a:buChar char="-"/>
            </a:pPr>
            <a:r>
              <a:rPr lang="en-US" sz="1600" b="1">
                <a:solidFill>
                  <a:srgbClr val="FFFFFF"/>
                </a:solidFill>
                <a:latin typeface="Calibri"/>
                <a:ea typeface="Calibri"/>
                <a:cs typeface="Calibri"/>
              </a:rPr>
              <a:t>Delta Lake Optimization</a:t>
            </a:r>
          </a:p>
          <a:p>
            <a:pPr marL="514350" lvl="1" indent="-285750">
              <a:lnSpc>
                <a:spcPct val="110000"/>
              </a:lnSpc>
              <a:buFont typeface="Courier New" panose="020B0604020202020204" pitchFamily="34" charset="0"/>
              <a:buChar char="o"/>
            </a:pPr>
            <a:r>
              <a:rPr lang="en-US" sz="1600">
                <a:solidFill>
                  <a:srgbClr val="FFFFFF"/>
                </a:solidFill>
                <a:latin typeface="Calibri"/>
                <a:ea typeface="Calibri"/>
                <a:cs typeface="Calibri"/>
              </a:rPr>
              <a:t>Implement regular Delta table maintenance using OPTIMIZE and VACUUM.</a:t>
            </a:r>
          </a:p>
          <a:p>
            <a:pPr marL="514350" lvl="1" indent="-285750">
              <a:lnSpc>
                <a:spcPct val="110000"/>
              </a:lnSpc>
              <a:buFont typeface="Courier New" panose="020B0604020202020204" pitchFamily="34" charset="0"/>
              <a:buChar char="o"/>
            </a:pPr>
            <a:r>
              <a:rPr lang="en-US" sz="1600">
                <a:solidFill>
                  <a:srgbClr val="FFFFFF"/>
                </a:solidFill>
                <a:latin typeface="Calibri"/>
                <a:ea typeface="Calibri"/>
                <a:cs typeface="Calibri"/>
              </a:rPr>
              <a:t>Improve query performance using Z-ORDER BY or Liquid Clustering where appropriate.</a:t>
            </a:r>
          </a:p>
          <a:p>
            <a:pPr marL="285750" indent="-285750">
              <a:buFont typeface="Calibri" panose="020B0604020202020204" pitchFamily="34" charset="0"/>
              <a:buChar char="-"/>
            </a:pPr>
            <a:endParaRPr lang="en-US" sz="1600">
              <a:solidFill>
                <a:srgbClr val="FFFFFF"/>
              </a:solidFill>
              <a:latin typeface="Calibri"/>
              <a:ea typeface="Calibri"/>
              <a:cs typeface="Calibri"/>
            </a:endParaRPr>
          </a:p>
          <a:p>
            <a:endParaRPr lang="en-US">
              <a:solidFill>
                <a:srgbClr val="FFFFFF"/>
              </a:solidFill>
              <a:latin typeface="Neue Haas Grotesk Text Pro"/>
              <a:ea typeface="Calibri"/>
              <a:cs typeface="Calibri"/>
            </a:endParaRPr>
          </a:p>
          <a:p>
            <a:endParaRPr lang="en-US" sz="1600">
              <a:solidFill>
                <a:srgbClr val="FFFFFF"/>
              </a:solidFill>
              <a:latin typeface="Calibri"/>
              <a:ea typeface="Calibri"/>
              <a:cs typeface="Calibri"/>
            </a:endParaRPr>
          </a:p>
          <a:p>
            <a:endParaRPr lang="en-US">
              <a:solidFill>
                <a:srgbClr val="FFFFFF"/>
              </a:solidFill>
              <a:latin typeface="Neue Haas Grotesk Text Pro"/>
              <a:cs typeface="Segoe UI"/>
            </a:endParaRPr>
          </a:p>
        </p:txBody>
      </p:sp>
    </p:spTree>
    <p:extLst>
      <p:ext uri="{BB962C8B-B14F-4D97-AF65-F5344CB8AC3E}">
        <p14:creationId xmlns:p14="http://schemas.microsoft.com/office/powerpoint/2010/main" val="287244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19EB-5170-7324-2534-3271134BBABE}"/>
              </a:ext>
            </a:extLst>
          </p:cNvPr>
          <p:cNvSpPr>
            <a:spLocks noGrp="1"/>
          </p:cNvSpPr>
          <p:nvPr>
            <p:ph type="title"/>
          </p:nvPr>
        </p:nvSpPr>
        <p:spPr>
          <a:xfrm>
            <a:off x="258458" y="489736"/>
            <a:ext cx="11684531" cy="544179"/>
          </a:xfrm>
        </p:spPr>
        <p:txBody>
          <a:bodyPr>
            <a:normAutofit/>
          </a:bodyPr>
          <a:lstStyle/>
          <a:p>
            <a:r>
              <a:rPr lang="en-US" sz="3600" b="1">
                <a:solidFill>
                  <a:srgbClr val="FFFFFF"/>
                </a:solidFill>
                <a:latin typeface="Arial"/>
                <a:cs typeface="Arial"/>
              </a:rPr>
              <a:t>Sports Betting – The Probability Approach</a:t>
            </a:r>
          </a:p>
        </p:txBody>
      </p:sp>
      <p:sp>
        <p:nvSpPr>
          <p:cNvPr id="7" name="Rectangle: Rounded Corners 6">
            <a:extLst>
              <a:ext uri="{FF2B5EF4-FFF2-40B4-BE49-F238E27FC236}">
                <a16:creationId xmlns:a16="http://schemas.microsoft.com/office/drawing/2014/main" id="{749D4547-166B-1A7D-31FA-F2C0BB4596EA}"/>
              </a:ext>
            </a:extLst>
          </p:cNvPr>
          <p:cNvSpPr/>
          <p:nvPr/>
        </p:nvSpPr>
        <p:spPr>
          <a:xfrm>
            <a:off x="1136666" y="4028984"/>
            <a:ext cx="3285211" cy="2421961"/>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D4310A64-FE41-E719-A7BC-675AE0BAFC83}"/>
              </a:ext>
            </a:extLst>
          </p:cNvPr>
          <p:cNvSpPr/>
          <p:nvPr/>
        </p:nvSpPr>
        <p:spPr>
          <a:xfrm>
            <a:off x="4741573" y="4024004"/>
            <a:ext cx="3002215" cy="242196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A1E8457-1E9C-FD0A-E972-55DD7D98BF0A}"/>
              </a:ext>
            </a:extLst>
          </p:cNvPr>
          <p:cNvSpPr/>
          <p:nvPr/>
        </p:nvSpPr>
        <p:spPr>
          <a:xfrm>
            <a:off x="8052112" y="4028984"/>
            <a:ext cx="3104572" cy="242196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9BFEEAF-749F-D0F7-FA3B-D9FED4FDC471}"/>
              </a:ext>
            </a:extLst>
          </p:cNvPr>
          <p:cNvSpPr txBox="1"/>
          <p:nvPr/>
        </p:nvSpPr>
        <p:spPr>
          <a:xfrm>
            <a:off x="1141147" y="4230273"/>
            <a:ext cx="328520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FFFF"/>
                </a:solidFill>
              </a:rPr>
              <a:t>🎯</a:t>
            </a:r>
            <a:r>
              <a:rPr lang="en-US" sz="2000" b="1">
                <a:solidFill>
                  <a:srgbClr val="FFFFFF"/>
                </a:solidFill>
                <a:latin typeface="Calibri"/>
                <a:ea typeface="Calibri"/>
                <a:cs typeface="Calibri"/>
              </a:rPr>
              <a:t> The smart choice</a:t>
            </a:r>
          </a:p>
          <a:p>
            <a:endParaRPr lang="en-US" sz="2000">
              <a:solidFill>
                <a:srgbClr val="FFFFFF"/>
              </a:solidFill>
              <a:latin typeface="Calibri"/>
              <a:ea typeface="Calibri"/>
              <a:cs typeface="Calibri"/>
            </a:endParaRPr>
          </a:p>
          <a:p>
            <a:r>
              <a:rPr lang="en-US" sz="2000">
                <a:solidFill>
                  <a:srgbClr val="FFFFFF"/>
                </a:solidFill>
                <a:latin typeface="Calibri"/>
                <a:ea typeface="Calibri"/>
                <a:cs typeface="Calibri"/>
              </a:rPr>
              <a:t>Logistic Regression outputs clean probabilities to spot real betting value instead of wild guesses.</a:t>
            </a:r>
            <a:r>
              <a:rPr lang="en-US" sz="2000">
                <a:solidFill>
                  <a:srgbClr val="FFFFFF"/>
                </a:solidFill>
              </a:rPr>
              <a:t> </a:t>
            </a:r>
            <a:endParaRPr lang="en-US" sz="2000">
              <a:solidFill>
                <a:srgbClr val="FFFFFF"/>
              </a:solidFill>
              <a:latin typeface="Calibri"/>
              <a:ea typeface="Calibri"/>
              <a:cs typeface="Calibri"/>
            </a:endParaRPr>
          </a:p>
        </p:txBody>
      </p:sp>
      <p:sp>
        <p:nvSpPr>
          <p:cNvPr id="13" name="TextBox 12">
            <a:extLst>
              <a:ext uri="{FF2B5EF4-FFF2-40B4-BE49-F238E27FC236}">
                <a16:creationId xmlns:a16="http://schemas.microsoft.com/office/drawing/2014/main" id="{62C78E16-9FE0-B3CC-F7C5-D84AD3EC9D51}"/>
              </a:ext>
            </a:extLst>
          </p:cNvPr>
          <p:cNvSpPr txBox="1"/>
          <p:nvPr/>
        </p:nvSpPr>
        <p:spPr>
          <a:xfrm>
            <a:off x="4775772" y="4230273"/>
            <a:ext cx="2936311"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FFFFF"/>
                </a:solidFill>
              </a:rPr>
              <a:t>📊 </a:t>
            </a:r>
            <a:r>
              <a:rPr lang="en-US" sz="2000" b="1">
                <a:solidFill>
                  <a:srgbClr val="FFFFFF"/>
                </a:solidFill>
                <a:latin typeface="Calibri"/>
                <a:ea typeface="Calibri"/>
                <a:cs typeface="Calibri"/>
              </a:rPr>
              <a:t>Perfect for our data</a:t>
            </a:r>
            <a:br>
              <a:rPr lang="en-US" sz="2000">
                <a:solidFill>
                  <a:srgbClr val="FFFFFF"/>
                </a:solidFill>
                <a:latin typeface="Calibri"/>
                <a:ea typeface="Calibri"/>
                <a:cs typeface="Calibri"/>
              </a:rPr>
            </a:br>
            <a:endParaRPr lang="en-US"/>
          </a:p>
          <a:p>
            <a:r>
              <a:rPr lang="en-US" sz="2000">
                <a:solidFill>
                  <a:srgbClr val="FFFFFF"/>
                </a:solidFill>
                <a:latin typeface="Calibri"/>
                <a:ea typeface="Calibri"/>
                <a:cs typeface="Calibri"/>
              </a:rPr>
              <a:t>Thrives on Team A vs  Team B "Gap Stats" without over- fitting to random luck.</a:t>
            </a:r>
          </a:p>
        </p:txBody>
      </p:sp>
      <p:sp>
        <p:nvSpPr>
          <p:cNvPr id="14" name="TextBox 13">
            <a:extLst>
              <a:ext uri="{FF2B5EF4-FFF2-40B4-BE49-F238E27FC236}">
                <a16:creationId xmlns:a16="http://schemas.microsoft.com/office/drawing/2014/main" id="{1A2F467B-8857-F175-A38A-5325CFF707B4}"/>
              </a:ext>
            </a:extLst>
          </p:cNvPr>
          <p:cNvSpPr txBox="1"/>
          <p:nvPr/>
        </p:nvSpPr>
        <p:spPr>
          <a:xfrm>
            <a:off x="8229600" y="4196153"/>
            <a:ext cx="2927084"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FFFF"/>
                </a:solidFill>
              </a:rPr>
              <a:t>⚠</a:t>
            </a:r>
            <a:r>
              <a:rPr lang="en-US" sz="2000" b="1">
                <a:solidFill>
                  <a:srgbClr val="FFFFFF"/>
                </a:solidFill>
              </a:rPr>
              <a:t>️</a:t>
            </a:r>
            <a:r>
              <a:rPr lang="en-US" sz="2000" b="1">
                <a:solidFill>
                  <a:srgbClr val="FFFFFF"/>
                </a:solidFill>
                <a:latin typeface="Calibri"/>
                <a:ea typeface="Calibri"/>
                <a:cs typeface="Calibri"/>
              </a:rPr>
              <a:t> The limitation</a:t>
            </a:r>
          </a:p>
          <a:p>
            <a:endParaRPr lang="en-US" sz="2000">
              <a:solidFill>
                <a:srgbClr val="FFFFFF"/>
              </a:solidFill>
              <a:latin typeface="Calibri"/>
              <a:ea typeface="Calibri"/>
              <a:cs typeface="Calibri"/>
            </a:endParaRPr>
          </a:p>
          <a:p>
            <a:r>
              <a:rPr lang="en-US" sz="2000">
                <a:solidFill>
                  <a:srgbClr val="FFFFFF"/>
                </a:solidFill>
                <a:latin typeface="Calibri"/>
                <a:ea typeface="Calibri"/>
                <a:cs typeface="Calibri"/>
              </a:rPr>
              <a:t>Sees straight lines, not complex non-linear drama (which we solve with smart feature pre-selections!). </a:t>
            </a:r>
          </a:p>
        </p:txBody>
      </p:sp>
      <p:sp>
        <p:nvSpPr>
          <p:cNvPr id="15" name="Rectangle: Rounded Corners 14">
            <a:extLst>
              <a:ext uri="{FF2B5EF4-FFF2-40B4-BE49-F238E27FC236}">
                <a16:creationId xmlns:a16="http://schemas.microsoft.com/office/drawing/2014/main" id="{EAB664D1-EC10-43B3-A9FA-2C43CCD6495E}"/>
              </a:ext>
            </a:extLst>
          </p:cNvPr>
          <p:cNvSpPr/>
          <p:nvPr/>
        </p:nvSpPr>
        <p:spPr>
          <a:xfrm>
            <a:off x="1117072" y="1206153"/>
            <a:ext cx="10028239" cy="136612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latin typeface="Calibri"/>
                <a:ea typeface="Calibri"/>
                <a:cs typeface="Calibri"/>
              </a:rPr>
              <a:t>Sports betting is ultimately a game of quantified probabilities, where long-term profitability relies not on predicting absolute outcomes, but on identifying discrepancies between true event probabilities and the implied probabilities set by bookmaker odds.“</a:t>
            </a:r>
          </a:p>
        </p:txBody>
      </p:sp>
      <p:sp>
        <p:nvSpPr>
          <p:cNvPr id="16" name="Rectangle: Rounded Corners 15">
            <a:extLst>
              <a:ext uri="{FF2B5EF4-FFF2-40B4-BE49-F238E27FC236}">
                <a16:creationId xmlns:a16="http://schemas.microsoft.com/office/drawing/2014/main" id="{AB6092D4-C634-4435-91AA-1B975DBA0917}"/>
              </a:ext>
            </a:extLst>
          </p:cNvPr>
          <p:cNvSpPr/>
          <p:nvPr/>
        </p:nvSpPr>
        <p:spPr>
          <a:xfrm>
            <a:off x="301758" y="2803119"/>
            <a:ext cx="11684531" cy="978667"/>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latin typeface="Calibri"/>
                <a:ea typeface="Calibri"/>
                <a:cs typeface="Calibri"/>
              </a:rPr>
              <a:t>We derived a disciplined, model-driven framework that eliminates emotional bias and capitalizes on bookmaker vigorish gaps.</a:t>
            </a:r>
          </a:p>
        </p:txBody>
      </p:sp>
    </p:spTree>
    <p:extLst>
      <p:ext uri="{BB962C8B-B14F-4D97-AF65-F5344CB8AC3E}">
        <p14:creationId xmlns:p14="http://schemas.microsoft.com/office/powerpoint/2010/main" val="3984468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34DEB-C618-B5BA-E12E-29696E944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5E016-2FE4-3878-2E20-375EFB96F915}"/>
              </a:ext>
            </a:extLst>
          </p:cNvPr>
          <p:cNvSpPr>
            <a:spLocks noGrp="1"/>
          </p:cNvSpPr>
          <p:nvPr>
            <p:ph type="title"/>
          </p:nvPr>
        </p:nvSpPr>
        <p:spPr>
          <a:xfrm>
            <a:off x="258458" y="489736"/>
            <a:ext cx="11684531" cy="544179"/>
          </a:xfrm>
        </p:spPr>
        <p:txBody>
          <a:bodyPr>
            <a:normAutofit/>
          </a:bodyPr>
          <a:lstStyle/>
          <a:p>
            <a:r>
              <a:rPr lang="en-US" sz="3600" b="1">
                <a:solidFill>
                  <a:srgbClr val="FFFFFF"/>
                </a:solidFill>
                <a:latin typeface="Arial"/>
                <a:cs typeface="Arial"/>
              </a:rPr>
              <a:t>Sports Betting – The Probability Approach</a:t>
            </a:r>
          </a:p>
        </p:txBody>
      </p:sp>
      <p:sp>
        <p:nvSpPr>
          <p:cNvPr id="7" name="Rectangle: Rounded Corners 6">
            <a:extLst>
              <a:ext uri="{FF2B5EF4-FFF2-40B4-BE49-F238E27FC236}">
                <a16:creationId xmlns:a16="http://schemas.microsoft.com/office/drawing/2014/main" id="{04D39E02-9A2F-A59E-66B0-DDDA6F14BD58}"/>
              </a:ext>
            </a:extLst>
          </p:cNvPr>
          <p:cNvSpPr/>
          <p:nvPr/>
        </p:nvSpPr>
        <p:spPr>
          <a:xfrm>
            <a:off x="1136666" y="4028984"/>
            <a:ext cx="3285211" cy="2421961"/>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E11CFE9-0CB6-D428-8D3E-DAE4C6DB01D8}"/>
              </a:ext>
            </a:extLst>
          </p:cNvPr>
          <p:cNvSpPr/>
          <p:nvPr/>
        </p:nvSpPr>
        <p:spPr>
          <a:xfrm>
            <a:off x="4741573" y="4024004"/>
            <a:ext cx="3002215" cy="242196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2E7929E-44CF-8E82-0A3C-782BE17E5A3C}"/>
              </a:ext>
            </a:extLst>
          </p:cNvPr>
          <p:cNvSpPr/>
          <p:nvPr/>
        </p:nvSpPr>
        <p:spPr>
          <a:xfrm>
            <a:off x="8052112" y="4028984"/>
            <a:ext cx="3104572" cy="242196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6FE96E4-5DC9-3ED8-2C45-FFE9046C6CC5}"/>
              </a:ext>
            </a:extLst>
          </p:cNvPr>
          <p:cNvSpPr txBox="1"/>
          <p:nvPr/>
        </p:nvSpPr>
        <p:spPr>
          <a:xfrm>
            <a:off x="1141147" y="4230273"/>
            <a:ext cx="328520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FFFF"/>
                </a:solidFill>
              </a:rPr>
              <a:t>🎯</a:t>
            </a:r>
            <a:r>
              <a:rPr lang="en-US" sz="2000" b="1">
                <a:solidFill>
                  <a:srgbClr val="FFFFFF"/>
                </a:solidFill>
                <a:latin typeface="Calibri"/>
                <a:ea typeface="Calibri"/>
                <a:cs typeface="Calibri"/>
              </a:rPr>
              <a:t> The smart choice</a:t>
            </a:r>
          </a:p>
          <a:p>
            <a:endParaRPr lang="en-US" sz="2000">
              <a:solidFill>
                <a:srgbClr val="FFFFFF"/>
              </a:solidFill>
              <a:latin typeface="Calibri"/>
              <a:ea typeface="Calibri"/>
              <a:cs typeface="Calibri"/>
            </a:endParaRPr>
          </a:p>
          <a:p>
            <a:r>
              <a:rPr lang="en-US" sz="2000">
                <a:solidFill>
                  <a:srgbClr val="FFFFFF"/>
                </a:solidFill>
                <a:latin typeface="Calibri"/>
                <a:ea typeface="Calibri"/>
                <a:cs typeface="Calibri"/>
              </a:rPr>
              <a:t>Logistic Regression outputs clean probabilities to spot real betting value instead of wild guesses.</a:t>
            </a:r>
            <a:r>
              <a:rPr lang="en-US" sz="2000">
                <a:solidFill>
                  <a:srgbClr val="FFFFFF"/>
                </a:solidFill>
              </a:rPr>
              <a:t> </a:t>
            </a:r>
            <a:endParaRPr lang="en-US" sz="2000">
              <a:solidFill>
                <a:srgbClr val="FFFFFF"/>
              </a:solidFill>
              <a:latin typeface="Calibri"/>
              <a:ea typeface="Calibri"/>
              <a:cs typeface="Calibri"/>
            </a:endParaRPr>
          </a:p>
        </p:txBody>
      </p:sp>
      <p:sp>
        <p:nvSpPr>
          <p:cNvPr id="13" name="TextBox 12">
            <a:extLst>
              <a:ext uri="{FF2B5EF4-FFF2-40B4-BE49-F238E27FC236}">
                <a16:creationId xmlns:a16="http://schemas.microsoft.com/office/drawing/2014/main" id="{415135E9-8775-CAD1-D2C3-658CB132DA91}"/>
              </a:ext>
            </a:extLst>
          </p:cNvPr>
          <p:cNvSpPr txBox="1"/>
          <p:nvPr/>
        </p:nvSpPr>
        <p:spPr>
          <a:xfrm>
            <a:off x="4775772" y="4230273"/>
            <a:ext cx="2936311"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FFFFF"/>
                </a:solidFill>
              </a:rPr>
              <a:t>📊 </a:t>
            </a:r>
            <a:r>
              <a:rPr lang="en-US" sz="2000" b="1">
                <a:solidFill>
                  <a:srgbClr val="FFFFFF"/>
                </a:solidFill>
                <a:latin typeface="Calibri"/>
                <a:ea typeface="Calibri"/>
                <a:cs typeface="Calibri"/>
              </a:rPr>
              <a:t>Perfect for our data</a:t>
            </a:r>
            <a:br>
              <a:rPr lang="en-US" sz="2000">
                <a:solidFill>
                  <a:srgbClr val="FFFFFF"/>
                </a:solidFill>
                <a:latin typeface="Calibri"/>
                <a:ea typeface="Calibri"/>
                <a:cs typeface="Calibri"/>
              </a:rPr>
            </a:br>
            <a:endParaRPr lang="en-US"/>
          </a:p>
          <a:p>
            <a:r>
              <a:rPr lang="en-US" sz="2000">
                <a:solidFill>
                  <a:srgbClr val="FFFFFF"/>
                </a:solidFill>
                <a:latin typeface="Calibri"/>
                <a:ea typeface="Calibri"/>
                <a:cs typeface="Calibri"/>
              </a:rPr>
              <a:t>Thrives on Team A vs  Team B "Gap Stats" without over- fitting to random luck.</a:t>
            </a:r>
          </a:p>
        </p:txBody>
      </p:sp>
      <p:sp>
        <p:nvSpPr>
          <p:cNvPr id="14" name="TextBox 13">
            <a:extLst>
              <a:ext uri="{FF2B5EF4-FFF2-40B4-BE49-F238E27FC236}">
                <a16:creationId xmlns:a16="http://schemas.microsoft.com/office/drawing/2014/main" id="{85942589-F160-7951-568C-A532872973F4}"/>
              </a:ext>
            </a:extLst>
          </p:cNvPr>
          <p:cNvSpPr txBox="1"/>
          <p:nvPr/>
        </p:nvSpPr>
        <p:spPr>
          <a:xfrm>
            <a:off x="8229600" y="4196153"/>
            <a:ext cx="2927084"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FFFF"/>
                </a:solidFill>
              </a:rPr>
              <a:t>⚠</a:t>
            </a:r>
            <a:r>
              <a:rPr lang="en-US" sz="2000" b="1">
                <a:solidFill>
                  <a:srgbClr val="FFFFFF"/>
                </a:solidFill>
              </a:rPr>
              <a:t>️</a:t>
            </a:r>
            <a:r>
              <a:rPr lang="en-US" sz="2000" b="1">
                <a:solidFill>
                  <a:srgbClr val="FFFFFF"/>
                </a:solidFill>
                <a:latin typeface="Calibri"/>
                <a:ea typeface="Calibri"/>
                <a:cs typeface="Calibri"/>
              </a:rPr>
              <a:t> The limitation</a:t>
            </a:r>
          </a:p>
          <a:p>
            <a:endParaRPr lang="en-US" sz="2000">
              <a:solidFill>
                <a:srgbClr val="FFFFFF"/>
              </a:solidFill>
              <a:latin typeface="Calibri"/>
              <a:ea typeface="Calibri"/>
              <a:cs typeface="Calibri"/>
            </a:endParaRPr>
          </a:p>
          <a:p>
            <a:r>
              <a:rPr lang="en-US" sz="2000">
                <a:solidFill>
                  <a:srgbClr val="FFFFFF"/>
                </a:solidFill>
                <a:latin typeface="Calibri"/>
                <a:ea typeface="Calibri"/>
                <a:cs typeface="Calibri"/>
              </a:rPr>
              <a:t>Sees straight lines, not complex non-linear drama (which we solve with smart feature pre-selections!). </a:t>
            </a:r>
          </a:p>
        </p:txBody>
      </p:sp>
      <p:sp>
        <p:nvSpPr>
          <p:cNvPr id="15" name="Rectangle: Rounded Corners 14">
            <a:extLst>
              <a:ext uri="{FF2B5EF4-FFF2-40B4-BE49-F238E27FC236}">
                <a16:creationId xmlns:a16="http://schemas.microsoft.com/office/drawing/2014/main" id="{33D926B7-E5E7-1438-360D-952A487EBA13}"/>
              </a:ext>
            </a:extLst>
          </p:cNvPr>
          <p:cNvSpPr/>
          <p:nvPr/>
        </p:nvSpPr>
        <p:spPr>
          <a:xfrm>
            <a:off x="1117072" y="1206153"/>
            <a:ext cx="10028239" cy="136612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latin typeface="Calibri"/>
                <a:ea typeface="Calibri"/>
                <a:cs typeface="Calibri"/>
              </a:rPr>
              <a:t>Sports betting is ultimately a game of quantified probabilities, where long-term profitability relies not on predicting absolute outcomes, but on identifying discrepancies between true event probabilities and the implied probabilities set by bookmaker odds.“</a:t>
            </a:r>
          </a:p>
        </p:txBody>
      </p:sp>
      <p:sp>
        <p:nvSpPr>
          <p:cNvPr id="16" name="Rectangle: Rounded Corners 15">
            <a:extLst>
              <a:ext uri="{FF2B5EF4-FFF2-40B4-BE49-F238E27FC236}">
                <a16:creationId xmlns:a16="http://schemas.microsoft.com/office/drawing/2014/main" id="{764E3F36-7A55-7A29-8D19-23C39ED996F3}"/>
              </a:ext>
            </a:extLst>
          </p:cNvPr>
          <p:cNvSpPr/>
          <p:nvPr/>
        </p:nvSpPr>
        <p:spPr>
          <a:xfrm>
            <a:off x="301758" y="2803119"/>
            <a:ext cx="11684531" cy="978667"/>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latin typeface="Calibri"/>
                <a:ea typeface="Calibri"/>
                <a:cs typeface="Calibri"/>
              </a:rPr>
              <a:t>We derived a disciplined, model-driven framework that eliminates emotional bias and capitalizes on bookmaker vigorish gaps.</a:t>
            </a:r>
          </a:p>
        </p:txBody>
      </p:sp>
    </p:spTree>
    <p:extLst>
      <p:ext uri="{BB962C8B-B14F-4D97-AF65-F5344CB8AC3E}">
        <p14:creationId xmlns:p14="http://schemas.microsoft.com/office/powerpoint/2010/main" val="3098856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19EB-5170-7324-2534-3271134BBABE}"/>
              </a:ext>
            </a:extLst>
          </p:cNvPr>
          <p:cNvSpPr>
            <a:spLocks noGrp="1"/>
          </p:cNvSpPr>
          <p:nvPr>
            <p:ph type="title"/>
          </p:nvPr>
        </p:nvSpPr>
        <p:spPr>
          <a:xfrm>
            <a:off x="190408" y="429616"/>
            <a:ext cx="12001592" cy="528933"/>
          </a:xfrm>
        </p:spPr>
        <p:txBody>
          <a:bodyPr>
            <a:normAutofit fontScale="90000"/>
          </a:bodyPr>
          <a:lstStyle/>
          <a:p>
            <a:r>
              <a:rPr lang="en-US" sz="3600" b="1">
                <a:solidFill>
                  <a:srgbClr val="FFFFFF"/>
                </a:solidFill>
                <a:latin typeface="Calibri"/>
                <a:ea typeface="Calibri"/>
                <a:cs typeface="Calibri"/>
              </a:rPr>
              <a:t>Prediction Engine: Logistic Regression</a:t>
            </a:r>
          </a:p>
        </p:txBody>
      </p:sp>
      <p:sp>
        <p:nvSpPr>
          <p:cNvPr id="10" name="Rectangle: Rounded Corners 9">
            <a:extLst>
              <a:ext uri="{FF2B5EF4-FFF2-40B4-BE49-F238E27FC236}">
                <a16:creationId xmlns:a16="http://schemas.microsoft.com/office/drawing/2014/main" id="{D4310A64-FE41-E719-A7BC-675AE0BAFC83}"/>
              </a:ext>
            </a:extLst>
          </p:cNvPr>
          <p:cNvSpPr/>
          <p:nvPr/>
        </p:nvSpPr>
        <p:spPr>
          <a:xfrm>
            <a:off x="1497298" y="4223967"/>
            <a:ext cx="5521754" cy="2379115"/>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A1E8457-1E9C-FD0A-E972-55DD7D98BF0A}"/>
              </a:ext>
            </a:extLst>
          </p:cNvPr>
          <p:cNvSpPr/>
          <p:nvPr/>
        </p:nvSpPr>
        <p:spPr>
          <a:xfrm>
            <a:off x="8041033" y="4215446"/>
            <a:ext cx="3920187" cy="2390489"/>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2C78E16-9FE0-B3CC-F7C5-D84AD3EC9D51}"/>
              </a:ext>
            </a:extLst>
          </p:cNvPr>
          <p:cNvSpPr txBox="1"/>
          <p:nvPr/>
        </p:nvSpPr>
        <p:spPr>
          <a:xfrm>
            <a:off x="1749494" y="4313575"/>
            <a:ext cx="527437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latin typeface="Calibri"/>
                <a:ea typeface="Calibri"/>
                <a:cs typeface="Calibri"/>
              </a:rPr>
              <a:t>TEAM COMPOSITE FEATURE</a:t>
            </a:r>
          </a:p>
          <a:p>
            <a:endParaRPr lang="en-US">
              <a:solidFill>
                <a:srgbClr val="FFFFFF"/>
              </a:solidFill>
              <a:latin typeface="Calibri"/>
              <a:ea typeface="Calibri"/>
              <a:cs typeface="Calibri"/>
            </a:endParaRPr>
          </a:p>
          <a:p>
            <a:r>
              <a:rPr lang="en-US">
                <a:solidFill>
                  <a:srgbClr val="FFFFFF"/>
                </a:solidFill>
                <a:effectLst/>
                <a:latin typeface="Calibri"/>
                <a:ea typeface="Calibri"/>
                <a:cs typeface="Calibri"/>
              </a:rPr>
              <a:t>Predictor Variables:</a:t>
            </a:r>
          </a:p>
          <a:p>
            <a:pPr marL="457200" indent="-457200">
              <a:buFont typeface="+mj-lt"/>
              <a:buAutoNum type="arabicPeriod"/>
            </a:pPr>
            <a:r>
              <a:rPr lang="en-US">
                <a:solidFill>
                  <a:srgbClr val="FFFFFF"/>
                </a:solidFill>
                <a:effectLst/>
                <a:latin typeface="Calibri"/>
                <a:ea typeface="Calibri"/>
                <a:cs typeface="Calibri"/>
              </a:rPr>
              <a:t>Goal scoring differential gap per game</a:t>
            </a:r>
            <a:endParaRPr lang="en-US">
              <a:solidFill>
                <a:srgbClr val="FFFFFF"/>
              </a:solidFill>
              <a:latin typeface="Calibri"/>
              <a:ea typeface="Calibri"/>
              <a:cs typeface="Calibri"/>
            </a:endParaRPr>
          </a:p>
          <a:p>
            <a:pPr marL="457200" indent="-457200">
              <a:buFont typeface="+mj-lt"/>
              <a:buAutoNum type="arabicPeriod"/>
            </a:pPr>
            <a:r>
              <a:rPr lang="en-US">
                <a:solidFill>
                  <a:srgbClr val="FFFFFF"/>
                </a:solidFill>
                <a:effectLst/>
                <a:latin typeface="Calibri"/>
                <a:ea typeface="Calibri"/>
                <a:cs typeface="Calibri"/>
              </a:rPr>
              <a:t>Home Power Play Vs Away Penalty Kill</a:t>
            </a:r>
            <a:endParaRPr lang="en-US">
              <a:solidFill>
                <a:srgbClr val="FFFFFF"/>
              </a:solidFill>
              <a:latin typeface="Calibri"/>
              <a:ea typeface="Calibri"/>
              <a:cs typeface="Calibri"/>
            </a:endParaRPr>
          </a:p>
          <a:p>
            <a:pPr marL="457200" indent="-457200">
              <a:buFont typeface="+mj-lt"/>
              <a:buAutoNum type="arabicPeriod"/>
            </a:pPr>
            <a:r>
              <a:rPr lang="en-US">
                <a:solidFill>
                  <a:srgbClr val="FFFFFF"/>
                </a:solidFill>
                <a:effectLst/>
                <a:latin typeface="Calibri"/>
                <a:ea typeface="Calibri"/>
                <a:cs typeface="Calibri"/>
              </a:rPr>
              <a:t>Home Penalty Kill Vs Away Power Play</a:t>
            </a:r>
            <a:endParaRPr lang="en-US">
              <a:solidFill>
                <a:srgbClr val="FFFFFF"/>
              </a:solidFill>
              <a:latin typeface="Calibri"/>
              <a:ea typeface="Calibri"/>
              <a:cs typeface="Calibri"/>
            </a:endParaRPr>
          </a:p>
          <a:p>
            <a:pPr marL="457200" indent="-457200">
              <a:buFont typeface="+mj-lt"/>
              <a:buAutoNum type="arabicPeriod"/>
            </a:pPr>
            <a:r>
              <a:rPr lang="en-US">
                <a:solidFill>
                  <a:srgbClr val="FFFFFF"/>
                </a:solidFill>
                <a:effectLst/>
                <a:latin typeface="Calibri"/>
                <a:ea typeface="Calibri"/>
                <a:cs typeface="Calibri"/>
              </a:rPr>
              <a:t>Shot attempt</a:t>
            </a:r>
          </a:p>
          <a:p>
            <a:pPr marL="457200" indent="-457200">
              <a:buFont typeface="+mj-lt"/>
              <a:buAutoNum type="arabicPeriod"/>
            </a:pPr>
            <a:r>
              <a:rPr lang="en-US">
                <a:solidFill>
                  <a:srgbClr val="FFFFFF"/>
                </a:solidFill>
                <a:latin typeface="Calibri"/>
                <a:ea typeface="Calibri"/>
                <a:cs typeface="Calibri"/>
              </a:rPr>
              <a:t>S</a:t>
            </a:r>
            <a:r>
              <a:rPr lang="en-US">
                <a:solidFill>
                  <a:srgbClr val="FFFFFF"/>
                </a:solidFill>
                <a:effectLst/>
                <a:latin typeface="Calibri"/>
                <a:ea typeface="Calibri"/>
                <a:cs typeface="Calibri"/>
              </a:rPr>
              <a:t>ave percentage differential.</a:t>
            </a:r>
          </a:p>
          <a:p>
            <a:pPr marL="342900" indent="-342900">
              <a:buFont typeface="+mj-lt"/>
              <a:buAutoNum type="arabicPeriod"/>
            </a:pPr>
            <a:endParaRPr lang="en-US">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1A2F467B-8857-F175-A38A-5325CFF707B4}"/>
              </a:ext>
            </a:extLst>
          </p:cNvPr>
          <p:cNvSpPr txBox="1"/>
          <p:nvPr/>
        </p:nvSpPr>
        <p:spPr>
          <a:xfrm>
            <a:off x="8528553" y="4314029"/>
            <a:ext cx="300924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latin typeface="Calibri"/>
                <a:ea typeface="Calibri"/>
                <a:cs typeface="Calibri"/>
              </a:rPr>
              <a:t>OUTCOME VARIABLES</a:t>
            </a:r>
          </a:p>
          <a:p>
            <a:endParaRPr lang="en-US">
              <a:solidFill>
                <a:srgbClr val="FFFFFF"/>
              </a:solidFill>
              <a:latin typeface="Calibri"/>
              <a:ea typeface="Calibri"/>
              <a:cs typeface="Calibri"/>
            </a:endParaRPr>
          </a:p>
          <a:p>
            <a:r>
              <a:rPr lang="en-US">
                <a:solidFill>
                  <a:srgbClr val="FFFFFF"/>
                </a:solidFill>
                <a:latin typeface="Calibri"/>
                <a:ea typeface="Calibri"/>
                <a:cs typeface="Calibri"/>
              </a:rPr>
              <a:t>Betting Categories:</a:t>
            </a:r>
          </a:p>
          <a:p>
            <a:pPr marL="457200" indent="-457200">
              <a:buFont typeface="+mj-lt"/>
              <a:buAutoNum type="arabicPeriod"/>
            </a:pPr>
            <a:r>
              <a:rPr lang="en-US">
                <a:solidFill>
                  <a:srgbClr val="FFFFFF"/>
                </a:solidFill>
                <a:effectLst/>
                <a:latin typeface="Calibri"/>
                <a:ea typeface="Calibri"/>
                <a:cs typeface="Calibri"/>
              </a:rPr>
              <a:t>Moneyline</a:t>
            </a:r>
          </a:p>
          <a:p>
            <a:pPr marL="457200" indent="-457200">
              <a:buFont typeface="+mj-lt"/>
              <a:buAutoNum type="arabicPeriod"/>
            </a:pPr>
            <a:r>
              <a:rPr lang="en-US">
                <a:solidFill>
                  <a:srgbClr val="FFFFFF"/>
                </a:solidFill>
                <a:effectLst/>
                <a:latin typeface="Calibri"/>
                <a:ea typeface="Calibri"/>
                <a:cs typeface="Calibri"/>
              </a:rPr>
              <a:t>Puck Line (+1.5)</a:t>
            </a:r>
          </a:p>
          <a:p>
            <a:pPr marL="457200" indent="-457200">
              <a:buFont typeface="+mj-lt"/>
              <a:buAutoNum type="arabicPeriod"/>
            </a:pPr>
            <a:r>
              <a:rPr lang="en-US">
                <a:solidFill>
                  <a:srgbClr val="FFFFFF"/>
                </a:solidFill>
                <a:effectLst/>
                <a:latin typeface="Calibri"/>
                <a:ea typeface="Calibri"/>
                <a:cs typeface="Calibri"/>
              </a:rPr>
              <a:t>Totals (Over 5.5)</a:t>
            </a:r>
            <a:endParaRPr lang="en-US">
              <a:solidFill>
                <a:srgbClr val="FFFFFF"/>
              </a:solidFill>
              <a:latin typeface="Calibri"/>
              <a:ea typeface="Calibri"/>
              <a:cs typeface="Calibri"/>
            </a:endParaRPr>
          </a:p>
        </p:txBody>
      </p:sp>
      <p:sp>
        <p:nvSpPr>
          <p:cNvPr id="15" name="Rectangle: Rounded Corners 14">
            <a:extLst>
              <a:ext uri="{FF2B5EF4-FFF2-40B4-BE49-F238E27FC236}">
                <a16:creationId xmlns:a16="http://schemas.microsoft.com/office/drawing/2014/main" id="{B219515D-216C-4B3E-8248-CB22CC88D4E2}"/>
              </a:ext>
            </a:extLst>
          </p:cNvPr>
          <p:cNvSpPr/>
          <p:nvPr/>
        </p:nvSpPr>
        <p:spPr>
          <a:xfrm>
            <a:off x="242152" y="1105596"/>
            <a:ext cx="11713647" cy="933978"/>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latin typeface="Calibri"/>
                <a:ea typeface="Calibri"/>
                <a:cs typeface="Calibri"/>
              </a:rPr>
              <a:t>H</a:t>
            </a:r>
            <a:r>
              <a:rPr lang="en-US" sz="2000" b="1">
                <a:effectLst/>
                <a:latin typeface="Calibri"/>
                <a:ea typeface="Calibri"/>
                <a:cs typeface="Calibri"/>
              </a:rPr>
              <a:t>ypothesis function</a:t>
            </a:r>
            <a:r>
              <a:rPr lang="en-US" sz="2000">
                <a:effectLst/>
                <a:latin typeface="Calibri"/>
                <a:ea typeface="Calibri"/>
                <a:cs typeface="Calibri"/>
              </a:rPr>
              <a:t> (</a:t>
            </a:r>
            <a:r>
              <a:rPr lang="en-US" sz="2000" i="1">
                <a:effectLst/>
                <a:latin typeface="Calibri"/>
                <a:ea typeface="Calibri"/>
                <a:cs typeface="Calibri"/>
              </a:rPr>
              <a:t>hθ</a:t>
            </a:r>
            <a:r>
              <a:rPr lang="en-US" sz="2000">
                <a:effectLst/>
                <a:latin typeface="Calibri"/>
                <a:ea typeface="Calibri"/>
                <a:cs typeface="Calibri"/>
              </a:rPr>
              <a:t>​(</a:t>
            </a:r>
            <a:r>
              <a:rPr lang="en-US" sz="2000" i="1">
                <a:effectLst/>
                <a:latin typeface="Calibri"/>
                <a:ea typeface="Calibri"/>
                <a:cs typeface="Calibri"/>
              </a:rPr>
              <a:t>x</a:t>
            </a:r>
            <a:r>
              <a:rPr lang="en-US" sz="2000">
                <a:effectLst/>
                <a:latin typeface="Calibri"/>
                <a:ea typeface="Calibri"/>
                <a:cs typeface="Calibri"/>
              </a:rPr>
              <a:t>)) of </a:t>
            </a:r>
            <a:r>
              <a:rPr lang="en-US" sz="2000">
                <a:latin typeface="Calibri"/>
                <a:ea typeface="Calibri"/>
                <a:cs typeface="Calibri"/>
              </a:rPr>
              <a:t>the </a:t>
            </a:r>
            <a:r>
              <a:rPr lang="en-US" sz="2000">
                <a:effectLst/>
                <a:latin typeface="Calibri"/>
                <a:ea typeface="Calibri"/>
                <a:cs typeface="Calibri"/>
              </a:rPr>
              <a:t>Logistic Regression model definition:</a:t>
            </a:r>
          </a:p>
          <a:p>
            <a:pPr algn="ctr"/>
            <a:r>
              <a:rPr lang="en-US" sz="2000">
                <a:latin typeface="Calibri"/>
                <a:ea typeface="Calibri"/>
                <a:cs typeface="Calibri"/>
              </a:rPr>
              <a:t>P</a:t>
            </a:r>
            <a:r>
              <a:rPr lang="en-US" sz="2000">
                <a:effectLst/>
                <a:latin typeface="Calibri"/>
                <a:ea typeface="Calibri"/>
                <a:cs typeface="Calibri"/>
              </a:rPr>
              <a:t>redicted probability of a </a:t>
            </a:r>
            <a:r>
              <a:rPr lang="en-US" sz="2000">
                <a:latin typeface="Calibri"/>
                <a:ea typeface="Calibri"/>
                <a:cs typeface="Calibri"/>
              </a:rPr>
              <a:t>game</a:t>
            </a:r>
            <a:r>
              <a:rPr lang="en-US" sz="2000">
                <a:effectLst/>
                <a:latin typeface="Calibri"/>
                <a:ea typeface="Calibri"/>
                <a:cs typeface="Calibri"/>
              </a:rPr>
              <a:t> outcome occurring, factored by team composite feature gaps</a:t>
            </a:r>
            <a:endParaRPr lang="en-US" sz="2000">
              <a:latin typeface="Calibri"/>
              <a:ea typeface="Calibri"/>
              <a:cs typeface="Calibri"/>
            </a:endParaRPr>
          </a:p>
          <a:p>
            <a:pPr algn="ctr"/>
            <a:r>
              <a:rPr lang="en-US" sz="2000" b="1">
                <a:latin typeface="Calibri"/>
                <a:ea typeface="Calibri"/>
                <a:cs typeface="Calibri"/>
              </a:rPr>
              <a:t>(Training Stats from 2017/18 &amp; 2018/19 Season, Verified with Season 2019/20)</a:t>
            </a:r>
          </a:p>
        </p:txBody>
      </p:sp>
      <p:sp>
        <p:nvSpPr>
          <p:cNvPr id="16" name="Rectangle: Rounded Corners 15">
            <a:extLst>
              <a:ext uri="{FF2B5EF4-FFF2-40B4-BE49-F238E27FC236}">
                <a16:creationId xmlns:a16="http://schemas.microsoft.com/office/drawing/2014/main" id="{2C305DD4-C74A-4940-9B99-7DA7F3ABFA9C}"/>
              </a:ext>
            </a:extLst>
          </p:cNvPr>
          <p:cNvSpPr/>
          <p:nvPr/>
        </p:nvSpPr>
        <p:spPr>
          <a:xfrm>
            <a:off x="247573" y="2171584"/>
            <a:ext cx="11725020" cy="1921267"/>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p>
        </p:txBody>
      </p:sp>
      <p:graphicFrame>
        <p:nvGraphicFramePr>
          <p:cNvPr id="6" name="Table 7">
            <a:extLst>
              <a:ext uri="{FF2B5EF4-FFF2-40B4-BE49-F238E27FC236}">
                <a16:creationId xmlns:a16="http://schemas.microsoft.com/office/drawing/2014/main" id="{9A3CE105-A4BD-4512-AC1C-A51E19849263}"/>
              </a:ext>
            </a:extLst>
          </p:cNvPr>
          <p:cNvGraphicFramePr>
            <a:graphicFrameLocks noGrp="1"/>
          </p:cNvGraphicFramePr>
          <p:nvPr>
            <p:extLst>
              <p:ext uri="{D42A27DB-BD31-4B8C-83A1-F6EECF244321}">
                <p14:modId xmlns:p14="http://schemas.microsoft.com/office/powerpoint/2010/main" val="1401662649"/>
              </p:ext>
            </p:extLst>
          </p:nvPr>
        </p:nvGraphicFramePr>
        <p:xfrm>
          <a:off x="574150" y="2290535"/>
          <a:ext cx="11060935" cy="1686497"/>
        </p:xfrm>
        <a:graphic>
          <a:graphicData uri="http://schemas.openxmlformats.org/drawingml/2006/table">
            <a:tbl>
              <a:tblPr firstRow="1" bandRow="1">
                <a:tableStyleId>{69CF1AB2-1976-4502-BF36-3FF5EA218861}</a:tableStyleId>
              </a:tblPr>
              <a:tblGrid>
                <a:gridCol w="2936836">
                  <a:extLst>
                    <a:ext uri="{9D8B030D-6E8A-4147-A177-3AD203B41FA5}">
                      <a16:colId xmlns:a16="http://schemas.microsoft.com/office/drawing/2014/main" val="951528958"/>
                    </a:ext>
                  </a:extLst>
                </a:gridCol>
                <a:gridCol w="8124099">
                  <a:extLst>
                    <a:ext uri="{9D8B030D-6E8A-4147-A177-3AD203B41FA5}">
                      <a16:colId xmlns:a16="http://schemas.microsoft.com/office/drawing/2014/main" val="3904618864"/>
                    </a:ext>
                  </a:extLst>
                </a:gridCol>
              </a:tblGrid>
              <a:tr h="370840">
                <a:tc gridSpan="2">
                  <a:txBody>
                    <a:bodyPr/>
                    <a:lstStyle/>
                    <a:p>
                      <a:r>
                        <a:rPr lang="en-US" sz="1800" b="1">
                          <a:solidFill>
                            <a:srgbClr val="FFFFFF"/>
                          </a:solidFill>
                          <a:latin typeface="Calibri"/>
                          <a:ea typeface="Calibri"/>
                          <a:cs typeface="Calibri"/>
                        </a:rPr>
                        <a:t>Model Execution Framework</a:t>
                      </a:r>
                      <a:endParaRPr lang="en-US" sz="1800">
                        <a:latin typeface="Calibri"/>
                        <a:ea typeface="Calibri"/>
                        <a:cs typeface="Calibri"/>
                      </a:endParaRPr>
                    </a:p>
                  </a:txBody>
                  <a:tcPr>
                    <a:solidFill>
                      <a:schemeClr val="accent1">
                        <a:tint val="20000"/>
                        <a:alpha val="0"/>
                      </a:schemeClr>
                    </a:solidFill>
                  </a:tcPr>
                </a:tc>
                <a:tc hMerge="1">
                  <a:txBody>
                    <a:bodyPr/>
                    <a:lstStyle/>
                    <a:p>
                      <a:endParaRPr lang="en-US"/>
                    </a:p>
                  </a:txBody>
                  <a:tcPr/>
                </a:tc>
                <a:extLst>
                  <a:ext uri="{0D108BD9-81ED-4DB2-BD59-A6C34878D82A}">
                    <a16:rowId xmlns:a16="http://schemas.microsoft.com/office/drawing/2014/main" val="2274159713"/>
                  </a:ext>
                </a:extLst>
              </a:tr>
              <a:tr h="370840">
                <a:tc>
                  <a:txBody>
                    <a:bodyPr/>
                    <a:lstStyle/>
                    <a:p>
                      <a:pPr marL="0" marR="0">
                        <a:lnSpc>
                          <a:spcPct val="107000"/>
                        </a:lnSpc>
                        <a:spcBef>
                          <a:spcPts val="0"/>
                        </a:spcBef>
                        <a:spcAft>
                          <a:spcPts val="0"/>
                        </a:spcAft>
                      </a:pPr>
                      <a:r>
                        <a:rPr lang="en-US" sz="1800" b="0">
                          <a:solidFill>
                            <a:srgbClr val="FFFFFF"/>
                          </a:solidFill>
                          <a:effectLst/>
                          <a:latin typeface="Calibri"/>
                          <a:ea typeface="Calibri"/>
                          <a:cs typeface="Calibri"/>
                        </a:rPr>
                        <a:t>hθ​(x)∈[0,1]</a:t>
                      </a:r>
                    </a:p>
                  </a:txBody>
                  <a:tcPr marL="68580" marR="68580" marT="0" marB="0">
                    <a:solidFill>
                      <a:schemeClr val="accent1">
                        <a:tint val="40000"/>
                        <a:alpha val="0"/>
                      </a:schemeClr>
                    </a:solidFill>
                  </a:tcPr>
                </a:tc>
                <a:tc>
                  <a:txBody>
                    <a:bodyPr/>
                    <a:lstStyle/>
                    <a:p>
                      <a:pPr marL="0" marR="0">
                        <a:lnSpc>
                          <a:spcPct val="107000"/>
                        </a:lnSpc>
                        <a:spcBef>
                          <a:spcPts val="0"/>
                        </a:spcBef>
                        <a:spcAft>
                          <a:spcPts val="0"/>
                        </a:spcAft>
                      </a:pPr>
                      <a:r>
                        <a:rPr lang="en-US" sz="1800" b="0">
                          <a:solidFill>
                            <a:srgbClr val="FFFFFF"/>
                          </a:solidFill>
                          <a:effectLst/>
                          <a:latin typeface="Calibri"/>
                          <a:ea typeface="Calibri"/>
                          <a:cs typeface="Calibri"/>
                        </a:rPr>
                        <a:t>The model gives a smooth percentage confidence score (like 65%).</a:t>
                      </a:r>
                    </a:p>
                  </a:txBody>
                  <a:tcPr marL="68580" marR="68580" marT="0" marB="0">
                    <a:solidFill>
                      <a:schemeClr val="accent1">
                        <a:tint val="40000"/>
                        <a:alpha val="0"/>
                      </a:schemeClr>
                    </a:solidFill>
                  </a:tcPr>
                </a:tc>
                <a:extLst>
                  <a:ext uri="{0D108BD9-81ED-4DB2-BD59-A6C34878D82A}">
                    <a16:rowId xmlns:a16="http://schemas.microsoft.com/office/drawing/2014/main" val="2287268631"/>
                  </a:ext>
                </a:extLst>
              </a:tr>
              <a:tr h="370840">
                <a:tc>
                  <a:txBody>
                    <a:bodyPr/>
                    <a:lstStyle/>
                    <a:p>
                      <a:pPr marL="0" marR="0">
                        <a:lnSpc>
                          <a:spcPct val="107000"/>
                        </a:lnSpc>
                        <a:spcBef>
                          <a:spcPts val="0"/>
                        </a:spcBef>
                        <a:spcAft>
                          <a:spcPts val="0"/>
                        </a:spcAft>
                      </a:pPr>
                      <a:r>
                        <a:rPr lang="en-US" sz="1800" b="0">
                          <a:solidFill>
                            <a:srgbClr val="FFFFFF"/>
                          </a:solidFill>
                          <a:effectLst/>
                          <a:latin typeface="Calibri"/>
                          <a:ea typeface="Calibri"/>
                          <a:cs typeface="Calibri"/>
                        </a:rPr>
                        <a:t>Expected Value (EV%)</a:t>
                      </a:r>
                    </a:p>
                  </a:txBody>
                  <a:tcPr marL="68580" marR="68580" marT="0" marB="0">
                    <a:solidFill>
                      <a:schemeClr val="accent1">
                        <a:tint val="20000"/>
                        <a:alpha val="0"/>
                      </a:schemeClr>
                    </a:solidFill>
                  </a:tcPr>
                </a:tc>
                <a:tc>
                  <a:txBody>
                    <a:bodyPr/>
                    <a:lstStyle/>
                    <a:p>
                      <a:pPr marL="0" marR="0">
                        <a:lnSpc>
                          <a:spcPct val="107000"/>
                        </a:lnSpc>
                        <a:spcBef>
                          <a:spcPts val="0"/>
                        </a:spcBef>
                        <a:spcAft>
                          <a:spcPts val="0"/>
                        </a:spcAft>
                      </a:pPr>
                      <a:r>
                        <a:rPr lang="en-US" sz="1800" b="0">
                          <a:solidFill>
                            <a:srgbClr val="FFFFFF"/>
                          </a:solidFill>
                          <a:effectLst/>
                          <a:latin typeface="Calibri"/>
                          <a:ea typeface="Calibri"/>
                          <a:cs typeface="Calibri"/>
                        </a:rPr>
                        <a:t>The average profit or loss you expect to make on a bet over time.</a:t>
                      </a:r>
                    </a:p>
                  </a:txBody>
                  <a:tcPr marL="68580" marR="68580" marT="0" marB="0">
                    <a:solidFill>
                      <a:schemeClr val="accent1">
                        <a:tint val="20000"/>
                        <a:alpha val="0"/>
                      </a:schemeClr>
                    </a:solidFill>
                  </a:tcPr>
                </a:tc>
                <a:extLst>
                  <a:ext uri="{0D108BD9-81ED-4DB2-BD59-A6C34878D82A}">
                    <a16:rowId xmlns:a16="http://schemas.microsoft.com/office/drawing/2014/main" val="1892332921"/>
                  </a:ext>
                </a:extLst>
              </a:tr>
              <a:tr h="370840">
                <a:tc>
                  <a:txBody>
                    <a:bodyPr/>
                    <a:lstStyle/>
                    <a:p>
                      <a:pPr marL="0" marR="0">
                        <a:lnSpc>
                          <a:spcPct val="107000"/>
                        </a:lnSpc>
                        <a:spcBef>
                          <a:spcPts val="0"/>
                        </a:spcBef>
                        <a:spcAft>
                          <a:spcPts val="0"/>
                        </a:spcAft>
                      </a:pPr>
                      <a:r>
                        <a:rPr lang="en-US" sz="1800" b="0">
                          <a:solidFill>
                            <a:srgbClr val="FFFFFF"/>
                          </a:solidFill>
                          <a:effectLst/>
                          <a:latin typeface="Calibri"/>
                          <a:ea typeface="Calibri"/>
                          <a:cs typeface="Calibri"/>
                        </a:rPr>
                        <a:t>Against Bookmaker Odds</a:t>
                      </a:r>
                    </a:p>
                  </a:txBody>
                  <a:tcPr marL="68580" marR="68580" marT="0" marB="0">
                    <a:solidFill>
                      <a:schemeClr val="accent1">
                        <a:tint val="40000"/>
                        <a:alpha val="0"/>
                      </a:schemeClr>
                    </a:solidFill>
                  </a:tcPr>
                </a:tc>
                <a:tc>
                  <a:txBody>
                    <a:bodyPr/>
                    <a:lstStyle/>
                    <a:p>
                      <a:pPr marL="0" marR="0">
                        <a:lnSpc>
                          <a:spcPct val="107000"/>
                        </a:lnSpc>
                        <a:spcBef>
                          <a:spcPts val="0"/>
                        </a:spcBef>
                        <a:spcAft>
                          <a:spcPts val="0"/>
                        </a:spcAft>
                      </a:pPr>
                      <a:r>
                        <a:rPr lang="en-US" sz="1800" b="0">
                          <a:solidFill>
                            <a:srgbClr val="FFFFFF"/>
                          </a:solidFill>
                          <a:effectLst/>
                          <a:latin typeface="Calibri"/>
                          <a:ea typeface="Calibri"/>
                          <a:cs typeface="Calibri"/>
                        </a:rPr>
                        <a:t>Comparing your model's percentage against the sportsbook's price to see if the bet is a smart deal.</a:t>
                      </a:r>
                    </a:p>
                  </a:txBody>
                  <a:tcPr marL="68580" marR="68580" marT="0" marB="0">
                    <a:solidFill>
                      <a:schemeClr val="accent1">
                        <a:tint val="40000"/>
                        <a:alpha val="0"/>
                      </a:schemeClr>
                    </a:solidFill>
                  </a:tcPr>
                </a:tc>
                <a:extLst>
                  <a:ext uri="{0D108BD9-81ED-4DB2-BD59-A6C34878D82A}">
                    <a16:rowId xmlns:a16="http://schemas.microsoft.com/office/drawing/2014/main" val="2704079132"/>
                  </a:ext>
                </a:extLst>
              </a:tr>
            </a:tbl>
          </a:graphicData>
        </a:graphic>
      </p:graphicFrame>
      <p:sp>
        <p:nvSpPr>
          <p:cNvPr id="17" name="Arrow: Striped Right 16">
            <a:extLst>
              <a:ext uri="{FF2B5EF4-FFF2-40B4-BE49-F238E27FC236}">
                <a16:creationId xmlns:a16="http://schemas.microsoft.com/office/drawing/2014/main" id="{443861FE-77BE-4A7D-8662-F3371723E372}"/>
              </a:ext>
            </a:extLst>
          </p:cNvPr>
          <p:cNvSpPr/>
          <p:nvPr/>
        </p:nvSpPr>
        <p:spPr>
          <a:xfrm>
            <a:off x="7021266" y="5224890"/>
            <a:ext cx="978408" cy="484632"/>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Striped Right 17">
            <a:extLst>
              <a:ext uri="{FF2B5EF4-FFF2-40B4-BE49-F238E27FC236}">
                <a16:creationId xmlns:a16="http://schemas.microsoft.com/office/drawing/2014/main" id="{E20FDE1D-414D-41AA-8DE1-D38E19884EE7}"/>
              </a:ext>
            </a:extLst>
          </p:cNvPr>
          <p:cNvSpPr/>
          <p:nvPr/>
        </p:nvSpPr>
        <p:spPr>
          <a:xfrm rot="5400000">
            <a:off x="85150" y="4404964"/>
            <a:ext cx="919346" cy="543331"/>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Striped Right 18">
            <a:extLst>
              <a:ext uri="{FF2B5EF4-FFF2-40B4-BE49-F238E27FC236}">
                <a16:creationId xmlns:a16="http://schemas.microsoft.com/office/drawing/2014/main" id="{C4B815FB-C2B4-4FDA-B761-68759D25C2F5}"/>
              </a:ext>
            </a:extLst>
          </p:cNvPr>
          <p:cNvSpPr/>
          <p:nvPr/>
        </p:nvSpPr>
        <p:spPr>
          <a:xfrm>
            <a:off x="515474" y="5136302"/>
            <a:ext cx="978408" cy="484632"/>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6737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19EB-5170-7324-2534-3271134BBABE}"/>
              </a:ext>
            </a:extLst>
          </p:cNvPr>
          <p:cNvSpPr>
            <a:spLocks noGrp="1"/>
          </p:cNvSpPr>
          <p:nvPr>
            <p:ph type="title"/>
          </p:nvPr>
        </p:nvSpPr>
        <p:spPr>
          <a:xfrm>
            <a:off x="235712" y="622576"/>
            <a:ext cx="12001592" cy="1088358"/>
          </a:xfrm>
        </p:spPr>
        <p:txBody>
          <a:bodyPr>
            <a:normAutofit/>
          </a:bodyPr>
          <a:lstStyle/>
          <a:p>
            <a:r>
              <a:rPr lang="en-US" sz="3600" b="1">
                <a:solidFill>
                  <a:srgbClr val="FFFFFF"/>
                </a:solidFill>
                <a:latin typeface="Arial"/>
                <a:cs typeface="Arial"/>
              </a:rPr>
              <a:t>The Bouncer At The Door: How We Filter Out Market Noise</a:t>
            </a:r>
          </a:p>
        </p:txBody>
      </p:sp>
      <p:sp>
        <p:nvSpPr>
          <p:cNvPr id="7" name="Rectangle: Rounded Corners 6">
            <a:extLst>
              <a:ext uri="{FF2B5EF4-FFF2-40B4-BE49-F238E27FC236}">
                <a16:creationId xmlns:a16="http://schemas.microsoft.com/office/drawing/2014/main" id="{749D4547-166B-1A7D-31FA-F2C0BB4596EA}"/>
              </a:ext>
            </a:extLst>
          </p:cNvPr>
          <p:cNvSpPr/>
          <p:nvPr/>
        </p:nvSpPr>
        <p:spPr>
          <a:xfrm>
            <a:off x="344539" y="4377895"/>
            <a:ext cx="3389401" cy="892417"/>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D4310A64-FE41-E719-A7BC-675AE0BAFC83}"/>
              </a:ext>
            </a:extLst>
          </p:cNvPr>
          <p:cNvSpPr/>
          <p:nvPr/>
        </p:nvSpPr>
        <p:spPr>
          <a:xfrm>
            <a:off x="4413573" y="4377894"/>
            <a:ext cx="3524375" cy="878306"/>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A1E8457-1E9C-FD0A-E972-55DD7D98BF0A}"/>
              </a:ext>
            </a:extLst>
          </p:cNvPr>
          <p:cNvSpPr/>
          <p:nvPr/>
        </p:nvSpPr>
        <p:spPr>
          <a:xfrm>
            <a:off x="8645804" y="4349671"/>
            <a:ext cx="3312710" cy="864194"/>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9BFEEAF-749F-D0F7-FA3B-D9FED4FDC471}"/>
              </a:ext>
            </a:extLst>
          </p:cNvPr>
          <p:cNvSpPr txBox="1"/>
          <p:nvPr/>
        </p:nvSpPr>
        <p:spPr>
          <a:xfrm>
            <a:off x="341124" y="4440761"/>
            <a:ext cx="338940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FFFFFF"/>
                </a:solidFill>
                <a:latin typeface="Calibri"/>
                <a:ea typeface="Calibri"/>
                <a:cs typeface="Calibri"/>
              </a:rPr>
              <a:t>🛑 Moneyline (89.6% Skipped)</a:t>
            </a:r>
          </a:p>
          <a:p>
            <a:r>
              <a:rPr lang="en-US" sz="1600">
                <a:solidFill>
                  <a:srgbClr val="FFFFFF"/>
                </a:solidFill>
                <a:latin typeface="Calibri"/>
                <a:ea typeface="Calibri"/>
                <a:cs typeface="Calibri"/>
              </a:rPr>
              <a:t>Rejects trap games! Only bet when the edge is huge.</a:t>
            </a:r>
          </a:p>
        </p:txBody>
      </p:sp>
      <p:sp>
        <p:nvSpPr>
          <p:cNvPr id="13" name="TextBox 12">
            <a:extLst>
              <a:ext uri="{FF2B5EF4-FFF2-40B4-BE49-F238E27FC236}">
                <a16:creationId xmlns:a16="http://schemas.microsoft.com/office/drawing/2014/main" id="{62C78E16-9FE0-B3CC-F7C5-D84AD3EC9D51}"/>
              </a:ext>
            </a:extLst>
          </p:cNvPr>
          <p:cNvSpPr txBox="1"/>
          <p:nvPr/>
        </p:nvSpPr>
        <p:spPr>
          <a:xfrm>
            <a:off x="4406486" y="4446340"/>
            <a:ext cx="354238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FFFFFF"/>
                </a:solidFill>
                <a:latin typeface="Calibri"/>
                <a:ea typeface="Calibri"/>
                <a:cs typeface="Calibri"/>
              </a:rPr>
              <a:t>🟢</a:t>
            </a:r>
            <a:r>
              <a:rPr lang="en-US" sz="1600" b="1">
                <a:solidFill>
                  <a:srgbClr val="FFFFFF"/>
                </a:solidFill>
                <a:latin typeface="Calibri"/>
                <a:ea typeface="Calibri"/>
                <a:cs typeface="Calibri"/>
              </a:rPr>
              <a:t> Puckline (99.2% Committed)</a:t>
            </a:r>
          </a:p>
          <a:p>
            <a:r>
              <a:rPr lang="en-US" sz="1600">
                <a:solidFill>
                  <a:srgbClr val="FFFFFF"/>
                </a:solidFill>
                <a:latin typeface="Calibri"/>
                <a:ea typeface="Calibri"/>
                <a:cs typeface="Calibri"/>
              </a:rPr>
              <a:t>Leverages the +1.5 goal safety buffer for maximum volume</a:t>
            </a:r>
            <a:r>
              <a:rPr lang="en-US" sz="1600">
                <a:solidFill>
                  <a:srgbClr val="FFFFFF"/>
                </a:solidFill>
              </a:rPr>
              <a:t>.</a:t>
            </a:r>
            <a:endParaRPr lang="en-US" sz="1600">
              <a:solidFill>
                <a:srgbClr val="FFFFFF"/>
              </a:solidFill>
              <a:latin typeface="Calibri"/>
              <a:ea typeface="Calibri"/>
              <a:cs typeface="Calibri"/>
            </a:endParaRPr>
          </a:p>
        </p:txBody>
      </p:sp>
      <p:sp>
        <p:nvSpPr>
          <p:cNvPr id="14" name="TextBox 13">
            <a:extLst>
              <a:ext uri="{FF2B5EF4-FFF2-40B4-BE49-F238E27FC236}">
                <a16:creationId xmlns:a16="http://schemas.microsoft.com/office/drawing/2014/main" id="{1A2F467B-8857-F175-A38A-5325CFF707B4}"/>
              </a:ext>
            </a:extLst>
          </p:cNvPr>
          <p:cNvSpPr txBox="1"/>
          <p:nvPr/>
        </p:nvSpPr>
        <p:spPr>
          <a:xfrm>
            <a:off x="8651933" y="4424908"/>
            <a:ext cx="33031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FFFFFF"/>
                </a:solidFill>
              </a:rPr>
              <a:t>⚖</a:t>
            </a:r>
            <a:r>
              <a:rPr lang="en-US" sz="1600" b="1">
                <a:solidFill>
                  <a:srgbClr val="FFFFFF"/>
                </a:solidFill>
                <a:latin typeface="Calibri"/>
                <a:ea typeface="Calibri"/>
                <a:cs typeface="Calibri"/>
              </a:rPr>
              <a:t>️ Totals (64.3% Skipped)</a:t>
            </a:r>
          </a:p>
          <a:p>
            <a:r>
              <a:rPr lang="en-US" sz="1600">
                <a:solidFill>
                  <a:srgbClr val="FFFFFF"/>
                </a:solidFill>
                <a:latin typeface="Calibri"/>
                <a:ea typeface="Calibri"/>
                <a:cs typeface="Calibri"/>
              </a:rPr>
              <a:t>Filters high-variance games, trades volume for high precision.</a:t>
            </a:r>
          </a:p>
        </p:txBody>
      </p:sp>
      <p:sp>
        <p:nvSpPr>
          <p:cNvPr id="15" name="Rectangle: Rounded Corners 14">
            <a:extLst>
              <a:ext uri="{FF2B5EF4-FFF2-40B4-BE49-F238E27FC236}">
                <a16:creationId xmlns:a16="http://schemas.microsoft.com/office/drawing/2014/main" id="{D0917488-2220-43FD-A267-EDC4A99ECD12}"/>
              </a:ext>
            </a:extLst>
          </p:cNvPr>
          <p:cNvSpPr/>
          <p:nvPr/>
        </p:nvSpPr>
        <p:spPr>
          <a:xfrm>
            <a:off x="-10080" y="5852833"/>
            <a:ext cx="12393461" cy="507054"/>
          </a:xfrm>
          <a:prstGeom prst="roundRect">
            <a:avLst/>
          </a:prstGeom>
          <a:solidFill>
            <a:schemeClr val="bg1"/>
          </a:solidFill>
          <a:ln>
            <a:noFill/>
          </a:ln>
          <a:effectLst>
            <a:outerShdw blurRad="177800" dist="355600" dir="2700000">
              <a:srgbClr val="000000">
                <a:alpha val="17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163D63"/>
                </a:solidFill>
                <a:latin typeface="Calibri"/>
                <a:ea typeface="Calibri"/>
                <a:cs typeface="Calibri"/>
              </a:rPr>
              <a:t>We skip 51.6% of market noise to protect capital and maximize portfolio ROI</a:t>
            </a:r>
            <a:r>
              <a:rPr lang="en-US" b="1"/>
              <a:t> </a:t>
            </a:r>
          </a:p>
        </p:txBody>
      </p:sp>
      <p:pic>
        <p:nvPicPr>
          <p:cNvPr id="5" name="Picture 4" descr="A blue square with white text&#10;&#10;Description automatically generated">
            <a:extLst>
              <a:ext uri="{FF2B5EF4-FFF2-40B4-BE49-F238E27FC236}">
                <a16:creationId xmlns:a16="http://schemas.microsoft.com/office/drawing/2014/main" id="{BD85DC0D-CC77-4CD7-8985-06B5901FAF70}"/>
              </a:ext>
            </a:extLst>
          </p:cNvPr>
          <p:cNvPicPr>
            <a:picLocks noChangeAspect="1"/>
          </p:cNvPicPr>
          <p:nvPr/>
        </p:nvPicPr>
        <p:blipFill>
          <a:blip r:embed="rId3">
            <a:extLst>
              <a:ext uri="{28A0092B-C50C-407E-A947-70E740481C1C}">
                <a14:useLocalDpi xmlns:a14="http://schemas.microsoft.com/office/drawing/2010/main" val="0"/>
              </a:ext>
            </a:extLst>
          </a:blip>
          <a:srcRect l="901" t="6390" r="10811" b="3834"/>
          <a:stretch>
            <a:fillRect/>
          </a:stretch>
        </p:blipFill>
        <p:spPr>
          <a:xfrm>
            <a:off x="921107" y="1259387"/>
            <a:ext cx="10226572" cy="2933076"/>
          </a:xfrm>
          <a:prstGeom prst="rect">
            <a:avLst/>
          </a:prstGeom>
        </p:spPr>
      </p:pic>
    </p:spTree>
    <p:extLst>
      <p:ext uri="{BB962C8B-B14F-4D97-AF65-F5344CB8AC3E}">
        <p14:creationId xmlns:p14="http://schemas.microsoft.com/office/powerpoint/2010/main" val="1659799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19EB-5170-7324-2534-3271134BBABE}"/>
              </a:ext>
            </a:extLst>
          </p:cNvPr>
          <p:cNvSpPr>
            <a:spLocks noGrp="1"/>
          </p:cNvSpPr>
          <p:nvPr>
            <p:ph type="title"/>
          </p:nvPr>
        </p:nvSpPr>
        <p:spPr>
          <a:xfrm>
            <a:off x="235712" y="622576"/>
            <a:ext cx="12001592" cy="1088358"/>
          </a:xfrm>
        </p:spPr>
        <p:txBody>
          <a:bodyPr>
            <a:normAutofit/>
          </a:bodyPr>
          <a:lstStyle/>
          <a:p>
            <a:r>
              <a:rPr lang="en-US" sz="3600" b="1">
                <a:solidFill>
                  <a:srgbClr val="FFFFFF"/>
                </a:solidFill>
                <a:latin typeface="Arial"/>
                <a:cs typeface="Arial"/>
              </a:rPr>
              <a:t>The Indoor Bouncer: Betting Performance &amp; Hit Rate</a:t>
            </a:r>
            <a:endParaRPr lang="en-US"/>
          </a:p>
        </p:txBody>
      </p:sp>
      <p:sp>
        <p:nvSpPr>
          <p:cNvPr id="7" name="Rectangle: Rounded Corners 6">
            <a:extLst>
              <a:ext uri="{FF2B5EF4-FFF2-40B4-BE49-F238E27FC236}">
                <a16:creationId xmlns:a16="http://schemas.microsoft.com/office/drawing/2014/main" id="{749D4547-166B-1A7D-31FA-F2C0BB4596EA}"/>
              </a:ext>
            </a:extLst>
          </p:cNvPr>
          <p:cNvSpPr/>
          <p:nvPr/>
        </p:nvSpPr>
        <p:spPr>
          <a:xfrm>
            <a:off x="291469" y="4246908"/>
            <a:ext cx="3389401" cy="1268815"/>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D4310A64-FE41-E719-A7BC-675AE0BAFC83}"/>
              </a:ext>
            </a:extLst>
          </p:cNvPr>
          <p:cNvSpPr/>
          <p:nvPr/>
        </p:nvSpPr>
        <p:spPr>
          <a:xfrm>
            <a:off x="4425229" y="4246907"/>
            <a:ext cx="3403205" cy="126053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A1E8457-1E9C-FD0A-E972-55DD7D98BF0A}"/>
              </a:ext>
            </a:extLst>
          </p:cNvPr>
          <p:cNvSpPr/>
          <p:nvPr/>
        </p:nvSpPr>
        <p:spPr>
          <a:xfrm>
            <a:off x="8564512" y="4246906"/>
            <a:ext cx="3411487" cy="126053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9BFEEAF-749F-D0F7-FA3B-D9FED4FDC471}"/>
              </a:ext>
            </a:extLst>
          </p:cNvPr>
          <p:cNvSpPr txBox="1"/>
          <p:nvPr/>
        </p:nvSpPr>
        <p:spPr>
          <a:xfrm>
            <a:off x="288054" y="4253329"/>
            <a:ext cx="338940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FFFFFF"/>
                </a:solidFill>
              </a:rPr>
              <a:t>🛑 </a:t>
            </a:r>
            <a:r>
              <a:rPr lang="en-US" sz="1600" b="1">
                <a:solidFill>
                  <a:srgbClr val="FFFFFF"/>
                </a:solidFill>
                <a:latin typeface="Calibri"/>
                <a:ea typeface="Calibri"/>
                <a:cs typeface="Calibri"/>
              </a:rPr>
              <a:t>Moneyline (65.5% hit rate)</a:t>
            </a:r>
            <a:r>
              <a:rPr lang="en-US" sz="1600">
                <a:solidFill>
                  <a:srgbClr val="FFFFFF"/>
                </a:solidFill>
                <a:latin typeface="Calibri"/>
                <a:ea typeface="Calibri"/>
                <a:cs typeface="Calibri"/>
              </a:rPr>
              <a:t> </a:t>
            </a:r>
          </a:p>
          <a:p>
            <a:r>
              <a:rPr lang="en-US" sz="1600">
                <a:solidFill>
                  <a:srgbClr val="FFFFFF"/>
                </a:solidFill>
                <a:latin typeface="Calibri"/>
                <a:ea typeface="Calibri"/>
                <a:cs typeface="Calibri"/>
              </a:rPr>
              <a:t>74 Wins / 39 Losses </a:t>
            </a:r>
          </a:p>
          <a:p>
            <a:r>
              <a:rPr lang="en-US" sz="1600">
                <a:solidFill>
                  <a:srgbClr val="FFFFFF"/>
                </a:solidFill>
                <a:latin typeface="Calibri"/>
                <a:ea typeface="Calibri"/>
                <a:cs typeface="Calibri"/>
              </a:rPr>
              <a:t>Quality over quantity pays off with sharp precision. </a:t>
            </a:r>
          </a:p>
        </p:txBody>
      </p:sp>
      <p:sp>
        <p:nvSpPr>
          <p:cNvPr id="13" name="TextBox 12">
            <a:extLst>
              <a:ext uri="{FF2B5EF4-FFF2-40B4-BE49-F238E27FC236}">
                <a16:creationId xmlns:a16="http://schemas.microsoft.com/office/drawing/2014/main" id="{62C78E16-9FE0-B3CC-F7C5-D84AD3EC9D51}"/>
              </a:ext>
            </a:extLst>
          </p:cNvPr>
          <p:cNvSpPr txBox="1"/>
          <p:nvPr/>
        </p:nvSpPr>
        <p:spPr>
          <a:xfrm>
            <a:off x="4423971" y="4301241"/>
            <a:ext cx="354467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Calibri"/>
                <a:cs typeface="Calibri"/>
              </a:rPr>
              <a:t>🟢</a:t>
            </a:r>
            <a:r>
              <a:rPr lang="en-US" b="1">
                <a:latin typeface="Calibri"/>
                <a:ea typeface="Calibri"/>
                <a:cs typeface="Calibri"/>
              </a:rPr>
              <a:t> </a:t>
            </a:r>
            <a:r>
              <a:rPr lang="en-US" b="1" err="1">
                <a:solidFill>
                  <a:schemeClr val="bg1"/>
                </a:solidFill>
                <a:latin typeface="Calibri"/>
                <a:ea typeface="Calibri"/>
                <a:cs typeface="Calibri"/>
              </a:rPr>
              <a:t>Puckline</a:t>
            </a:r>
            <a:r>
              <a:rPr lang="en-US" b="1">
                <a:solidFill>
                  <a:schemeClr val="bg1"/>
                </a:solidFill>
                <a:latin typeface="Calibri"/>
                <a:ea typeface="Calibri"/>
                <a:cs typeface="Calibri"/>
              </a:rPr>
              <a:t> (75.0% hit rate)</a:t>
            </a:r>
          </a:p>
          <a:p>
            <a:r>
              <a:rPr lang="en-US">
                <a:solidFill>
                  <a:schemeClr val="bg1"/>
                </a:solidFill>
                <a:latin typeface="Calibri"/>
                <a:ea typeface="Calibri"/>
                <a:cs typeface="Calibri"/>
              </a:rPr>
              <a:t>805 Wins / 268 Losses</a:t>
            </a:r>
            <a:endParaRPr lang="en-US" sz="1600">
              <a:solidFill>
                <a:schemeClr val="bg1"/>
              </a:solidFill>
              <a:latin typeface="Calibri"/>
              <a:ea typeface="Calibri"/>
              <a:cs typeface="Calibri"/>
            </a:endParaRPr>
          </a:p>
          <a:p>
            <a:r>
              <a:rPr lang="en-US">
                <a:solidFill>
                  <a:schemeClr val="bg1"/>
                </a:solidFill>
                <a:latin typeface="Calibri"/>
                <a:ea typeface="Calibri"/>
                <a:cs typeface="Calibri"/>
              </a:rPr>
              <a:t>The powerhouse driver of our season-long portfolio gains. </a:t>
            </a:r>
          </a:p>
        </p:txBody>
      </p:sp>
      <p:sp>
        <p:nvSpPr>
          <p:cNvPr id="14" name="TextBox 13">
            <a:extLst>
              <a:ext uri="{FF2B5EF4-FFF2-40B4-BE49-F238E27FC236}">
                <a16:creationId xmlns:a16="http://schemas.microsoft.com/office/drawing/2014/main" id="{1A2F467B-8857-F175-A38A-5325CFF707B4}"/>
              </a:ext>
            </a:extLst>
          </p:cNvPr>
          <p:cNvSpPr txBox="1"/>
          <p:nvPr/>
        </p:nvSpPr>
        <p:spPr>
          <a:xfrm>
            <a:off x="8570641" y="4308032"/>
            <a:ext cx="330310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FFFFFF"/>
                </a:solidFill>
              </a:rPr>
              <a:t>⚖</a:t>
            </a:r>
            <a:r>
              <a:rPr lang="en-US" sz="1600" b="1">
                <a:solidFill>
                  <a:srgbClr val="FFFFFF"/>
                </a:solidFill>
                <a:latin typeface="Calibri"/>
                <a:ea typeface="Calibri"/>
                <a:cs typeface="Calibri"/>
              </a:rPr>
              <a:t>️ Totals (56.5% hit rate)</a:t>
            </a:r>
          </a:p>
          <a:p>
            <a:r>
              <a:rPr lang="en-US" sz="1600">
                <a:solidFill>
                  <a:srgbClr val="FFFFFF"/>
                </a:solidFill>
                <a:latin typeface="Calibri"/>
                <a:ea typeface="Calibri"/>
                <a:cs typeface="Calibri"/>
              </a:rPr>
              <a:t>218 Wins / 168 Losses</a:t>
            </a:r>
          </a:p>
          <a:p>
            <a:r>
              <a:rPr lang="en-US" sz="1600">
                <a:solidFill>
                  <a:srgbClr val="FFFFFF"/>
                </a:solidFill>
                <a:latin typeface="Calibri"/>
                <a:ea typeface="Calibri"/>
                <a:cs typeface="Calibri"/>
              </a:rPr>
              <a:t>Beats Vegas house odds to deliver steady baseline returns.</a:t>
            </a:r>
          </a:p>
        </p:txBody>
      </p:sp>
      <p:sp>
        <p:nvSpPr>
          <p:cNvPr id="15" name="Rectangle: Rounded Corners 14">
            <a:extLst>
              <a:ext uri="{FF2B5EF4-FFF2-40B4-BE49-F238E27FC236}">
                <a16:creationId xmlns:a16="http://schemas.microsoft.com/office/drawing/2014/main" id="{D0917488-2220-43FD-A267-EDC4A99ECD12}"/>
              </a:ext>
            </a:extLst>
          </p:cNvPr>
          <p:cNvSpPr/>
          <p:nvPr/>
        </p:nvSpPr>
        <p:spPr>
          <a:xfrm>
            <a:off x="-147509" y="5784119"/>
            <a:ext cx="12388551" cy="44907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163E64"/>
                </a:solidFill>
                <a:latin typeface="Calibri"/>
                <a:ea typeface="Calibri"/>
                <a:cs typeface="Calibri"/>
              </a:rPr>
              <a:t>Selective filtering yields a 70.1% overall win rate and +16.1% portfolio ROI</a:t>
            </a:r>
            <a:endParaRPr lang="en-US" b="1">
              <a:solidFill>
                <a:srgbClr val="163E64"/>
              </a:solidFill>
            </a:endParaRPr>
          </a:p>
        </p:txBody>
      </p:sp>
      <p:pic>
        <p:nvPicPr>
          <p:cNvPr id="4" name="Picture 3" descr="A screenshot of a computer&#10;&#10;Description automatically generated">
            <a:extLst>
              <a:ext uri="{FF2B5EF4-FFF2-40B4-BE49-F238E27FC236}">
                <a16:creationId xmlns:a16="http://schemas.microsoft.com/office/drawing/2014/main" id="{50631B9F-52F6-494C-AF9A-3FD6F7BCA66C}"/>
              </a:ext>
            </a:extLst>
          </p:cNvPr>
          <p:cNvPicPr>
            <a:picLocks noChangeAspect="1"/>
          </p:cNvPicPr>
          <p:nvPr/>
        </p:nvPicPr>
        <p:blipFill>
          <a:blip r:embed="rId3">
            <a:extLst>
              <a:ext uri="{28A0092B-C50C-407E-A947-70E740481C1C}">
                <a14:useLocalDpi xmlns:a14="http://schemas.microsoft.com/office/drawing/2010/main" val="0"/>
              </a:ext>
            </a:extLst>
          </a:blip>
          <a:srcRect l="1772" t="4474" r="12048" b="3947"/>
          <a:stretch>
            <a:fillRect/>
          </a:stretch>
        </p:blipFill>
        <p:spPr>
          <a:xfrm>
            <a:off x="817874" y="1173096"/>
            <a:ext cx="10465922" cy="2882036"/>
          </a:xfrm>
          <a:prstGeom prst="rect">
            <a:avLst/>
          </a:prstGeom>
        </p:spPr>
      </p:pic>
    </p:spTree>
    <p:extLst>
      <p:ext uri="{BB962C8B-B14F-4D97-AF65-F5344CB8AC3E}">
        <p14:creationId xmlns:p14="http://schemas.microsoft.com/office/powerpoint/2010/main" val="3758641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19EB-5170-7324-2534-3271134BBABE}"/>
              </a:ext>
            </a:extLst>
          </p:cNvPr>
          <p:cNvSpPr>
            <a:spLocks noGrp="1"/>
          </p:cNvSpPr>
          <p:nvPr>
            <p:ph type="title"/>
          </p:nvPr>
        </p:nvSpPr>
        <p:spPr>
          <a:xfrm>
            <a:off x="235712" y="622576"/>
            <a:ext cx="12001592" cy="1088358"/>
          </a:xfrm>
        </p:spPr>
        <p:txBody>
          <a:bodyPr>
            <a:normAutofit/>
          </a:bodyPr>
          <a:lstStyle/>
          <a:p>
            <a:r>
              <a:rPr lang="en-US" sz="3600" b="1">
                <a:solidFill>
                  <a:srgbClr val="FFFFFF"/>
                </a:solidFill>
                <a:latin typeface="Arial"/>
                <a:cs typeface="Arial"/>
              </a:rPr>
              <a:t>From Model to Money: Portfolio Returns &amp; ROI</a:t>
            </a:r>
          </a:p>
        </p:txBody>
      </p:sp>
      <p:sp>
        <p:nvSpPr>
          <p:cNvPr id="15" name="Rectangle: Rounded Corners 14">
            <a:extLst>
              <a:ext uri="{FF2B5EF4-FFF2-40B4-BE49-F238E27FC236}">
                <a16:creationId xmlns:a16="http://schemas.microsoft.com/office/drawing/2014/main" id="{D0917488-2220-43FD-A267-EDC4A99ECD12}"/>
              </a:ext>
            </a:extLst>
          </p:cNvPr>
          <p:cNvSpPr/>
          <p:nvPr/>
        </p:nvSpPr>
        <p:spPr>
          <a:xfrm>
            <a:off x="7455922" y="4278004"/>
            <a:ext cx="4238468" cy="114481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a:solidFill>
                  <a:srgbClr val="163E64"/>
                </a:solidFill>
                <a:latin typeface="Calibri"/>
                <a:ea typeface="Calibri"/>
                <a:cs typeface="Calibri"/>
              </a:rPr>
              <a:t>Total capital outlay: $15,720                                </a:t>
            </a:r>
            <a:endParaRPr lang="en-US">
              <a:solidFill>
                <a:srgbClr val="163E64"/>
              </a:solidFill>
              <a:latin typeface="Calibri"/>
              <a:ea typeface="Calibri"/>
              <a:cs typeface="Calibri"/>
            </a:endParaRPr>
          </a:p>
          <a:p>
            <a:r>
              <a:rPr lang="en-US" sz="1600">
                <a:solidFill>
                  <a:srgbClr val="163E64"/>
                </a:solidFill>
                <a:latin typeface="Calibri"/>
                <a:ea typeface="Calibri"/>
                <a:cs typeface="Calibri"/>
              </a:rPr>
              <a:t>Total cash returned: $18,243.20</a:t>
            </a:r>
            <a:endParaRPr lang="en-US">
              <a:solidFill>
                <a:srgbClr val="163E64"/>
              </a:solidFill>
              <a:latin typeface="Calibri"/>
              <a:ea typeface="Calibri"/>
              <a:cs typeface="Calibri"/>
            </a:endParaRPr>
          </a:p>
          <a:p>
            <a:r>
              <a:rPr lang="en-US" sz="1600" b="1">
                <a:solidFill>
                  <a:srgbClr val="163E64"/>
                </a:solidFill>
                <a:latin typeface="Calibri"/>
                <a:ea typeface="Calibri"/>
                <a:cs typeface="Calibri"/>
              </a:rPr>
              <a:t>Net profit = $2,523.20, 16% ROI</a:t>
            </a:r>
            <a:endParaRPr lang="en-US" sz="1600" b="1">
              <a:solidFill>
                <a:srgbClr val="163E64"/>
              </a:solidFill>
            </a:endParaRPr>
          </a:p>
        </p:txBody>
      </p:sp>
      <p:pic>
        <p:nvPicPr>
          <p:cNvPr id="8" name="Picture 7">
            <a:extLst>
              <a:ext uri="{FF2B5EF4-FFF2-40B4-BE49-F238E27FC236}">
                <a16:creationId xmlns:a16="http://schemas.microsoft.com/office/drawing/2014/main" id="{D7C09C26-5508-4B8D-9FF8-2084CC15738C}"/>
              </a:ext>
            </a:extLst>
          </p:cNvPr>
          <p:cNvPicPr>
            <a:picLocks noChangeAspect="1"/>
          </p:cNvPicPr>
          <p:nvPr/>
        </p:nvPicPr>
        <p:blipFill>
          <a:blip r:embed="rId3">
            <a:extLst>
              <a:ext uri="{28A0092B-C50C-407E-A947-70E740481C1C}">
                <a14:useLocalDpi xmlns:a14="http://schemas.microsoft.com/office/drawing/2010/main" val="0"/>
              </a:ext>
            </a:extLst>
          </a:blip>
          <a:srcRect l="597" t="1627" r="986" b="3941"/>
          <a:stretch>
            <a:fillRect/>
          </a:stretch>
        </p:blipFill>
        <p:spPr>
          <a:xfrm>
            <a:off x="308029" y="1140328"/>
            <a:ext cx="6611323" cy="4419226"/>
          </a:xfrm>
          <a:prstGeom prst="rect">
            <a:avLst/>
          </a:prstGeom>
        </p:spPr>
      </p:pic>
      <p:sp>
        <p:nvSpPr>
          <p:cNvPr id="16" name="Rectangle: Rounded Corners 15">
            <a:extLst>
              <a:ext uri="{FF2B5EF4-FFF2-40B4-BE49-F238E27FC236}">
                <a16:creationId xmlns:a16="http://schemas.microsoft.com/office/drawing/2014/main" id="{D9CCF034-DFB7-4C46-840A-20CB27057A33}"/>
              </a:ext>
            </a:extLst>
          </p:cNvPr>
          <p:cNvSpPr/>
          <p:nvPr/>
        </p:nvSpPr>
        <p:spPr>
          <a:xfrm>
            <a:off x="7411397" y="1334773"/>
            <a:ext cx="4001385" cy="830440"/>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0D5CB5D-F40B-45AD-8961-B90D3BE44BFE}"/>
              </a:ext>
            </a:extLst>
          </p:cNvPr>
          <p:cNvSpPr/>
          <p:nvPr/>
        </p:nvSpPr>
        <p:spPr>
          <a:xfrm>
            <a:off x="7394833" y="2520965"/>
            <a:ext cx="4009668" cy="615090"/>
          </a:xfrm>
          <a:prstGeom prst="roundRect">
            <a:avLst/>
          </a:prstGeom>
          <a:solidFill>
            <a:srgbClr val="0D82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168EA02-A2FA-4830-AC45-D400E24BDAAE}"/>
              </a:ext>
            </a:extLst>
          </p:cNvPr>
          <p:cNvSpPr/>
          <p:nvPr/>
        </p:nvSpPr>
        <p:spPr>
          <a:xfrm>
            <a:off x="7436246" y="3396385"/>
            <a:ext cx="4001384" cy="590242"/>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E7A1FE3-82A6-4E09-AF25-12328455B4EA}"/>
              </a:ext>
            </a:extLst>
          </p:cNvPr>
          <p:cNvSpPr txBox="1"/>
          <p:nvPr/>
        </p:nvSpPr>
        <p:spPr>
          <a:xfrm>
            <a:off x="7526431" y="1333469"/>
            <a:ext cx="4263528" cy="830997"/>
          </a:xfrm>
          <a:prstGeom prst="rect">
            <a:avLst/>
          </a:prstGeom>
          <a:noFill/>
        </p:spPr>
        <p:txBody>
          <a:bodyPr wrap="square" lIns="91440" tIns="45720" rIns="91440" bIns="45720" rtlCol="0" anchor="t">
            <a:spAutoFit/>
          </a:bodyPr>
          <a:lstStyle/>
          <a:p>
            <a:r>
              <a:rPr lang="en-US" sz="1600" b="1">
                <a:solidFill>
                  <a:srgbClr val="FFFFFF"/>
                </a:solidFill>
                <a:latin typeface="Calibri"/>
                <a:ea typeface="Calibri"/>
                <a:cs typeface="Calibri"/>
              </a:rPr>
              <a:t>🛑 Moneyline (home win): s</a:t>
            </a:r>
            <a:r>
              <a:rPr lang="en-US" sz="1600">
                <a:solidFill>
                  <a:srgbClr val="FFFFFF"/>
                </a:solidFill>
                <a:latin typeface="Calibri"/>
                <a:ea typeface="Calibri"/>
                <a:cs typeface="Calibri"/>
              </a:rPr>
              <a:t>mall but mighty</a:t>
            </a:r>
            <a:endParaRPr lang="en-US">
              <a:solidFill>
                <a:srgbClr val="000000"/>
              </a:solidFill>
              <a:latin typeface="Neue Haas Grotesk Text Pro"/>
              <a:ea typeface="Calibri"/>
              <a:cs typeface="Calibri"/>
            </a:endParaRPr>
          </a:p>
          <a:p>
            <a:pPr marL="285750" indent="-285750">
              <a:buFont typeface="Arial" panose="020B0604020202020204" pitchFamily="34" charset="0"/>
              <a:buChar char="•"/>
            </a:pPr>
            <a:r>
              <a:rPr lang="en-US" sz="1600">
                <a:solidFill>
                  <a:srgbClr val="FFFFFF"/>
                </a:solidFill>
                <a:latin typeface="Calibri"/>
                <a:ea typeface="Calibri"/>
                <a:cs typeface="Calibri"/>
              </a:rPr>
              <a:t>Skipping almost 90% of games! </a:t>
            </a:r>
          </a:p>
          <a:p>
            <a:pPr marL="285750" indent="-285750">
              <a:buFont typeface="Arial" panose="020B0604020202020204" pitchFamily="34" charset="0"/>
              <a:buChar char="•"/>
            </a:pPr>
            <a:r>
              <a:rPr lang="en-US" sz="1600">
                <a:solidFill>
                  <a:srgbClr val="FFFFFF"/>
                </a:solidFill>
                <a:latin typeface="Calibri"/>
                <a:ea typeface="Calibri"/>
                <a:cs typeface="Calibri"/>
              </a:rPr>
              <a:t>$184.20  profit and 16.30% ROI</a:t>
            </a:r>
          </a:p>
        </p:txBody>
      </p:sp>
      <p:sp>
        <p:nvSpPr>
          <p:cNvPr id="12" name="TextBox 11">
            <a:extLst>
              <a:ext uri="{FF2B5EF4-FFF2-40B4-BE49-F238E27FC236}">
                <a16:creationId xmlns:a16="http://schemas.microsoft.com/office/drawing/2014/main" id="{87607B9D-0843-4D0A-874E-6B9575D9AB25}"/>
              </a:ext>
            </a:extLst>
          </p:cNvPr>
          <p:cNvSpPr txBox="1"/>
          <p:nvPr/>
        </p:nvSpPr>
        <p:spPr>
          <a:xfrm>
            <a:off x="7509866" y="2524739"/>
            <a:ext cx="4556317" cy="615553"/>
          </a:xfrm>
          <a:prstGeom prst="rect">
            <a:avLst/>
          </a:prstGeom>
          <a:noFill/>
        </p:spPr>
        <p:txBody>
          <a:bodyPr wrap="square" lIns="91440" tIns="45720" rIns="91440" bIns="45720" rtlCol="0" anchor="t">
            <a:spAutoFit/>
          </a:bodyPr>
          <a:lstStyle/>
          <a:p>
            <a:r>
              <a:rPr lang="en-US">
                <a:solidFill>
                  <a:srgbClr val="000000"/>
                </a:solidFill>
                <a:latin typeface="Calibri"/>
                <a:ea typeface="Calibri"/>
                <a:cs typeface="Calibri"/>
              </a:rPr>
              <a:t>🟢</a:t>
            </a:r>
            <a:r>
              <a:rPr lang="en-US" sz="1600" b="1">
                <a:solidFill>
                  <a:srgbClr val="FFFFFF"/>
                </a:solidFill>
                <a:latin typeface="Calibri"/>
                <a:ea typeface="Calibri"/>
                <a:cs typeface="Calibri"/>
              </a:rPr>
              <a:t>Puck Line (Home +1.5): our MVP</a:t>
            </a:r>
            <a:endParaRPr lang="en-US"/>
          </a:p>
          <a:p>
            <a:pPr marL="285750" indent="-285750">
              <a:buFont typeface="Arial" panose="020B0604020202020204" pitchFamily="34" charset="0"/>
              <a:buChar char="•"/>
            </a:pPr>
            <a:r>
              <a:rPr lang="en-US" sz="1600">
                <a:solidFill>
                  <a:srgbClr val="FFFFFF"/>
                </a:solidFill>
                <a:latin typeface="Calibri"/>
                <a:ea typeface="Calibri"/>
                <a:cs typeface="Calibri"/>
              </a:rPr>
              <a:t> $2,146 profit and 20% ROI</a:t>
            </a:r>
          </a:p>
        </p:txBody>
      </p:sp>
      <p:sp>
        <p:nvSpPr>
          <p:cNvPr id="13" name="TextBox 12">
            <a:extLst>
              <a:ext uri="{FF2B5EF4-FFF2-40B4-BE49-F238E27FC236}">
                <a16:creationId xmlns:a16="http://schemas.microsoft.com/office/drawing/2014/main" id="{83826658-E649-4F8A-9490-CAB6345ECB34}"/>
              </a:ext>
            </a:extLst>
          </p:cNvPr>
          <p:cNvSpPr txBox="1"/>
          <p:nvPr/>
        </p:nvSpPr>
        <p:spPr>
          <a:xfrm>
            <a:off x="7443604" y="3396192"/>
            <a:ext cx="4556317" cy="584775"/>
          </a:xfrm>
          <a:prstGeom prst="rect">
            <a:avLst/>
          </a:prstGeom>
          <a:noFill/>
        </p:spPr>
        <p:txBody>
          <a:bodyPr wrap="square" lIns="91440" tIns="45720" rIns="91440" bIns="45720" rtlCol="0" anchor="t">
            <a:spAutoFit/>
          </a:bodyPr>
          <a:lstStyle/>
          <a:p>
            <a:r>
              <a:rPr lang="en-US" sz="1600" b="1">
                <a:solidFill>
                  <a:srgbClr val="FFFFFF"/>
                </a:solidFill>
                <a:latin typeface="Neue Haas Grotesk Text Pro"/>
                <a:ea typeface="Calibri"/>
                <a:cs typeface="Calibri"/>
              </a:rPr>
              <a:t>⚖ </a:t>
            </a:r>
            <a:r>
              <a:rPr lang="en-US" sz="1600" b="1">
                <a:solidFill>
                  <a:srgbClr val="FFFFFF"/>
                </a:solidFill>
                <a:latin typeface="Calibri"/>
                <a:ea typeface="Calibri"/>
                <a:cs typeface="Calibri"/>
              </a:rPr>
              <a:t>Totals (over 5.5): s</a:t>
            </a:r>
            <a:r>
              <a:rPr lang="en-US" sz="1600">
                <a:solidFill>
                  <a:srgbClr val="FFFFFF"/>
                </a:solidFill>
                <a:latin typeface="Calibri"/>
                <a:ea typeface="Calibri"/>
                <a:cs typeface="Calibri"/>
              </a:rPr>
              <a:t>teady yield</a:t>
            </a:r>
            <a:endParaRPr lang="en-US">
              <a:solidFill>
                <a:srgbClr val="000000"/>
              </a:solidFill>
              <a:latin typeface="Neue Haas Grotesk Text Pro"/>
              <a:ea typeface="Calibri"/>
              <a:cs typeface="Calibri"/>
            </a:endParaRPr>
          </a:p>
          <a:p>
            <a:pPr marL="285750" indent="-285750">
              <a:buFont typeface="Arial" panose="020B0604020202020204" pitchFamily="34" charset="0"/>
              <a:buChar char="•"/>
            </a:pPr>
            <a:r>
              <a:rPr lang="en-US" sz="1600">
                <a:solidFill>
                  <a:srgbClr val="FFFFFF"/>
                </a:solidFill>
                <a:latin typeface="Calibri"/>
                <a:ea typeface="Calibri"/>
                <a:cs typeface="Calibri"/>
              </a:rPr>
              <a:t>$193 profit and 5% ROI </a:t>
            </a:r>
          </a:p>
        </p:txBody>
      </p:sp>
    </p:spTree>
    <p:extLst>
      <p:ext uri="{BB962C8B-B14F-4D97-AF65-F5344CB8AC3E}">
        <p14:creationId xmlns:p14="http://schemas.microsoft.com/office/powerpoint/2010/main" val="1573057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19EB-5170-7324-2534-3271134BBABE}"/>
              </a:ext>
            </a:extLst>
          </p:cNvPr>
          <p:cNvSpPr>
            <a:spLocks noGrp="1"/>
          </p:cNvSpPr>
          <p:nvPr>
            <p:ph type="title"/>
          </p:nvPr>
        </p:nvSpPr>
        <p:spPr>
          <a:xfrm>
            <a:off x="235712" y="622576"/>
            <a:ext cx="12001592" cy="1088358"/>
          </a:xfrm>
        </p:spPr>
        <p:txBody>
          <a:bodyPr>
            <a:normAutofit/>
          </a:bodyPr>
          <a:lstStyle/>
          <a:p>
            <a:r>
              <a:rPr lang="en-US" sz="3600" b="1">
                <a:solidFill>
                  <a:schemeClr val="bg1"/>
                </a:solidFill>
                <a:latin typeface="Arial"/>
                <a:cs typeface="Arial"/>
              </a:rPr>
              <a:t>The NHL Predictive Yield Opportunity</a:t>
            </a:r>
          </a:p>
        </p:txBody>
      </p:sp>
      <p:pic>
        <p:nvPicPr>
          <p:cNvPr id="4" name="Picture 3" descr="A screenshot of a computer&#10;&#10;Description automatically generated">
            <a:extLst>
              <a:ext uri="{FF2B5EF4-FFF2-40B4-BE49-F238E27FC236}">
                <a16:creationId xmlns:a16="http://schemas.microsoft.com/office/drawing/2014/main" id="{D272B574-2507-44E7-A73A-E5640059F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490" y="1377394"/>
            <a:ext cx="11684531" cy="3178951"/>
          </a:xfrm>
          <a:prstGeom prst="rect">
            <a:avLst/>
          </a:prstGeom>
        </p:spPr>
      </p:pic>
      <p:sp>
        <p:nvSpPr>
          <p:cNvPr id="3" name="Rectangle: Rounded Corners 2">
            <a:extLst>
              <a:ext uri="{FF2B5EF4-FFF2-40B4-BE49-F238E27FC236}">
                <a16:creationId xmlns:a16="http://schemas.microsoft.com/office/drawing/2014/main" id="{FB153070-93CC-76BA-CB6A-F7C8ED3B7920}"/>
              </a:ext>
            </a:extLst>
          </p:cNvPr>
          <p:cNvSpPr/>
          <p:nvPr/>
        </p:nvSpPr>
        <p:spPr>
          <a:xfrm>
            <a:off x="244308" y="3455132"/>
            <a:ext cx="11334669" cy="38585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75EAB4-B033-75F9-977E-0E7B00EC524D}"/>
              </a:ext>
            </a:extLst>
          </p:cNvPr>
          <p:cNvSpPr/>
          <p:nvPr/>
        </p:nvSpPr>
        <p:spPr>
          <a:xfrm>
            <a:off x="164046" y="3950796"/>
            <a:ext cx="11948084" cy="656187"/>
          </a:xfrm>
          <a:prstGeom prst="rect">
            <a:avLst/>
          </a:prstGeom>
          <a:solidFill>
            <a:srgbClr val="071A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D0917488-2220-43FD-A267-EDC4A99ECD12}"/>
              </a:ext>
            </a:extLst>
          </p:cNvPr>
          <p:cNvSpPr/>
          <p:nvPr/>
        </p:nvSpPr>
        <p:spPr>
          <a:xfrm>
            <a:off x="-20511" y="4576796"/>
            <a:ext cx="12206642" cy="68756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extBox 10">
            <a:extLst>
              <a:ext uri="{FF2B5EF4-FFF2-40B4-BE49-F238E27FC236}">
                <a16:creationId xmlns:a16="http://schemas.microsoft.com/office/drawing/2014/main" id="{D7F21085-E09D-48E6-A010-9D59771C3AEC}"/>
              </a:ext>
            </a:extLst>
          </p:cNvPr>
          <p:cNvSpPr txBox="1"/>
          <p:nvPr/>
        </p:nvSpPr>
        <p:spPr>
          <a:xfrm>
            <a:off x="578692" y="4576796"/>
            <a:ext cx="11328433" cy="1064650"/>
          </a:xfrm>
          <a:prstGeom prst="rect">
            <a:avLst/>
          </a:prstGeom>
          <a:noFill/>
        </p:spPr>
        <p:txBody>
          <a:bodyPr wrap="square" lIns="91440" tIns="45720" rIns="91440" bIns="45720" rtlCol="0" anchor="t">
            <a:spAutoFit/>
          </a:bodyPr>
          <a:lstStyle/>
          <a:p>
            <a:pPr algn="ctr">
              <a:lnSpc>
                <a:spcPct val="107000"/>
              </a:lnSpc>
              <a:spcAft>
                <a:spcPts val="800"/>
              </a:spcAft>
            </a:pPr>
            <a:r>
              <a:rPr lang="en-US">
                <a:solidFill>
                  <a:schemeClr val="tx2">
                    <a:lumMod val="90000"/>
                    <a:lumOff val="10000"/>
                  </a:schemeClr>
                </a:solidFill>
                <a:effectLst/>
                <a:latin typeface="Calibri"/>
                <a:ea typeface="Calibri"/>
                <a:cs typeface="Calibri"/>
              </a:rPr>
              <a:t> </a:t>
            </a:r>
            <a:r>
              <a:rPr lang="en-US" b="1">
                <a:solidFill>
                  <a:schemeClr val="tx2">
                    <a:lumMod val="90000"/>
                    <a:lumOff val="10000"/>
                  </a:schemeClr>
                </a:solidFill>
                <a:effectLst/>
                <a:latin typeface="Calibri"/>
                <a:ea typeface="Calibri"/>
                <a:cs typeface="Calibri"/>
              </a:rPr>
              <a:t>We have established the data pipeline, verified the ML algorithms, automated the risk filters, and proven the ROI.</a:t>
            </a:r>
            <a:r>
              <a:rPr lang="en-US">
                <a:solidFill>
                  <a:schemeClr val="tx2">
                    <a:lumMod val="90000"/>
                    <a:lumOff val="10000"/>
                  </a:schemeClr>
                </a:solidFill>
                <a:effectLst/>
                <a:latin typeface="Calibri"/>
                <a:ea typeface="Calibri"/>
                <a:cs typeface="Calibri"/>
              </a:rPr>
              <a:t> </a:t>
            </a:r>
            <a:br>
              <a:rPr lang="en-US">
                <a:latin typeface="Calibri"/>
                <a:ea typeface="Calibri"/>
                <a:cs typeface="Calibri"/>
              </a:rPr>
            </a:br>
            <a:r>
              <a:rPr lang="en-US" b="1">
                <a:solidFill>
                  <a:schemeClr val="tx2">
                    <a:lumMod val="90000"/>
                    <a:lumOff val="10000"/>
                  </a:schemeClr>
                </a:solidFill>
                <a:latin typeface="Calibri"/>
                <a:ea typeface="Calibri"/>
                <a:cs typeface="Calibri"/>
              </a:rPr>
              <a:t>This is a  systematic, data-validated, capital-efficient yield engine, not a 'get rich quick' scam</a:t>
            </a:r>
            <a:endParaRPr lang="en-US" b="1">
              <a:solidFill>
                <a:schemeClr val="tx2">
                  <a:lumMod val="90000"/>
                  <a:lumOff val="10000"/>
                </a:schemeClr>
              </a:solidFill>
              <a:effectLst/>
              <a:latin typeface="Calibri"/>
              <a:ea typeface="Calibri"/>
              <a:cs typeface="Calibri"/>
            </a:endParaRPr>
          </a:p>
          <a:p>
            <a:pPr marR="0">
              <a:spcBef>
                <a:spcPts val="0"/>
              </a:spcBef>
            </a:pPr>
            <a:endParaRPr lang="en-US">
              <a:solidFill>
                <a:srgbClr val="FFFFFF"/>
              </a:solidFill>
            </a:endParaRPr>
          </a:p>
        </p:txBody>
      </p:sp>
    </p:spTree>
    <p:extLst>
      <p:ext uri="{BB962C8B-B14F-4D97-AF65-F5344CB8AC3E}">
        <p14:creationId xmlns:p14="http://schemas.microsoft.com/office/powerpoint/2010/main" val="241225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86644" y="235373"/>
            <a:ext cx="11247120" cy="822960"/>
          </a:xfrm>
          <a:prstGeom prst="rect">
            <a:avLst/>
          </a:prstGeom>
          <a:noFill/>
          <a:ln/>
        </p:spPr>
        <p:txBody>
          <a:bodyPr wrap="square" lIns="0" tIns="0" rIns="0" bIns="0" rtlCol="0" anchor="ctr"/>
          <a:lstStyle/>
          <a:p>
            <a:r>
              <a:rPr lang="en-US" sz="3600" b="1">
                <a:solidFill>
                  <a:srgbClr val="0E2A47"/>
                </a:solidFill>
                <a:latin typeface="Arial"/>
                <a:ea typeface="Arial" pitchFamily="34" charset="-122"/>
                <a:cs typeface="Arial"/>
              </a:rPr>
              <a:t>Using Historical Data to Predict Champions</a:t>
            </a:r>
            <a:endParaRPr lang="en-US" sz="3600">
              <a:latin typeface="Arial"/>
              <a:cs typeface="Arial"/>
            </a:endParaRPr>
          </a:p>
        </p:txBody>
      </p:sp>
      <p:sp>
        <p:nvSpPr>
          <p:cNvPr id="3" name="Setup band"/>
          <p:cNvSpPr/>
          <p:nvPr/>
        </p:nvSpPr>
        <p:spPr>
          <a:xfrm>
            <a:off x="0" y="1484488"/>
            <a:ext cx="12188952" cy="712896"/>
          </a:xfrm>
          <a:prstGeom prst="rect">
            <a:avLst/>
          </a:prstGeom>
          <a:solidFill>
            <a:srgbClr val="0B1F3A"/>
          </a:solidFill>
          <a:ln w="12700">
            <a:solidFill>
              <a:srgbClr val="0B1F3A"/>
            </a:solidFill>
            <a:prstDash val="solid"/>
          </a:ln>
        </p:spPr>
        <p:txBody>
          <a:bodyPr/>
          <a:lstStyle/>
          <a:p>
            <a:endParaRPr lang="en-SG"/>
          </a:p>
        </p:txBody>
      </p:sp>
      <p:sp>
        <p:nvSpPr>
          <p:cNvPr id="5" name="Card 1"/>
          <p:cNvSpPr/>
          <p:nvPr/>
        </p:nvSpPr>
        <p:spPr>
          <a:xfrm>
            <a:off x="457200" y="2743200"/>
            <a:ext cx="2606040" cy="2780454"/>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9" name="Text 7"/>
          <p:cNvSpPr txBox="1"/>
          <p:nvPr/>
        </p:nvSpPr>
        <p:spPr>
          <a:xfrm>
            <a:off x="516467" y="3301436"/>
            <a:ext cx="2148840" cy="731520"/>
          </a:xfrm>
          <a:prstGeom prst="rect">
            <a:avLst/>
          </a:prstGeom>
          <a:noFill/>
          <a:ln/>
        </p:spPr>
        <p:txBody>
          <a:bodyPr wrap="square" lIns="0" tIns="0" rIns="0" bIns="0" rtlCol="0" anchor="ctr"/>
          <a:lstStyle/>
          <a:p>
            <a:pPr marL="0" indent="0">
              <a:buNone/>
            </a:pPr>
            <a:r>
              <a:rPr lang="en-US" sz="4000" b="1">
                <a:solidFill>
                  <a:srgbClr val="0E2A47"/>
                </a:solidFill>
                <a:latin typeface="Arial" pitchFamily="34" charset="0"/>
                <a:ea typeface="Arial" pitchFamily="34" charset="-122"/>
                <a:cs typeface="Arial" pitchFamily="34" charset="-120"/>
              </a:rPr>
              <a:t>19</a:t>
            </a:r>
            <a:endParaRPr lang="en-US" sz="4000"/>
          </a:p>
        </p:txBody>
      </p:sp>
      <p:sp>
        <p:nvSpPr>
          <p:cNvPr id="10" name="Text 8"/>
          <p:cNvSpPr txBox="1"/>
          <p:nvPr/>
        </p:nvSpPr>
        <p:spPr>
          <a:xfrm>
            <a:off x="1123244" y="3539067"/>
            <a:ext cx="2148840" cy="320040"/>
          </a:xfrm>
          <a:prstGeom prst="rect">
            <a:avLst/>
          </a:prstGeom>
          <a:noFill/>
          <a:ln/>
        </p:spPr>
        <p:txBody>
          <a:bodyPr wrap="square" lIns="0" tIns="0" rIns="0" bIns="0" rtlCol="0" anchor="t"/>
          <a:lstStyle/>
          <a:p>
            <a:r>
              <a:rPr lang="en-US" sz="1400" i="1">
                <a:solidFill>
                  <a:srgbClr val="1F8FE5"/>
                </a:solidFill>
                <a:latin typeface="Calibri"/>
                <a:ea typeface="Calibri"/>
                <a:cs typeface="Calibri"/>
              </a:rPr>
              <a:t>seasons of game data</a:t>
            </a:r>
            <a:endParaRPr lang="en-US" sz="1400"/>
          </a:p>
        </p:txBody>
      </p:sp>
      <p:sp>
        <p:nvSpPr>
          <p:cNvPr id="11" name="Text 9"/>
          <p:cNvSpPr txBox="1"/>
          <p:nvPr/>
        </p:nvSpPr>
        <p:spPr>
          <a:xfrm>
            <a:off x="699911" y="4218658"/>
            <a:ext cx="2148840" cy="1097280"/>
          </a:xfrm>
          <a:prstGeom prst="rect">
            <a:avLst/>
          </a:prstGeom>
          <a:noFill/>
          <a:ln/>
        </p:spPr>
        <p:txBody>
          <a:bodyPr wrap="square" lIns="0" tIns="0" rIns="0" bIns="0" rtlCol="0" anchor="t"/>
          <a:lstStyle/>
          <a:p>
            <a:r>
              <a:rPr lang="en-US" sz="1400">
                <a:solidFill>
                  <a:srgbClr val="4A5563"/>
                </a:solidFill>
                <a:latin typeface="Calibri"/>
                <a:ea typeface="Calibri"/>
                <a:cs typeface="Calibri"/>
              </a:rPr>
              <a:t>Trained on all NHL regular season &amp; playoff games from 2000–01 to 2019–20 (excluding 2004-05 lockout)</a:t>
            </a:r>
          </a:p>
        </p:txBody>
      </p:sp>
      <p:sp>
        <p:nvSpPr>
          <p:cNvPr id="12" name="Arrow 1"/>
          <p:cNvSpPr/>
          <p:nvPr/>
        </p:nvSpPr>
        <p:spPr>
          <a:xfrm>
            <a:off x="3127248" y="4238244"/>
            <a:ext cx="146304" cy="256032"/>
          </a:xfrm>
          <a:prstGeom prst="chevron">
            <a:avLst/>
          </a:prstGeom>
          <a:solidFill>
            <a:srgbClr val="1F8FE5"/>
          </a:solidFill>
          <a:ln w="12700">
            <a:solidFill>
              <a:srgbClr val="1F8FE5"/>
            </a:solidFill>
            <a:prstDash val="solid"/>
          </a:ln>
        </p:spPr>
        <p:txBody>
          <a:bodyPr/>
          <a:lstStyle/>
          <a:p>
            <a:endParaRPr lang="en-SG"/>
          </a:p>
        </p:txBody>
      </p:sp>
      <p:sp>
        <p:nvSpPr>
          <p:cNvPr id="13" name="Card 2"/>
          <p:cNvSpPr/>
          <p:nvPr/>
        </p:nvSpPr>
        <p:spPr>
          <a:xfrm>
            <a:off x="3337560" y="2743200"/>
            <a:ext cx="2606040" cy="2780454"/>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17" name="Text 15"/>
          <p:cNvSpPr txBox="1"/>
          <p:nvPr/>
        </p:nvSpPr>
        <p:spPr>
          <a:xfrm>
            <a:off x="3509716" y="3301436"/>
            <a:ext cx="2148840" cy="731520"/>
          </a:xfrm>
          <a:prstGeom prst="rect">
            <a:avLst/>
          </a:prstGeom>
          <a:noFill/>
          <a:ln/>
        </p:spPr>
        <p:txBody>
          <a:bodyPr wrap="square" lIns="0" tIns="0" rIns="0" bIns="0" rtlCol="0" anchor="ctr"/>
          <a:lstStyle/>
          <a:p>
            <a:pPr marL="0" indent="0">
              <a:buNone/>
            </a:pPr>
            <a:r>
              <a:rPr lang="en-US" sz="4000" b="1">
                <a:solidFill>
                  <a:srgbClr val="0E2A47"/>
                </a:solidFill>
                <a:latin typeface="Arial" pitchFamily="34" charset="0"/>
                <a:ea typeface="Arial" pitchFamily="34" charset="-122"/>
                <a:cs typeface="Arial" pitchFamily="34" charset="-120"/>
              </a:rPr>
              <a:t>31</a:t>
            </a:r>
            <a:endParaRPr lang="en-US" sz="4000"/>
          </a:p>
        </p:txBody>
      </p:sp>
      <p:sp>
        <p:nvSpPr>
          <p:cNvPr id="18" name="Text 16"/>
          <p:cNvSpPr txBox="1"/>
          <p:nvPr/>
        </p:nvSpPr>
        <p:spPr>
          <a:xfrm>
            <a:off x="4130605" y="3539067"/>
            <a:ext cx="214884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teams ranked</a:t>
            </a:r>
            <a:endParaRPr lang="en-US" sz="1400"/>
          </a:p>
        </p:txBody>
      </p:sp>
      <p:sp>
        <p:nvSpPr>
          <p:cNvPr id="19" name="Text 17"/>
          <p:cNvSpPr txBox="1"/>
          <p:nvPr/>
        </p:nvSpPr>
        <p:spPr>
          <a:xfrm>
            <a:off x="3580271" y="4218658"/>
            <a:ext cx="2148840" cy="1097280"/>
          </a:xfrm>
          <a:prstGeom prst="rect">
            <a:avLst/>
          </a:prstGeom>
          <a:noFill/>
          <a:ln/>
        </p:spPr>
        <p:txBody>
          <a:bodyPr wrap="square" lIns="0" tIns="0" rIns="0" bIns="0" rtlCol="0" anchor="t"/>
          <a:lstStyle/>
          <a:p>
            <a:r>
              <a:rPr lang="en-US" sz="1400">
                <a:solidFill>
                  <a:srgbClr val="4A5563"/>
                </a:solidFill>
                <a:latin typeface="Calibri"/>
                <a:ea typeface="Calibri"/>
                <a:cs typeface="Calibri"/>
              </a:rPr>
              <a:t>Converted team and player metrics into Stanley Cup winning odds and top 10 scorer projections</a:t>
            </a:r>
            <a:endParaRPr lang="en-US"/>
          </a:p>
        </p:txBody>
      </p:sp>
      <p:sp>
        <p:nvSpPr>
          <p:cNvPr id="20" name="Arrow 2"/>
          <p:cNvSpPr/>
          <p:nvPr/>
        </p:nvSpPr>
        <p:spPr>
          <a:xfrm>
            <a:off x="6007608" y="4238244"/>
            <a:ext cx="146304" cy="256032"/>
          </a:xfrm>
          <a:prstGeom prst="chevron">
            <a:avLst/>
          </a:prstGeom>
          <a:solidFill>
            <a:srgbClr val="1F8FE5"/>
          </a:solidFill>
          <a:ln w="12700">
            <a:solidFill>
              <a:srgbClr val="1F8FE5"/>
            </a:solidFill>
            <a:prstDash val="solid"/>
          </a:ln>
        </p:spPr>
        <p:txBody>
          <a:bodyPr/>
          <a:lstStyle/>
          <a:p>
            <a:endParaRPr lang="en-SG"/>
          </a:p>
        </p:txBody>
      </p:sp>
      <p:sp>
        <p:nvSpPr>
          <p:cNvPr id="21" name="Card 3"/>
          <p:cNvSpPr/>
          <p:nvPr/>
        </p:nvSpPr>
        <p:spPr>
          <a:xfrm>
            <a:off x="6217920" y="2743200"/>
            <a:ext cx="2606040" cy="2780454"/>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25" name="Text 23"/>
          <p:cNvSpPr txBox="1"/>
          <p:nvPr/>
        </p:nvSpPr>
        <p:spPr>
          <a:xfrm>
            <a:off x="6277187" y="3329658"/>
            <a:ext cx="2148840" cy="731520"/>
          </a:xfrm>
          <a:prstGeom prst="rect">
            <a:avLst/>
          </a:prstGeom>
          <a:noFill/>
          <a:ln/>
        </p:spPr>
        <p:txBody>
          <a:bodyPr wrap="square" lIns="0" tIns="0" rIns="0" bIns="0" rtlCol="0" anchor="ctr"/>
          <a:lstStyle/>
          <a:p>
            <a:pPr marL="0" indent="0">
              <a:buNone/>
            </a:pPr>
            <a:r>
              <a:rPr lang="en-US" sz="4000" b="1">
                <a:solidFill>
                  <a:srgbClr val="0E2A47"/>
                </a:solidFill>
                <a:latin typeface="Arial" pitchFamily="34" charset="0"/>
                <a:ea typeface="Arial" pitchFamily="34" charset="-122"/>
                <a:cs typeface="Arial" pitchFamily="34" charset="-120"/>
              </a:rPr>
              <a:t>5.90</a:t>
            </a:r>
            <a:endParaRPr lang="en-US" sz="4000"/>
          </a:p>
        </p:txBody>
      </p:sp>
      <p:sp>
        <p:nvSpPr>
          <p:cNvPr id="26" name="Text 24"/>
          <p:cNvSpPr txBox="1"/>
          <p:nvPr/>
        </p:nvSpPr>
        <p:spPr>
          <a:xfrm>
            <a:off x="7349631" y="3510845"/>
            <a:ext cx="2148840" cy="320040"/>
          </a:xfrm>
          <a:prstGeom prst="rect">
            <a:avLst/>
          </a:prstGeom>
          <a:noFill/>
          <a:ln/>
        </p:spPr>
        <p:txBody>
          <a:bodyPr wrap="square" lIns="0" tIns="0" rIns="0" bIns="0" rtlCol="0" anchor="t"/>
          <a:lstStyle/>
          <a:p>
            <a:r>
              <a:rPr lang="en-US" sz="1400" i="1">
                <a:solidFill>
                  <a:srgbClr val="1F8FE5"/>
                </a:solidFill>
                <a:latin typeface="Calibri"/>
                <a:ea typeface="Calibri"/>
                <a:cs typeface="Calibri"/>
              </a:rPr>
              <a:t>Avg. rank of real </a:t>
            </a:r>
            <a:br>
              <a:rPr lang="en-US" sz="1400" i="1">
                <a:solidFill>
                  <a:srgbClr val="1F8FE5"/>
                </a:solidFill>
                <a:latin typeface="Calibri"/>
                <a:ea typeface="Calibri"/>
                <a:cs typeface="Calibri"/>
              </a:rPr>
            </a:br>
            <a:r>
              <a:rPr lang="en-US" sz="1400" i="1">
                <a:solidFill>
                  <a:srgbClr val="1F8FE5"/>
                </a:solidFill>
                <a:latin typeface="Calibri"/>
                <a:ea typeface="Calibri"/>
                <a:cs typeface="Calibri"/>
              </a:rPr>
              <a:t>champion</a:t>
            </a:r>
            <a:endParaRPr lang="en-US" sz="1400">
              <a:latin typeface="Calibri"/>
              <a:ea typeface="Calibri"/>
              <a:cs typeface="Calibri"/>
            </a:endParaRPr>
          </a:p>
        </p:txBody>
      </p:sp>
      <p:sp>
        <p:nvSpPr>
          <p:cNvPr id="27" name="Text 25"/>
          <p:cNvSpPr txBox="1"/>
          <p:nvPr/>
        </p:nvSpPr>
        <p:spPr>
          <a:xfrm>
            <a:off x="6432408" y="4218658"/>
            <a:ext cx="2219395" cy="1294834"/>
          </a:xfrm>
          <a:prstGeom prst="rect">
            <a:avLst/>
          </a:prstGeom>
          <a:noFill/>
          <a:ln/>
        </p:spPr>
        <p:txBody>
          <a:bodyPr wrap="square" lIns="0" tIns="0" rIns="0" bIns="0" rtlCol="0" anchor="t"/>
          <a:lstStyle/>
          <a:p>
            <a:r>
              <a:rPr lang="en-US" sz="1400">
                <a:solidFill>
                  <a:srgbClr val="4A5563"/>
                </a:solidFill>
                <a:latin typeface="Calibri"/>
                <a:ea typeface="Calibri"/>
                <a:cs typeface="Calibri"/>
              </a:rPr>
              <a:t>Validated across 10 past seasons, using prior data only (Rank 1 = exact match)</a:t>
            </a:r>
            <a:endParaRPr lang="en-US" sz="1400"/>
          </a:p>
        </p:txBody>
      </p:sp>
      <p:sp>
        <p:nvSpPr>
          <p:cNvPr id="28" name="Arrow 3"/>
          <p:cNvSpPr/>
          <p:nvPr/>
        </p:nvSpPr>
        <p:spPr>
          <a:xfrm>
            <a:off x="8887968" y="4238244"/>
            <a:ext cx="146304" cy="256032"/>
          </a:xfrm>
          <a:prstGeom prst="chevron">
            <a:avLst/>
          </a:prstGeom>
          <a:solidFill>
            <a:srgbClr val="1F8FE5"/>
          </a:solidFill>
          <a:ln w="12700">
            <a:solidFill>
              <a:srgbClr val="1F8FE5"/>
            </a:solidFill>
            <a:prstDash val="solid"/>
          </a:ln>
        </p:spPr>
        <p:txBody>
          <a:bodyPr/>
          <a:lstStyle/>
          <a:p>
            <a:endParaRPr lang="en-SG"/>
          </a:p>
        </p:txBody>
      </p:sp>
      <p:sp>
        <p:nvSpPr>
          <p:cNvPr id="29" name="Card 4"/>
          <p:cNvSpPr/>
          <p:nvPr/>
        </p:nvSpPr>
        <p:spPr>
          <a:xfrm>
            <a:off x="9098280" y="2743200"/>
            <a:ext cx="2606040" cy="2780454"/>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33" name="Text 31"/>
          <p:cNvSpPr txBox="1"/>
          <p:nvPr/>
        </p:nvSpPr>
        <p:spPr>
          <a:xfrm>
            <a:off x="9298658" y="3329658"/>
            <a:ext cx="2148840" cy="731520"/>
          </a:xfrm>
          <a:prstGeom prst="rect">
            <a:avLst/>
          </a:prstGeom>
          <a:noFill/>
          <a:ln/>
        </p:spPr>
        <p:txBody>
          <a:bodyPr wrap="square" lIns="0" tIns="0" rIns="0" bIns="0" rtlCol="0" anchor="ctr"/>
          <a:lstStyle/>
          <a:p>
            <a:pPr marL="0" indent="0">
              <a:buNone/>
            </a:pPr>
            <a:r>
              <a:rPr lang="en-US" sz="4000" b="1">
                <a:solidFill>
                  <a:srgbClr val="0E2A47"/>
                </a:solidFill>
                <a:latin typeface="Arial" pitchFamily="34" charset="0"/>
                <a:ea typeface="Arial" pitchFamily="34" charset="-122"/>
                <a:cs typeface="Arial" pitchFamily="34" charset="-120"/>
              </a:rPr>
              <a:t>2 of 2</a:t>
            </a:r>
            <a:endParaRPr lang="en-US" sz="4000"/>
          </a:p>
        </p:txBody>
      </p:sp>
      <p:sp>
        <p:nvSpPr>
          <p:cNvPr id="34" name="Text 32"/>
          <p:cNvSpPr txBox="1"/>
          <p:nvPr/>
        </p:nvSpPr>
        <p:spPr>
          <a:xfrm>
            <a:off x="10681548" y="3510845"/>
            <a:ext cx="214884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calls landed</a:t>
            </a:r>
            <a:endParaRPr lang="en-US" sz="1400"/>
          </a:p>
        </p:txBody>
      </p:sp>
      <p:sp>
        <p:nvSpPr>
          <p:cNvPr id="35" name="Text 33"/>
          <p:cNvSpPr txBox="1"/>
          <p:nvPr/>
        </p:nvSpPr>
        <p:spPr>
          <a:xfrm>
            <a:off x="9340991" y="4218658"/>
            <a:ext cx="2148840" cy="1097280"/>
          </a:xfrm>
          <a:prstGeom prst="rect">
            <a:avLst/>
          </a:prstGeom>
          <a:noFill/>
          <a:ln/>
        </p:spPr>
        <p:txBody>
          <a:bodyPr wrap="square" lIns="0" tIns="0" rIns="0" bIns="0" rtlCol="0" anchor="t"/>
          <a:lstStyle/>
          <a:p>
            <a:r>
              <a:rPr lang="en-US" sz="1400">
                <a:solidFill>
                  <a:srgbClr val="4A5563"/>
                </a:solidFill>
                <a:latin typeface="Calibri"/>
                <a:ea typeface="Calibri"/>
                <a:cs typeface="Calibri"/>
              </a:rPr>
              <a:t>Evaluated against the 2020-21 actual results: accurately predicted McDavid and the Lightning.</a:t>
            </a:r>
            <a:endParaRPr lang="en-US" sz="1400">
              <a:latin typeface="Calibri"/>
              <a:ea typeface="Calibri"/>
              <a:cs typeface="Calibri"/>
            </a:endParaRPr>
          </a:p>
        </p:txBody>
      </p:sp>
      <p:sp>
        <p:nvSpPr>
          <p:cNvPr id="37" name="TextBox 36">
            <a:extLst>
              <a:ext uri="{FF2B5EF4-FFF2-40B4-BE49-F238E27FC236}">
                <a16:creationId xmlns:a16="http://schemas.microsoft.com/office/drawing/2014/main" id="{1A74F3F9-81A2-C9AE-7A73-DDE07802CB4C}"/>
              </a:ext>
            </a:extLst>
          </p:cNvPr>
          <p:cNvSpPr txBox="1"/>
          <p:nvPr/>
        </p:nvSpPr>
        <p:spPr>
          <a:xfrm>
            <a:off x="418264" y="1620599"/>
            <a:ext cx="31550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latin typeface="Calibri"/>
                <a:ea typeface="Calibri"/>
                <a:cs typeface="Calibri"/>
              </a:rPr>
              <a:t>To test accuracy of model </a:t>
            </a:r>
            <a:endParaRPr lang="en-US">
              <a:solidFill>
                <a:schemeClr val="bg1"/>
              </a:solidFill>
            </a:endParaRPr>
          </a:p>
          <a:p>
            <a:pPr algn="ctr"/>
            <a:r>
              <a:rPr lang="en-US">
                <a:solidFill>
                  <a:schemeClr val="bg1"/>
                </a:solidFill>
                <a:latin typeface="Calibri"/>
                <a:ea typeface="Calibri"/>
                <a:cs typeface="Calibri"/>
              </a:rPr>
              <a:t> </a:t>
            </a:r>
            <a:endParaRPr lang="en-US">
              <a:solidFill>
                <a:schemeClr val="bg1"/>
              </a:solidFill>
              <a:ea typeface="Calibri"/>
              <a:cs typeface="Calibri"/>
            </a:endParaRPr>
          </a:p>
        </p:txBody>
      </p:sp>
      <p:sp>
        <p:nvSpPr>
          <p:cNvPr id="38" name="TextBox 37">
            <a:extLst>
              <a:ext uri="{FF2B5EF4-FFF2-40B4-BE49-F238E27FC236}">
                <a16:creationId xmlns:a16="http://schemas.microsoft.com/office/drawing/2014/main" id="{6E5E8D72-B24B-B7A9-9B62-45FD811A9203}"/>
              </a:ext>
            </a:extLst>
          </p:cNvPr>
          <p:cNvSpPr txBox="1"/>
          <p:nvPr/>
        </p:nvSpPr>
        <p:spPr>
          <a:xfrm>
            <a:off x="4078111" y="1524001"/>
            <a:ext cx="6604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u="none" strike="noStrike" baseline="0">
                <a:solidFill>
                  <a:srgbClr val="FFFFFF"/>
                </a:solidFill>
                <a:latin typeface="Calibri"/>
                <a:ea typeface="Segoe UI"/>
                <a:cs typeface="Segoe UI"/>
              </a:rPr>
              <a:t>Based on pre-2020 data, we've </a:t>
            </a:r>
            <a:r>
              <a:rPr lang="en-US">
                <a:solidFill>
                  <a:srgbClr val="FFFFFF"/>
                </a:solidFill>
                <a:latin typeface="Calibri"/>
                <a:ea typeface="Segoe UI"/>
                <a:cs typeface="Segoe UI"/>
              </a:rPr>
              <a:t>simulated</a:t>
            </a:r>
            <a:r>
              <a:rPr lang="en-US" sz="1800" b="0" i="0" u="none" strike="noStrike" baseline="0">
                <a:solidFill>
                  <a:srgbClr val="FFFFFF"/>
                </a:solidFill>
                <a:latin typeface="Calibri"/>
                <a:ea typeface="Segoe UI"/>
                <a:cs typeface="Segoe UI"/>
              </a:rPr>
              <a:t> the 2020–21 </a:t>
            </a:r>
            <a:r>
              <a:rPr lang="en-US">
                <a:solidFill>
                  <a:srgbClr val="FFFFFF"/>
                </a:solidFill>
                <a:latin typeface="Calibri"/>
                <a:ea typeface="Segoe UI"/>
                <a:cs typeface="Segoe UI"/>
              </a:rPr>
              <a:t>NHL season</a:t>
            </a:r>
            <a:r>
              <a:rPr lang="en-US" sz="1800" b="0" i="0" u="none" strike="noStrike" baseline="0">
                <a:solidFill>
                  <a:srgbClr val="FFFFFF"/>
                </a:solidFill>
                <a:latin typeface="Calibri"/>
                <a:ea typeface="Segoe UI"/>
                <a:cs typeface="Segoe UI"/>
              </a:rPr>
              <a:t> to </a:t>
            </a:r>
            <a:r>
              <a:rPr lang="en-US" sz="1800" b="0" i="0" u="none" strike="noStrike" baseline="0">
                <a:solidFill>
                  <a:srgbClr val="000000"/>
                </a:solidFill>
                <a:latin typeface="Calibri"/>
                <a:ea typeface="Segoe UI"/>
                <a:cs typeface="Segoe UI"/>
              </a:rPr>
              <a:t>​</a:t>
            </a:r>
            <a:r>
              <a:rPr lang="en-US" sz="1800" b="0" i="0">
                <a:solidFill>
                  <a:srgbClr val="000000"/>
                </a:solidFill>
                <a:latin typeface="Calibri"/>
                <a:ea typeface="Segoe UI"/>
                <a:cs typeface="Segoe UI"/>
              </a:rPr>
              <a:t>​</a:t>
            </a:r>
            <a:r>
              <a:rPr lang="en-US" sz="1800" b="0" i="0" u="none" strike="noStrike" baseline="0">
                <a:solidFill>
                  <a:srgbClr val="FFFFFF"/>
                </a:solidFill>
                <a:latin typeface="Calibri"/>
                <a:ea typeface="Segoe UI"/>
                <a:cs typeface="Segoe UI"/>
              </a:rPr>
              <a:t>forecast the Stanley Cup </a:t>
            </a:r>
            <a:r>
              <a:rPr lang="en-US">
                <a:solidFill>
                  <a:srgbClr val="FFFFFF"/>
                </a:solidFill>
                <a:latin typeface="Calibri"/>
                <a:ea typeface="Segoe UI"/>
                <a:cs typeface="Segoe UI"/>
              </a:rPr>
              <a:t>Champion</a:t>
            </a:r>
            <a:r>
              <a:rPr lang="en-US" sz="1800" b="0" i="0" u="none" strike="noStrike" baseline="0">
                <a:solidFill>
                  <a:srgbClr val="FFFFFF"/>
                </a:solidFill>
                <a:latin typeface="Calibri"/>
                <a:ea typeface="Segoe UI"/>
                <a:cs typeface="Segoe UI"/>
              </a:rPr>
              <a:t> and scoring leader</a:t>
            </a:r>
            <a:r>
              <a:rPr lang="en-US" sz="1800" b="0" i="0">
                <a:solidFill>
                  <a:srgbClr val="000000"/>
                </a:solidFill>
                <a:latin typeface="Calibri"/>
                <a:ea typeface="Segoe UI"/>
                <a:cs typeface="Segoe UI"/>
              </a:rPr>
              <a:t>​</a:t>
            </a:r>
            <a:endParaRPr lang="en-US" sz="1800" b="0" i="0">
              <a:solidFill>
                <a:srgbClr val="000000"/>
              </a:solidFill>
              <a:latin typeface="Neue Haas Grotesk Text Pro"/>
              <a:ea typeface="Segoe UI"/>
              <a:cs typeface="Segoe UI"/>
            </a:endParaRPr>
          </a:p>
          <a:p>
            <a:pPr algn="ctr"/>
            <a:endParaRPr lang="en-US"/>
          </a:p>
        </p:txBody>
      </p:sp>
      <p:cxnSp>
        <p:nvCxnSpPr>
          <p:cNvPr id="39" name="Straight Arrow Connector 38">
            <a:extLst>
              <a:ext uri="{FF2B5EF4-FFF2-40B4-BE49-F238E27FC236}">
                <a16:creationId xmlns:a16="http://schemas.microsoft.com/office/drawing/2014/main" id="{9AAF9D17-74D3-5FB3-48E5-116B7A28F1E7}"/>
              </a:ext>
            </a:extLst>
          </p:cNvPr>
          <p:cNvCxnSpPr/>
          <p:nvPr/>
        </p:nvCxnSpPr>
        <p:spPr>
          <a:xfrm flipH="1">
            <a:off x="3457539" y="1674873"/>
            <a:ext cx="7266" cy="284391"/>
          </a:xfrm>
          <a:prstGeom prst="straightConnector1">
            <a:avLst/>
          </a:prstGeom>
          <a:ln w="57150"/>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0EA11815-01AB-FC55-6C15-B779507B8480}"/>
              </a:ext>
            </a:extLst>
          </p:cNvPr>
          <p:cNvSpPr/>
          <p:nvPr/>
        </p:nvSpPr>
        <p:spPr>
          <a:xfrm>
            <a:off x="461684" y="2978880"/>
            <a:ext cx="1154933" cy="269194"/>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t> </a:t>
            </a:r>
            <a:r>
              <a:rPr lang="en-US" b="1">
                <a:latin typeface="Calibri"/>
                <a:ea typeface="Calibri"/>
                <a:cs typeface="Calibri"/>
              </a:rPr>
              <a:t>Learn</a:t>
            </a:r>
          </a:p>
        </p:txBody>
      </p:sp>
      <p:sp>
        <p:nvSpPr>
          <p:cNvPr id="43" name="Rectangle: Rounded Corners 40">
            <a:extLst>
              <a:ext uri="{FF2B5EF4-FFF2-40B4-BE49-F238E27FC236}">
                <a16:creationId xmlns:a16="http://schemas.microsoft.com/office/drawing/2014/main" id="{6AF270A9-5D98-5FA1-E760-AA26A1A6E9F8}"/>
              </a:ext>
            </a:extLst>
          </p:cNvPr>
          <p:cNvSpPr/>
          <p:nvPr/>
        </p:nvSpPr>
        <p:spPr>
          <a:xfrm>
            <a:off x="3340351" y="2964769"/>
            <a:ext cx="1253710" cy="283305"/>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latin typeface="Calibri"/>
                <a:ea typeface="Calibri"/>
                <a:cs typeface="Calibri"/>
              </a:rPr>
              <a:t>Forecast</a:t>
            </a:r>
            <a:endParaRPr lang="en-US">
              <a:latin typeface="Calibri"/>
              <a:ea typeface="Calibri"/>
              <a:cs typeface="Calibri"/>
            </a:endParaRPr>
          </a:p>
        </p:txBody>
      </p:sp>
      <p:sp>
        <p:nvSpPr>
          <p:cNvPr id="44" name="Rectangle: Rounded Corners 40">
            <a:extLst>
              <a:ext uri="{FF2B5EF4-FFF2-40B4-BE49-F238E27FC236}">
                <a16:creationId xmlns:a16="http://schemas.microsoft.com/office/drawing/2014/main" id="{2ABAB33D-8237-A495-C4AA-94D5EBBB7C69}"/>
              </a:ext>
            </a:extLst>
          </p:cNvPr>
          <p:cNvSpPr/>
          <p:nvPr/>
        </p:nvSpPr>
        <p:spPr>
          <a:xfrm>
            <a:off x="6176684" y="2964769"/>
            <a:ext cx="1197266" cy="297416"/>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latin typeface="Calibri"/>
                <a:ea typeface="Calibri"/>
                <a:cs typeface="Calibri"/>
              </a:rPr>
              <a:t> Test</a:t>
            </a:r>
            <a:endParaRPr lang="en-US">
              <a:latin typeface="Calibri"/>
              <a:ea typeface="Calibri"/>
              <a:cs typeface="Calibri"/>
            </a:endParaRPr>
          </a:p>
        </p:txBody>
      </p:sp>
      <p:sp>
        <p:nvSpPr>
          <p:cNvPr id="45" name="Rectangle: Rounded Corners 40">
            <a:extLst>
              <a:ext uri="{FF2B5EF4-FFF2-40B4-BE49-F238E27FC236}">
                <a16:creationId xmlns:a16="http://schemas.microsoft.com/office/drawing/2014/main" id="{1B3B9561-CF48-B283-F9DB-90547B8C6A87}"/>
              </a:ext>
            </a:extLst>
          </p:cNvPr>
          <p:cNvSpPr/>
          <p:nvPr/>
        </p:nvSpPr>
        <p:spPr>
          <a:xfrm>
            <a:off x="9055351" y="2978880"/>
            <a:ext cx="1197266" cy="297416"/>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latin typeface="Calibri"/>
                <a:ea typeface="Calibri"/>
                <a:cs typeface="Calibri"/>
              </a:rPr>
              <a:t>Validation</a:t>
            </a:r>
          </a:p>
        </p:txBody>
      </p:sp>
    </p:spTree>
    <p:extLst>
      <p:ext uri="{BB962C8B-B14F-4D97-AF65-F5344CB8AC3E}">
        <p14:creationId xmlns:p14="http://schemas.microsoft.com/office/powerpoint/2010/main" val="646143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47120" cy="822960"/>
          </a:xfrm>
          <a:prstGeom prst="rect">
            <a:avLst/>
          </a:prstGeom>
          <a:noFill/>
          <a:ln/>
        </p:spPr>
        <p:txBody>
          <a:bodyPr wrap="square" lIns="0" tIns="0" rIns="0" bIns="0" rtlCol="0" anchor="ctr"/>
          <a:lstStyle/>
          <a:p>
            <a:pPr marL="0" indent="0">
              <a:buNone/>
            </a:pPr>
            <a:r>
              <a:rPr lang="en-US" sz="3600" b="1">
                <a:solidFill>
                  <a:srgbClr val="0E2A47"/>
                </a:solidFill>
                <a:latin typeface="Arial"/>
                <a:ea typeface="Arial" pitchFamily="34" charset="-122"/>
                <a:cs typeface="Arial"/>
              </a:rPr>
              <a:t>How the Forecast Works</a:t>
            </a:r>
            <a:endParaRPr lang="en-US" sz="3600"/>
          </a:p>
        </p:txBody>
      </p:sp>
      <p:sp>
        <p:nvSpPr>
          <p:cNvPr id="6" name="Step card 1"/>
          <p:cNvSpPr/>
          <p:nvPr/>
        </p:nvSpPr>
        <p:spPr>
          <a:xfrm>
            <a:off x="457200" y="2606040"/>
            <a:ext cx="3474720" cy="2305756"/>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10" name="Text 7"/>
          <p:cNvSpPr txBox="1"/>
          <p:nvPr/>
        </p:nvSpPr>
        <p:spPr>
          <a:xfrm>
            <a:off x="643467" y="3256280"/>
            <a:ext cx="3017520" cy="685800"/>
          </a:xfrm>
          <a:prstGeom prst="rect">
            <a:avLst/>
          </a:prstGeom>
          <a:noFill/>
          <a:ln/>
        </p:spPr>
        <p:txBody>
          <a:bodyPr wrap="square" lIns="0" tIns="0" rIns="0" bIns="0" rtlCol="0" anchor="ctr"/>
          <a:lstStyle/>
          <a:p>
            <a:pPr marL="0" indent="0">
              <a:buNone/>
            </a:pPr>
            <a:r>
              <a:rPr lang="en-US" sz="3600" b="1">
                <a:solidFill>
                  <a:srgbClr val="0E2A47"/>
                </a:solidFill>
                <a:latin typeface="Arial" pitchFamily="34" charset="0"/>
                <a:ea typeface="Arial" pitchFamily="34" charset="-122"/>
                <a:cs typeface="Arial" pitchFamily="34" charset="-120"/>
              </a:rPr>
              <a:t>Points %</a:t>
            </a:r>
            <a:endParaRPr lang="en-US" sz="3600"/>
          </a:p>
        </p:txBody>
      </p:sp>
      <p:sp>
        <p:nvSpPr>
          <p:cNvPr id="11" name="Text 8"/>
          <p:cNvSpPr txBox="1"/>
          <p:nvPr/>
        </p:nvSpPr>
        <p:spPr>
          <a:xfrm>
            <a:off x="685800" y="3843302"/>
            <a:ext cx="301752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per team, per season</a:t>
            </a:r>
            <a:endParaRPr lang="en-US" sz="1400"/>
          </a:p>
        </p:txBody>
      </p:sp>
      <p:sp>
        <p:nvSpPr>
          <p:cNvPr id="12" name="Text 9"/>
          <p:cNvSpPr txBox="1"/>
          <p:nvPr/>
        </p:nvSpPr>
        <p:spPr>
          <a:xfrm>
            <a:off x="629356" y="4096173"/>
            <a:ext cx="3017520" cy="822960"/>
          </a:xfrm>
          <a:prstGeom prst="rect">
            <a:avLst/>
          </a:prstGeom>
          <a:noFill/>
          <a:ln/>
        </p:spPr>
        <p:txBody>
          <a:bodyPr wrap="square" lIns="0" tIns="0" rIns="0" bIns="0" rtlCol="0" anchor="t"/>
          <a:lstStyle/>
          <a:p>
            <a:pPr marL="0" indent="0">
              <a:buNone/>
            </a:pPr>
            <a:r>
              <a:rPr lang="en-US" sz="1400">
                <a:solidFill>
                  <a:srgbClr val="4A5563"/>
                </a:solidFill>
                <a:latin typeface="Calibri" pitchFamily="34" charset="0"/>
                <a:ea typeface="Calibri" pitchFamily="34" charset="-122"/>
                <a:cs typeface="Calibri" pitchFamily="34" charset="-120"/>
              </a:rPr>
              <a:t>The share of available standings points a team actually earned. Regular season only.</a:t>
            </a:r>
            <a:endParaRPr lang="en-US" sz="1400"/>
          </a:p>
        </p:txBody>
      </p:sp>
      <p:sp>
        <p:nvSpPr>
          <p:cNvPr id="13" name="Arrow 1"/>
          <p:cNvSpPr/>
          <p:nvPr/>
        </p:nvSpPr>
        <p:spPr>
          <a:xfrm>
            <a:off x="4012636" y="3454513"/>
            <a:ext cx="146304" cy="256032"/>
          </a:xfrm>
          <a:prstGeom prst="chevron">
            <a:avLst/>
          </a:prstGeom>
          <a:solidFill>
            <a:srgbClr val="1F8FE5"/>
          </a:solidFill>
          <a:ln w="12700">
            <a:solidFill>
              <a:srgbClr val="1F8FE5"/>
            </a:solidFill>
            <a:prstDash val="solid"/>
          </a:ln>
        </p:spPr>
        <p:txBody>
          <a:bodyPr/>
          <a:lstStyle/>
          <a:p>
            <a:endParaRPr lang="en-SG"/>
          </a:p>
        </p:txBody>
      </p:sp>
      <p:sp>
        <p:nvSpPr>
          <p:cNvPr id="14" name="Step card 2"/>
          <p:cNvSpPr/>
          <p:nvPr/>
        </p:nvSpPr>
        <p:spPr>
          <a:xfrm>
            <a:off x="4352544" y="2606040"/>
            <a:ext cx="3474720" cy="2305756"/>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18" name="Text 15"/>
          <p:cNvSpPr txBox="1"/>
          <p:nvPr/>
        </p:nvSpPr>
        <p:spPr>
          <a:xfrm>
            <a:off x="4397700" y="3171613"/>
            <a:ext cx="3017520" cy="685800"/>
          </a:xfrm>
          <a:prstGeom prst="rect">
            <a:avLst/>
          </a:prstGeom>
          <a:noFill/>
          <a:ln/>
        </p:spPr>
        <p:txBody>
          <a:bodyPr wrap="square" lIns="0" tIns="0" rIns="0" bIns="0" rtlCol="0" anchor="ctr"/>
          <a:lstStyle/>
          <a:p>
            <a:pPr marL="0" indent="0">
              <a:buNone/>
            </a:pPr>
            <a:r>
              <a:rPr lang="en-US" sz="3600" b="1">
                <a:solidFill>
                  <a:srgbClr val="0E2A47"/>
                </a:solidFill>
                <a:latin typeface="Arial" pitchFamily="34" charset="0"/>
                <a:ea typeface="Arial" pitchFamily="34" charset="-122"/>
                <a:cs typeface="Arial" pitchFamily="34" charset="-120"/>
              </a:rPr>
              <a:t>3 · 2 · 1</a:t>
            </a:r>
            <a:endParaRPr lang="en-US" sz="3600"/>
          </a:p>
        </p:txBody>
      </p:sp>
      <p:sp>
        <p:nvSpPr>
          <p:cNvPr id="19" name="Text 16"/>
          <p:cNvSpPr txBox="1"/>
          <p:nvPr/>
        </p:nvSpPr>
        <p:spPr>
          <a:xfrm>
            <a:off x="4482366" y="3772747"/>
            <a:ext cx="301752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newest season counts most</a:t>
            </a:r>
            <a:endParaRPr lang="en-US" sz="1400"/>
          </a:p>
        </p:txBody>
      </p:sp>
      <p:sp>
        <p:nvSpPr>
          <p:cNvPr id="20" name="Text 17"/>
          <p:cNvSpPr txBox="1"/>
          <p:nvPr/>
        </p:nvSpPr>
        <p:spPr>
          <a:xfrm>
            <a:off x="4524700" y="4096173"/>
            <a:ext cx="3017520" cy="822960"/>
          </a:xfrm>
          <a:prstGeom prst="rect">
            <a:avLst/>
          </a:prstGeom>
          <a:noFill/>
          <a:ln/>
        </p:spPr>
        <p:txBody>
          <a:bodyPr wrap="square" lIns="0" tIns="0" rIns="0" bIns="0" rtlCol="0" anchor="t"/>
          <a:lstStyle/>
          <a:p>
            <a:pPr marL="0" indent="0">
              <a:buNone/>
            </a:pPr>
            <a:r>
              <a:rPr lang="en-US" sz="1400">
                <a:solidFill>
                  <a:srgbClr val="4A5563"/>
                </a:solidFill>
                <a:latin typeface="Calibri" pitchFamily="34" charset="0"/>
                <a:ea typeface="Calibri" pitchFamily="34" charset="-122"/>
                <a:cs typeface="Calibri" pitchFamily="34" charset="-120"/>
              </a:rPr>
              <a:t>Blend the last up to 3 qualifying seasons, so recent form beats old history.</a:t>
            </a:r>
            <a:endParaRPr lang="en-US" sz="1400"/>
          </a:p>
        </p:txBody>
      </p:sp>
      <p:sp>
        <p:nvSpPr>
          <p:cNvPr id="21" name="Arrow 2"/>
          <p:cNvSpPr/>
          <p:nvPr/>
        </p:nvSpPr>
        <p:spPr>
          <a:xfrm>
            <a:off x="7907980" y="3454513"/>
            <a:ext cx="146304" cy="256032"/>
          </a:xfrm>
          <a:prstGeom prst="chevron">
            <a:avLst/>
          </a:prstGeom>
          <a:solidFill>
            <a:srgbClr val="1F8FE5"/>
          </a:solidFill>
          <a:ln w="12700">
            <a:solidFill>
              <a:srgbClr val="1F8FE5"/>
            </a:solidFill>
            <a:prstDash val="solid"/>
          </a:ln>
        </p:spPr>
        <p:txBody>
          <a:bodyPr/>
          <a:lstStyle/>
          <a:p>
            <a:endParaRPr lang="en-SG"/>
          </a:p>
        </p:txBody>
      </p:sp>
      <p:sp>
        <p:nvSpPr>
          <p:cNvPr id="22" name="Step card 3"/>
          <p:cNvSpPr/>
          <p:nvPr/>
        </p:nvSpPr>
        <p:spPr>
          <a:xfrm>
            <a:off x="8247888" y="2606040"/>
            <a:ext cx="3474720" cy="2305756"/>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26" name="Text 23"/>
          <p:cNvSpPr txBox="1"/>
          <p:nvPr/>
        </p:nvSpPr>
        <p:spPr>
          <a:xfrm>
            <a:off x="8405932" y="3086947"/>
            <a:ext cx="3017520" cy="685800"/>
          </a:xfrm>
          <a:prstGeom prst="rect">
            <a:avLst/>
          </a:prstGeom>
          <a:noFill/>
          <a:ln/>
        </p:spPr>
        <p:txBody>
          <a:bodyPr wrap="square" lIns="0" tIns="0" rIns="0" bIns="0" rtlCol="0" anchor="ctr"/>
          <a:lstStyle/>
          <a:p>
            <a:pPr marL="0" indent="0">
              <a:buNone/>
            </a:pPr>
            <a:r>
              <a:rPr lang="en-US" sz="3600" b="1">
                <a:solidFill>
                  <a:srgbClr val="0E2A47"/>
                </a:solidFill>
                <a:latin typeface="Arial" pitchFamily="34" charset="0"/>
                <a:ea typeface="Arial" pitchFamily="34" charset="-122"/>
                <a:cs typeface="Arial" pitchFamily="34" charset="-120"/>
              </a:rPr>
              <a:t>Softmax</a:t>
            </a:r>
            <a:endParaRPr lang="en-US" sz="3600"/>
          </a:p>
        </p:txBody>
      </p:sp>
      <p:sp>
        <p:nvSpPr>
          <p:cNvPr id="27" name="Text 24"/>
          <p:cNvSpPr txBox="1"/>
          <p:nvPr/>
        </p:nvSpPr>
        <p:spPr>
          <a:xfrm>
            <a:off x="8405932" y="3744524"/>
            <a:ext cx="301752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scores become Cup odds</a:t>
            </a:r>
            <a:endParaRPr lang="en-US" sz="1400"/>
          </a:p>
        </p:txBody>
      </p:sp>
      <p:sp>
        <p:nvSpPr>
          <p:cNvPr id="28" name="Text 25"/>
          <p:cNvSpPr txBox="1"/>
          <p:nvPr/>
        </p:nvSpPr>
        <p:spPr>
          <a:xfrm>
            <a:off x="8420044" y="4096173"/>
            <a:ext cx="3017520" cy="822960"/>
          </a:xfrm>
          <a:prstGeom prst="rect">
            <a:avLst/>
          </a:prstGeom>
          <a:noFill/>
          <a:ln/>
        </p:spPr>
        <p:txBody>
          <a:bodyPr wrap="square" lIns="0" tIns="0" rIns="0" bIns="0" rtlCol="0" anchor="t"/>
          <a:lstStyle/>
          <a:p>
            <a:pPr marL="0" indent="0">
              <a:buNone/>
            </a:pPr>
            <a:r>
              <a:rPr lang="en-US" sz="1400">
                <a:solidFill>
                  <a:srgbClr val="4A5563"/>
                </a:solidFill>
                <a:latin typeface="Calibri"/>
                <a:ea typeface="Calibri"/>
                <a:cs typeface="Calibri"/>
              </a:rPr>
              <a:t>A standard formula (k = 15) turns 31 team scores into probabilities that add up to 100%. Higher score, taller bar.</a:t>
            </a:r>
            <a:endParaRPr lang="en-US" sz="1400">
              <a:latin typeface="Calibri"/>
              <a:ea typeface="Calibri"/>
              <a:cs typeface="Calibri"/>
            </a:endParaRPr>
          </a:p>
        </p:txBody>
      </p:sp>
      <p:sp>
        <p:nvSpPr>
          <p:cNvPr id="29" name="Example strip"/>
          <p:cNvSpPr/>
          <p:nvPr/>
        </p:nvSpPr>
        <p:spPr>
          <a:xfrm>
            <a:off x="414867" y="5278120"/>
            <a:ext cx="5532120" cy="868680"/>
          </a:xfrm>
          <a:prstGeom prst="rect">
            <a:avLst/>
          </a:prstGeom>
          <a:solidFill>
            <a:srgbClr val="FFFFFF"/>
          </a:solidFill>
          <a:ln w="15875">
            <a:solidFill>
              <a:srgbClr val="1F8FE5"/>
            </a:solidFill>
            <a:prstDash val="solid"/>
          </a:ln>
        </p:spPr>
        <p:txBody>
          <a:bodyPr/>
          <a:lstStyle/>
          <a:p>
            <a:endParaRPr lang="en-SG"/>
          </a:p>
        </p:txBody>
      </p:sp>
      <p:sp>
        <p:nvSpPr>
          <p:cNvPr id="30" name="Text 27"/>
          <p:cNvSpPr txBox="1"/>
          <p:nvPr/>
        </p:nvSpPr>
        <p:spPr>
          <a:xfrm>
            <a:off x="484858" y="5193453"/>
            <a:ext cx="5257800" cy="868680"/>
          </a:xfrm>
          <a:prstGeom prst="rect">
            <a:avLst/>
          </a:prstGeom>
          <a:noFill/>
          <a:ln/>
        </p:spPr>
        <p:txBody>
          <a:bodyPr wrap="square" lIns="0" tIns="0" rIns="0" bIns="0" rtlCol="0" anchor="ctr"/>
          <a:lstStyle/>
          <a:p>
            <a:pPr marL="0" indent="0">
              <a:buNone/>
            </a:pPr>
            <a:r>
              <a:rPr lang="en-US" sz="1400" b="1">
                <a:solidFill>
                  <a:srgbClr val="0E2A47"/>
                </a:solidFill>
                <a:latin typeface="Calibri" pitchFamily="34" charset="0"/>
                <a:ea typeface="Calibri" pitchFamily="34" charset="-122"/>
                <a:cs typeface="Calibri" pitchFamily="34" charset="-120"/>
              </a:rPr>
              <a:t>Illustration (made-up numbers)  </a:t>
            </a:r>
            <a:endParaRPr lang="en-US" sz="1400"/>
          </a:p>
          <a:p>
            <a:pPr marL="0" indent="0">
              <a:buNone/>
            </a:pPr>
            <a:r>
              <a:rPr lang="en-US" sz="1400">
                <a:solidFill>
                  <a:srgbClr val="4A5563"/>
                </a:solidFill>
                <a:latin typeface="Calibri" pitchFamily="34" charset="0"/>
                <a:ea typeface="Calibri" pitchFamily="34" charset="-122"/>
                <a:cs typeface="Calibri" pitchFamily="34" charset="-120"/>
              </a:rPr>
              <a:t>points % of 0.65, 0.60, 0.55  →  (3×0.65 + 2×0.60 + 1×0.55) ÷ 6 = 0.617</a:t>
            </a:r>
            <a:endParaRPr lang="en-US" sz="1400"/>
          </a:p>
        </p:txBody>
      </p:sp>
      <p:sp>
        <p:nvSpPr>
          <p:cNvPr id="31" name="Scorers strip"/>
          <p:cNvSpPr/>
          <p:nvPr/>
        </p:nvSpPr>
        <p:spPr>
          <a:xfrm>
            <a:off x="6157299" y="5278120"/>
            <a:ext cx="5532120" cy="868680"/>
          </a:xfrm>
          <a:prstGeom prst="rect">
            <a:avLst/>
          </a:prstGeom>
          <a:solidFill>
            <a:srgbClr val="FFFFFF"/>
          </a:solidFill>
          <a:ln w="15875">
            <a:solidFill>
              <a:srgbClr val="1F8FE5"/>
            </a:solidFill>
            <a:prstDash val="solid"/>
          </a:ln>
        </p:spPr>
        <p:txBody>
          <a:bodyPr/>
          <a:lstStyle/>
          <a:p>
            <a:endParaRPr lang="en-SG"/>
          </a:p>
        </p:txBody>
      </p:sp>
      <p:sp>
        <p:nvSpPr>
          <p:cNvPr id="32" name="Text 29"/>
          <p:cNvSpPr txBox="1"/>
          <p:nvPr/>
        </p:nvSpPr>
        <p:spPr>
          <a:xfrm>
            <a:off x="6227290" y="5193453"/>
            <a:ext cx="5257800" cy="868680"/>
          </a:xfrm>
          <a:prstGeom prst="rect">
            <a:avLst/>
          </a:prstGeom>
          <a:noFill/>
          <a:ln/>
        </p:spPr>
        <p:txBody>
          <a:bodyPr wrap="square" lIns="0" tIns="0" rIns="0" bIns="0" rtlCol="0" anchor="ctr"/>
          <a:lstStyle/>
          <a:p>
            <a:pPr marL="0" indent="0">
              <a:buNone/>
            </a:pPr>
            <a:r>
              <a:rPr lang="en-US" sz="1400" b="1">
                <a:solidFill>
                  <a:srgbClr val="0E2A47"/>
                </a:solidFill>
                <a:latin typeface="Calibri" pitchFamily="34" charset="0"/>
                <a:ea typeface="Calibri" pitchFamily="34" charset="-122"/>
                <a:cs typeface="Calibri" pitchFamily="34" charset="-120"/>
              </a:rPr>
              <a:t>Top scorers  </a:t>
            </a:r>
            <a:endParaRPr lang="en-US" sz="1400"/>
          </a:p>
          <a:p>
            <a:pPr marL="0" indent="0">
              <a:buNone/>
            </a:pPr>
            <a:r>
              <a:rPr lang="en-US" sz="1400">
                <a:solidFill>
                  <a:srgbClr val="4A5563"/>
                </a:solidFill>
                <a:latin typeface="Calibri" pitchFamily="34" charset="0"/>
                <a:ea typeface="Calibri" pitchFamily="34" charset="-122"/>
                <a:cs typeface="Calibri" pitchFamily="34" charset="-120"/>
              </a:rPr>
              <a:t>Same 3-2-1 blend on each player’s points, ranked → projected top 10</a:t>
            </a:r>
            <a:endParaRPr lang="en-US" sz="1400"/>
          </a:p>
        </p:txBody>
      </p:sp>
      <p:sp>
        <p:nvSpPr>
          <p:cNvPr id="33" name="Setup band">
            <a:extLst>
              <a:ext uri="{FF2B5EF4-FFF2-40B4-BE49-F238E27FC236}">
                <a16:creationId xmlns:a16="http://schemas.microsoft.com/office/drawing/2014/main" id="{4672D932-A315-582F-6C44-B675F92EE3B8}"/>
              </a:ext>
            </a:extLst>
          </p:cNvPr>
          <p:cNvSpPr/>
          <p:nvPr/>
        </p:nvSpPr>
        <p:spPr>
          <a:xfrm>
            <a:off x="-14111" y="1357488"/>
            <a:ext cx="12188952" cy="712896"/>
          </a:xfrm>
          <a:prstGeom prst="rect">
            <a:avLst/>
          </a:prstGeom>
          <a:solidFill>
            <a:srgbClr val="0B1F3A"/>
          </a:solidFill>
          <a:ln w="12700">
            <a:solidFill>
              <a:srgbClr val="0B1F3A"/>
            </a:solidFill>
            <a:prstDash val="solid"/>
          </a:ln>
        </p:spPr>
        <p:txBody>
          <a:bodyPr/>
          <a:lstStyle/>
          <a:p>
            <a:endParaRPr lang="en-SG"/>
          </a:p>
        </p:txBody>
      </p:sp>
      <p:sp>
        <p:nvSpPr>
          <p:cNvPr id="4" name="Text 2"/>
          <p:cNvSpPr txBox="1"/>
          <p:nvPr/>
        </p:nvSpPr>
        <p:spPr>
          <a:xfrm>
            <a:off x="731520" y="1371600"/>
            <a:ext cx="10698480" cy="914400"/>
          </a:xfrm>
          <a:prstGeom prst="rect">
            <a:avLst/>
          </a:prstGeom>
          <a:noFill/>
          <a:ln/>
        </p:spPr>
        <p:txBody>
          <a:bodyPr wrap="square" lIns="0" tIns="0" rIns="0" bIns="0" rtlCol="0" anchor="ctr"/>
          <a:lstStyle/>
          <a:p>
            <a:pPr marL="0" indent="0" algn="l">
              <a:buNone/>
            </a:pPr>
            <a:r>
              <a:rPr lang="en-US" sz="1800">
                <a:solidFill>
                  <a:srgbClr val="FFFFFF"/>
                </a:solidFill>
                <a:latin typeface="Calibri" pitchFamily="34" charset="0"/>
                <a:ea typeface="Calibri" pitchFamily="34" charset="-122"/>
                <a:cs typeface="Calibri" pitchFamily="34" charset="-120"/>
              </a:rPr>
              <a:t>No black box: each team gets a recency-weighted score, and the scores are turned into Cup probabilities.</a:t>
            </a:r>
            <a:endParaRPr lang="en-US" sz="1800"/>
          </a:p>
        </p:txBody>
      </p:sp>
      <p:sp>
        <p:nvSpPr>
          <p:cNvPr id="5" name="Rectangle: Rounded Corners 40">
            <a:extLst>
              <a:ext uri="{FF2B5EF4-FFF2-40B4-BE49-F238E27FC236}">
                <a16:creationId xmlns:a16="http://schemas.microsoft.com/office/drawing/2014/main" id="{7BC82148-FFC5-4EE2-9725-F1C3AD513102}"/>
              </a:ext>
            </a:extLst>
          </p:cNvPr>
          <p:cNvSpPr/>
          <p:nvPr/>
        </p:nvSpPr>
        <p:spPr>
          <a:xfrm>
            <a:off x="461684" y="2837769"/>
            <a:ext cx="1154933" cy="367971"/>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t>Measure</a:t>
            </a:r>
            <a:endParaRPr lang="en-US"/>
          </a:p>
        </p:txBody>
      </p:sp>
      <p:sp>
        <p:nvSpPr>
          <p:cNvPr id="35" name="Rectangle: Rounded Corners 40">
            <a:extLst>
              <a:ext uri="{FF2B5EF4-FFF2-40B4-BE49-F238E27FC236}">
                <a16:creationId xmlns:a16="http://schemas.microsoft.com/office/drawing/2014/main" id="{18803B56-2CC8-52A5-F5F2-E4F28A7F0A67}"/>
              </a:ext>
            </a:extLst>
          </p:cNvPr>
          <p:cNvSpPr/>
          <p:nvPr/>
        </p:nvSpPr>
        <p:spPr>
          <a:xfrm>
            <a:off x="4356350" y="2837769"/>
            <a:ext cx="1154933" cy="367971"/>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t>Weight</a:t>
            </a:r>
          </a:p>
        </p:txBody>
      </p:sp>
      <p:sp>
        <p:nvSpPr>
          <p:cNvPr id="36" name="Rectangle: Rounded Corners 40">
            <a:extLst>
              <a:ext uri="{FF2B5EF4-FFF2-40B4-BE49-F238E27FC236}">
                <a16:creationId xmlns:a16="http://schemas.microsoft.com/office/drawing/2014/main" id="{6867C0AA-C0F1-170C-B46B-8E56641961F2}"/>
              </a:ext>
            </a:extLst>
          </p:cNvPr>
          <p:cNvSpPr/>
          <p:nvPr/>
        </p:nvSpPr>
        <p:spPr>
          <a:xfrm>
            <a:off x="8251017" y="2837769"/>
            <a:ext cx="1154933" cy="367971"/>
          </a:xfrm>
          <a:prstGeom prst="rect">
            <a:avLst/>
          </a:prstGeom>
          <a:solidFill>
            <a:srgbClr val="1F8F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t>Convert</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16EB-E16E-9B46-E3CF-5978B7BF5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5EA83-8EA8-A040-9713-7220418A82CD}"/>
              </a:ext>
            </a:extLst>
          </p:cNvPr>
          <p:cNvSpPr>
            <a:spLocks noGrp="1"/>
          </p:cNvSpPr>
          <p:nvPr>
            <p:ph type="title"/>
          </p:nvPr>
        </p:nvSpPr>
        <p:spPr>
          <a:xfrm>
            <a:off x="-4434" y="173608"/>
            <a:ext cx="4797230" cy="617304"/>
          </a:xfrm>
        </p:spPr>
        <p:txBody>
          <a:bodyPr/>
          <a:lstStyle/>
          <a:p>
            <a:r>
              <a:rPr lang="en-US" sz="3600" b="1">
                <a:solidFill>
                  <a:srgbClr val="0B1F3A"/>
                </a:solidFill>
                <a:latin typeface="Arial"/>
                <a:cs typeface="Arial"/>
              </a:rPr>
              <a:t>Predicted Winners</a:t>
            </a:r>
            <a:endParaRPr lang="en-US"/>
          </a:p>
          <a:p>
            <a:endParaRPr lang="en-US"/>
          </a:p>
        </p:txBody>
      </p:sp>
      <p:sp>
        <p:nvSpPr>
          <p:cNvPr id="5" name="TextBox 4">
            <a:extLst>
              <a:ext uri="{FF2B5EF4-FFF2-40B4-BE49-F238E27FC236}">
                <a16:creationId xmlns:a16="http://schemas.microsoft.com/office/drawing/2014/main" id="{EBCC37F9-04A3-119B-5461-9159612FA8AF}"/>
              </a:ext>
            </a:extLst>
          </p:cNvPr>
          <p:cNvSpPr txBox="1"/>
          <p:nvPr/>
        </p:nvSpPr>
        <p:spPr>
          <a:xfrm>
            <a:off x="0" y="789709"/>
            <a:ext cx="717665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1">
                <a:solidFill>
                  <a:srgbClr val="5D614B"/>
                </a:solidFill>
                <a:latin typeface="Calibri"/>
                <a:ea typeface="Calibri"/>
                <a:cs typeface="Calibri"/>
              </a:rPr>
              <a:t>The model's live forecast for the 2020–21 season — this is the page you'd actually bet from</a:t>
            </a:r>
            <a:endParaRPr lang="en-US"/>
          </a:p>
          <a:p>
            <a:pPr algn="l"/>
            <a:endParaRPr lang="en-US"/>
          </a:p>
        </p:txBody>
      </p:sp>
      <p:pic>
        <p:nvPicPr>
          <p:cNvPr id="6" name="Picture 5" descr="A graph of a number of sports teams&#10;&#10;AI-generated content may be incorrect.">
            <a:extLst>
              <a:ext uri="{FF2B5EF4-FFF2-40B4-BE49-F238E27FC236}">
                <a16:creationId xmlns:a16="http://schemas.microsoft.com/office/drawing/2014/main" id="{49ADE97E-32D1-89DD-95D6-9CD9D843F7AA}"/>
              </a:ext>
            </a:extLst>
          </p:cNvPr>
          <p:cNvPicPr>
            <a:picLocks noChangeAspect="1"/>
          </p:cNvPicPr>
          <p:nvPr/>
        </p:nvPicPr>
        <p:blipFill>
          <a:blip r:embed="rId3"/>
          <a:stretch>
            <a:fillRect/>
          </a:stretch>
        </p:blipFill>
        <p:spPr>
          <a:xfrm>
            <a:off x="-6875" y="1191491"/>
            <a:ext cx="6123605" cy="4973782"/>
          </a:xfrm>
          <a:prstGeom prst="rect">
            <a:avLst/>
          </a:prstGeom>
        </p:spPr>
      </p:pic>
      <p:sp>
        <p:nvSpPr>
          <p:cNvPr id="7" name="TextBox 6">
            <a:extLst>
              <a:ext uri="{FF2B5EF4-FFF2-40B4-BE49-F238E27FC236}">
                <a16:creationId xmlns:a16="http://schemas.microsoft.com/office/drawing/2014/main" id="{8240E9A3-2FB2-4E16-A942-B0EAB848ABA5}"/>
              </a:ext>
            </a:extLst>
          </p:cNvPr>
          <p:cNvSpPr txBox="1"/>
          <p:nvPr/>
        </p:nvSpPr>
        <p:spPr>
          <a:xfrm>
            <a:off x="83127" y="6331527"/>
            <a:ext cx="5084618"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i="1">
                <a:solidFill>
                  <a:srgbClr val="5D614B"/>
                </a:solidFill>
                <a:latin typeface="Calibri"/>
                <a:ea typeface="Calibri"/>
                <a:cs typeface="Calibri"/>
              </a:rPr>
              <a:t>Taller bar = higher modeled championship probability</a:t>
            </a:r>
            <a:endParaRPr lang="en-US"/>
          </a:p>
          <a:p>
            <a:pPr algn="l"/>
            <a:endParaRPr lang="en-US"/>
          </a:p>
        </p:txBody>
      </p:sp>
      <p:pic>
        <p:nvPicPr>
          <p:cNvPr id="8" name="Picture 7" descr="A screenshot of a computer&#10;&#10;AI-generated content may be incorrect.">
            <a:extLst>
              <a:ext uri="{FF2B5EF4-FFF2-40B4-BE49-F238E27FC236}">
                <a16:creationId xmlns:a16="http://schemas.microsoft.com/office/drawing/2014/main" id="{1A141785-5B34-E647-B223-E5511D633BFF}"/>
              </a:ext>
            </a:extLst>
          </p:cNvPr>
          <p:cNvPicPr>
            <a:picLocks noChangeAspect="1"/>
          </p:cNvPicPr>
          <p:nvPr/>
        </p:nvPicPr>
        <p:blipFill>
          <a:blip r:embed="rId4"/>
          <a:srcRect r="339" b="46364"/>
          <a:stretch>
            <a:fillRect/>
          </a:stretch>
        </p:blipFill>
        <p:spPr>
          <a:xfrm>
            <a:off x="7661216" y="1330037"/>
            <a:ext cx="4071771" cy="3678385"/>
          </a:xfrm>
          <a:prstGeom prst="rect">
            <a:avLst/>
          </a:prstGeom>
        </p:spPr>
      </p:pic>
      <p:sp>
        <p:nvSpPr>
          <p:cNvPr id="9" name="TextBox 8">
            <a:extLst>
              <a:ext uri="{FF2B5EF4-FFF2-40B4-BE49-F238E27FC236}">
                <a16:creationId xmlns:a16="http://schemas.microsoft.com/office/drawing/2014/main" id="{D7E95B44-280E-76B0-283E-0EA97148F6AA}"/>
              </a:ext>
            </a:extLst>
          </p:cNvPr>
          <p:cNvSpPr txBox="1"/>
          <p:nvPr/>
        </p:nvSpPr>
        <p:spPr>
          <a:xfrm>
            <a:off x="8132618" y="5012842"/>
            <a:ext cx="3144981"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i="1">
                <a:solidFill>
                  <a:srgbClr val="5D614B"/>
                </a:solidFill>
                <a:latin typeface="Calibri"/>
                <a:ea typeface="Calibri"/>
                <a:cs typeface="Calibri"/>
              </a:rPr>
              <a:t>Ranked by projected regular-season points</a:t>
            </a:r>
            <a:endParaRPr lang="en-US"/>
          </a:p>
          <a:p>
            <a:pPr algn="l"/>
            <a:endParaRPr lang="en-US"/>
          </a:p>
        </p:txBody>
      </p:sp>
      <p:sp>
        <p:nvSpPr>
          <p:cNvPr id="10" name="TextBox 9">
            <a:extLst>
              <a:ext uri="{FF2B5EF4-FFF2-40B4-BE49-F238E27FC236}">
                <a16:creationId xmlns:a16="http://schemas.microsoft.com/office/drawing/2014/main" id="{AC194093-6391-27C2-4236-ADEECCE745BE}"/>
              </a:ext>
            </a:extLst>
          </p:cNvPr>
          <p:cNvSpPr txBox="1"/>
          <p:nvPr/>
        </p:nvSpPr>
        <p:spPr>
          <a:xfrm>
            <a:off x="6899566" y="5500253"/>
            <a:ext cx="5292433"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71A2F"/>
                </a:solidFill>
                <a:latin typeface="Calibri"/>
                <a:ea typeface="Calibri"/>
                <a:cs typeface="Calibri"/>
              </a:rPr>
              <a:t>Using This to Bet</a:t>
            </a:r>
            <a:endParaRPr lang="en-US" sz="1600">
              <a:latin typeface="Calibri"/>
              <a:ea typeface="Calibri"/>
              <a:cs typeface="Calibri"/>
            </a:endParaRPr>
          </a:p>
          <a:p>
            <a:r>
              <a:rPr lang="en-US" sz="1600">
                <a:latin typeface="Calibri"/>
                <a:ea typeface="Calibri"/>
                <a:cs typeface="Calibri"/>
              </a:rPr>
              <a:t>•</a:t>
            </a:r>
            <a:r>
              <a:rPr lang="en-US" sz="1600">
                <a:solidFill>
                  <a:srgbClr val="5D614B"/>
                </a:solidFill>
                <a:latin typeface="Calibri"/>
                <a:ea typeface="Calibri"/>
                <a:cs typeface="Calibri"/>
              </a:rPr>
              <a:t>Biggest bar = the model's favorite to win it all</a:t>
            </a:r>
            <a:endParaRPr lang="en-US" sz="1600">
              <a:latin typeface="Calibri"/>
              <a:ea typeface="Calibri"/>
              <a:cs typeface="Calibri"/>
            </a:endParaRPr>
          </a:p>
          <a:p>
            <a:r>
              <a:rPr lang="en-US" sz="1600">
                <a:latin typeface="Calibri"/>
                <a:ea typeface="Calibri"/>
                <a:cs typeface="Calibri"/>
              </a:rPr>
              <a:t>•</a:t>
            </a:r>
            <a:r>
              <a:rPr lang="en-US" sz="1600">
                <a:solidFill>
                  <a:srgbClr val="5D614B"/>
                </a:solidFill>
                <a:latin typeface="Calibri"/>
                <a:ea typeface="Calibri"/>
                <a:cs typeface="Calibri"/>
              </a:rPr>
              <a:t>Gap between bars shows how confident the model is</a:t>
            </a:r>
            <a:endParaRPr lang="en-US" sz="1600">
              <a:latin typeface="Calibri"/>
              <a:ea typeface="Calibri"/>
              <a:cs typeface="Calibri"/>
            </a:endParaRPr>
          </a:p>
          <a:p>
            <a:r>
              <a:rPr lang="en-US" sz="1600">
                <a:latin typeface="Calibri"/>
                <a:ea typeface="Calibri"/>
                <a:cs typeface="Calibri"/>
              </a:rPr>
              <a:t>•</a:t>
            </a:r>
            <a:r>
              <a:rPr lang="en-US" sz="1600">
                <a:solidFill>
                  <a:srgbClr val="5D614B"/>
                </a:solidFill>
                <a:latin typeface="Calibri"/>
                <a:ea typeface="Calibri"/>
                <a:cs typeface="Calibri"/>
              </a:rPr>
              <a:t>Top-10 table doubles as a top-scorer prop-bet list</a:t>
            </a:r>
            <a:endParaRPr lang="en-US" sz="1600">
              <a:latin typeface="Calibri"/>
              <a:ea typeface="Calibri"/>
              <a:cs typeface="Calibri"/>
            </a:endParaRPr>
          </a:p>
          <a:p>
            <a:pPr algn="l"/>
            <a:endParaRPr lang="en-US"/>
          </a:p>
        </p:txBody>
      </p:sp>
    </p:spTree>
    <p:extLst>
      <p:ext uri="{BB962C8B-B14F-4D97-AF65-F5344CB8AC3E}">
        <p14:creationId xmlns:p14="http://schemas.microsoft.com/office/powerpoint/2010/main" val="3861197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47120" cy="822960"/>
          </a:xfrm>
          <a:prstGeom prst="rect">
            <a:avLst/>
          </a:prstGeom>
          <a:noFill/>
          <a:ln/>
        </p:spPr>
        <p:txBody>
          <a:bodyPr wrap="square" lIns="0" tIns="0" rIns="0" bIns="0" rtlCol="0" anchor="ctr"/>
          <a:lstStyle/>
          <a:p>
            <a:r>
              <a:rPr lang="en-US" sz="3600" b="1">
                <a:solidFill>
                  <a:srgbClr val="0E2A47"/>
                </a:solidFill>
                <a:latin typeface="Arial"/>
                <a:cs typeface="Arial"/>
              </a:rPr>
              <a:t>Validation Testing</a:t>
            </a:r>
            <a:endParaRPr lang="en-US"/>
          </a:p>
        </p:txBody>
      </p:sp>
      <p:sp>
        <p:nvSpPr>
          <p:cNvPr id="3" name="Message band"/>
          <p:cNvSpPr/>
          <p:nvPr/>
        </p:nvSpPr>
        <p:spPr>
          <a:xfrm>
            <a:off x="0" y="1371600"/>
            <a:ext cx="12188952" cy="914400"/>
          </a:xfrm>
          <a:prstGeom prst="rect">
            <a:avLst/>
          </a:prstGeom>
          <a:solidFill>
            <a:srgbClr val="0B1F3A"/>
          </a:solidFill>
          <a:ln w="12700">
            <a:solidFill>
              <a:srgbClr val="0B1F3A"/>
            </a:solidFill>
            <a:prstDash val="solid"/>
          </a:ln>
        </p:spPr>
        <p:txBody>
          <a:bodyPr/>
          <a:lstStyle/>
          <a:p>
            <a:endParaRPr lang="en-SG"/>
          </a:p>
        </p:txBody>
      </p:sp>
      <p:sp>
        <p:nvSpPr>
          <p:cNvPr id="4" name="Text 2"/>
          <p:cNvSpPr txBox="1"/>
          <p:nvPr/>
        </p:nvSpPr>
        <p:spPr>
          <a:xfrm>
            <a:off x="703298" y="1371600"/>
            <a:ext cx="11037146" cy="914400"/>
          </a:xfrm>
          <a:prstGeom prst="rect">
            <a:avLst/>
          </a:prstGeom>
          <a:noFill/>
          <a:ln/>
        </p:spPr>
        <p:txBody>
          <a:bodyPr wrap="square" lIns="0" tIns="0" rIns="0" bIns="0" rtlCol="0" anchor="ctr"/>
          <a:lstStyle/>
          <a:p>
            <a:r>
              <a:rPr lang="en-US" sz="1800">
                <a:solidFill>
                  <a:srgbClr val="FFFFFF"/>
                </a:solidFill>
                <a:latin typeface="Calibri"/>
                <a:ea typeface="Calibri"/>
                <a:cs typeface="Calibri"/>
              </a:rPr>
              <a:t>Before betting on 2020–21, we replayed history</a:t>
            </a:r>
            <a:r>
              <a:rPr lang="en-US">
                <a:solidFill>
                  <a:srgbClr val="FFFFFF"/>
                </a:solidFill>
                <a:latin typeface="Calibri"/>
                <a:ea typeface="Calibri"/>
                <a:cs typeface="Calibri"/>
              </a:rPr>
              <a:t> and </a:t>
            </a:r>
            <a:r>
              <a:rPr lang="en-US" sz="1800">
                <a:solidFill>
                  <a:srgbClr val="FFFFFF"/>
                </a:solidFill>
                <a:latin typeface="Calibri"/>
                <a:ea typeface="Calibri"/>
                <a:cs typeface="Calibri"/>
              </a:rPr>
              <a:t>forecast each past season using only what was known at the time.</a:t>
            </a:r>
            <a:endParaRPr lang="en-US" sz="1800">
              <a:latin typeface="Calibri"/>
              <a:ea typeface="Calibri"/>
              <a:cs typeface="Calibri"/>
            </a:endParaRPr>
          </a:p>
        </p:txBody>
      </p:sp>
      <p:sp>
        <p:nvSpPr>
          <p:cNvPr id="6" name="Text 3"/>
          <p:cNvSpPr txBox="1"/>
          <p:nvPr/>
        </p:nvSpPr>
        <p:spPr>
          <a:xfrm>
            <a:off x="457200" y="2587752"/>
            <a:ext cx="5486400" cy="274320"/>
          </a:xfrm>
          <a:prstGeom prst="rect">
            <a:avLst/>
          </a:prstGeom>
          <a:noFill/>
          <a:ln/>
        </p:spPr>
        <p:txBody>
          <a:bodyPr wrap="square" lIns="0" tIns="0" rIns="0" bIns="0" rtlCol="0" anchor="t"/>
          <a:lstStyle/>
          <a:p>
            <a:pPr marL="0" indent="0">
              <a:buNone/>
            </a:pPr>
            <a:r>
              <a:rPr lang="en-US" sz="1400" b="1">
                <a:solidFill>
                  <a:srgbClr val="0E2A47"/>
                </a:solidFill>
                <a:latin typeface="Calibri" pitchFamily="34" charset="0"/>
                <a:ea typeface="Calibri" pitchFamily="34" charset="-122"/>
                <a:cs typeface="Calibri" pitchFamily="34" charset="-120"/>
              </a:rPr>
              <a:t>Seasons we forecast blind</a:t>
            </a:r>
            <a:endParaRPr lang="en-US" sz="1400"/>
          </a:p>
        </p:txBody>
      </p:sp>
      <p:sp>
        <p:nvSpPr>
          <p:cNvPr id="7" name="Season 2010–11"/>
          <p:cNvSpPr/>
          <p:nvPr/>
        </p:nvSpPr>
        <p:spPr>
          <a:xfrm>
            <a:off x="457200"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8" name="Text 5"/>
          <p:cNvSpPr txBox="1"/>
          <p:nvPr/>
        </p:nvSpPr>
        <p:spPr>
          <a:xfrm>
            <a:off x="457200"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2010–11</a:t>
            </a:r>
            <a:endParaRPr lang="en-US" sz="1400"/>
          </a:p>
        </p:txBody>
      </p:sp>
      <p:sp>
        <p:nvSpPr>
          <p:cNvPr id="9" name="Season 2011–12"/>
          <p:cNvSpPr/>
          <p:nvPr/>
        </p:nvSpPr>
        <p:spPr>
          <a:xfrm>
            <a:off x="1597457"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10" name="Text 7"/>
          <p:cNvSpPr txBox="1"/>
          <p:nvPr/>
        </p:nvSpPr>
        <p:spPr>
          <a:xfrm>
            <a:off x="1597457"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2011–12</a:t>
            </a:r>
            <a:endParaRPr lang="en-US" sz="1400"/>
          </a:p>
        </p:txBody>
      </p:sp>
      <p:sp>
        <p:nvSpPr>
          <p:cNvPr id="11" name="Season 2012–13"/>
          <p:cNvSpPr/>
          <p:nvPr/>
        </p:nvSpPr>
        <p:spPr>
          <a:xfrm>
            <a:off x="2737714"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12" name="Text 9"/>
          <p:cNvSpPr txBox="1"/>
          <p:nvPr/>
        </p:nvSpPr>
        <p:spPr>
          <a:xfrm>
            <a:off x="2737714"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2012–13</a:t>
            </a:r>
            <a:endParaRPr lang="en-US" sz="1400"/>
          </a:p>
        </p:txBody>
      </p:sp>
      <p:sp>
        <p:nvSpPr>
          <p:cNvPr id="13" name="Season 2013–14"/>
          <p:cNvSpPr/>
          <p:nvPr/>
        </p:nvSpPr>
        <p:spPr>
          <a:xfrm>
            <a:off x="3877970"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14" name="Text 11"/>
          <p:cNvSpPr txBox="1"/>
          <p:nvPr/>
        </p:nvSpPr>
        <p:spPr>
          <a:xfrm>
            <a:off x="3877970"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2013–14</a:t>
            </a:r>
            <a:endParaRPr lang="en-US" sz="1400"/>
          </a:p>
        </p:txBody>
      </p:sp>
      <p:sp>
        <p:nvSpPr>
          <p:cNvPr id="15" name="Season 2014–15"/>
          <p:cNvSpPr/>
          <p:nvPr/>
        </p:nvSpPr>
        <p:spPr>
          <a:xfrm>
            <a:off x="5018227"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16" name="Text 13"/>
          <p:cNvSpPr txBox="1"/>
          <p:nvPr/>
        </p:nvSpPr>
        <p:spPr>
          <a:xfrm>
            <a:off x="5018227"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2014–15</a:t>
            </a:r>
            <a:endParaRPr lang="en-US" sz="1400"/>
          </a:p>
        </p:txBody>
      </p:sp>
      <p:sp>
        <p:nvSpPr>
          <p:cNvPr id="17" name="Season 2015–16"/>
          <p:cNvSpPr/>
          <p:nvPr/>
        </p:nvSpPr>
        <p:spPr>
          <a:xfrm>
            <a:off x="6158484"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18" name="Text 15"/>
          <p:cNvSpPr txBox="1"/>
          <p:nvPr/>
        </p:nvSpPr>
        <p:spPr>
          <a:xfrm>
            <a:off x="6158484"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2015–16</a:t>
            </a:r>
            <a:endParaRPr lang="en-US" sz="1400"/>
          </a:p>
        </p:txBody>
      </p:sp>
      <p:sp>
        <p:nvSpPr>
          <p:cNvPr id="19" name="Season 2016–17"/>
          <p:cNvSpPr/>
          <p:nvPr/>
        </p:nvSpPr>
        <p:spPr>
          <a:xfrm>
            <a:off x="7298741"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20" name="Text 17"/>
          <p:cNvSpPr txBox="1"/>
          <p:nvPr/>
        </p:nvSpPr>
        <p:spPr>
          <a:xfrm>
            <a:off x="7298741"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2016–17</a:t>
            </a:r>
            <a:endParaRPr lang="en-US" sz="1400"/>
          </a:p>
        </p:txBody>
      </p:sp>
      <p:sp>
        <p:nvSpPr>
          <p:cNvPr id="21" name="Season 2017–18"/>
          <p:cNvSpPr/>
          <p:nvPr/>
        </p:nvSpPr>
        <p:spPr>
          <a:xfrm>
            <a:off x="8438998"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22" name="Text 19"/>
          <p:cNvSpPr txBox="1"/>
          <p:nvPr/>
        </p:nvSpPr>
        <p:spPr>
          <a:xfrm>
            <a:off x="8438998"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2017–18</a:t>
            </a:r>
            <a:endParaRPr lang="en-US" sz="1400"/>
          </a:p>
        </p:txBody>
      </p:sp>
      <p:sp>
        <p:nvSpPr>
          <p:cNvPr id="23" name="Season 2018–19"/>
          <p:cNvSpPr/>
          <p:nvPr/>
        </p:nvSpPr>
        <p:spPr>
          <a:xfrm>
            <a:off x="9579254"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24" name="Text 21"/>
          <p:cNvSpPr txBox="1"/>
          <p:nvPr/>
        </p:nvSpPr>
        <p:spPr>
          <a:xfrm>
            <a:off x="9579254"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2018–19</a:t>
            </a:r>
            <a:endParaRPr lang="en-US" sz="1400"/>
          </a:p>
        </p:txBody>
      </p:sp>
      <p:sp>
        <p:nvSpPr>
          <p:cNvPr id="25" name="Season 2019–20"/>
          <p:cNvSpPr/>
          <p:nvPr/>
        </p:nvSpPr>
        <p:spPr>
          <a:xfrm>
            <a:off x="10719511" y="2926080"/>
            <a:ext cx="1005840" cy="548640"/>
          </a:xfrm>
          <a:prstGeom prst="rect">
            <a:avLst/>
          </a:prstGeom>
          <a:solidFill>
            <a:srgbClr val="FFFFFF"/>
          </a:solidFill>
          <a:ln w="12700">
            <a:solidFill>
              <a:srgbClr val="1F8FE5"/>
            </a:solidFill>
            <a:prstDash val="solid"/>
          </a:ln>
        </p:spPr>
        <p:txBody>
          <a:bodyPr/>
          <a:lstStyle/>
          <a:p>
            <a:endParaRPr lang="en-SG"/>
          </a:p>
        </p:txBody>
      </p:sp>
      <p:sp>
        <p:nvSpPr>
          <p:cNvPr id="26" name="Text 23"/>
          <p:cNvSpPr txBox="1"/>
          <p:nvPr/>
        </p:nvSpPr>
        <p:spPr>
          <a:xfrm>
            <a:off x="10719511" y="2926080"/>
            <a:ext cx="1005840" cy="548640"/>
          </a:xfrm>
          <a:prstGeom prst="rect">
            <a:avLst/>
          </a:prstGeom>
          <a:noFill/>
          <a:ln/>
        </p:spPr>
        <p:txBody>
          <a:bodyPr wrap="square" lIns="0" tIns="0" rIns="0" bIns="0" rtlCol="0" anchor="ctr"/>
          <a:lstStyle/>
          <a:p>
            <a:pPr marL="0" indent="0" algn="ctr">
              <a:buNone/>
            </a:pPr>
            <a:r>
              <a:rPr lang="en-US" sz="1400" b="1">
                <a:solidFill>
                  <a:srgbClr val="0E2A47"/>
                </a:solidFill>
                <a:latin typeface="Arial" pitchFamily="34" charset="0"/>
                <a:ea typeface="Arial" pitchFamily="34" charset="-122"/>
                <a:cs typeface="Arial" pitchFamily="34" charset="-120"/>
              </a:rPr>
              <a:t>2019–20</a:t>
            </a:r>
            <a:endParaRPr lang="en-US" sz="1400"/>
          </a:p>
        </p:txBody>
      </p:sp>
      <p:sp>
        <p:nvSpPr>
          <p:cNvPr id="27" name="No peeking bar"/>
          <p:cNvSpPr/>
          <p:nvPr/>
        </p:nvSpPr>
        <p:spPr>
          <a:xfrm>
            <a:off x="457200" y="3636715"/>
            <a:ext cx="11274552" cy="365760"/>
          </a:xfrm>
          <a:prstGeom prst="rect">
            <a:avLst/>
          </a:prstGeom>
          <a:solidFill>
            <a:srgbClr val="1F8FE5"/>
          </a:solidFill>
          <a:ln w="12700">
            <a:solidFill>
              <a:srgbClr val="1F8FE5"/>
            </a:solidFill>
            <a:prstDash val="solid"/>
          </a:ln>
        </p:spPr>
        <p:txBody>
          <a:bodyPr/>
          <a:lstStyle/>
          <a:p>
            <a:endParaRPr lang="en-SG"/>
          </a:p>
        </p:txBody>
      </p:sp>
      <p:sp>
        <p:nvSpPr>
          <p:cNvPr id="28" name="Text 25"/>
          <p:cNvSpPr txBox="1"/>
          <p:nvPr/>
        </p:nvSpPr>
        <p:spPr>
          <a:xfrm>
            <a:off x="443089" y="3791937"/>
            <a:ext cx="11260441" cy="41204"/>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Each forecast only sees seasons BEFORE the one it predicts: no peeking</a:t>
            </a:r>
            <a:endParaRPr lang="en-US" sz="1500"/>
          </a:p>
        </p:txBody>
      </p:sp>
      <p:sp>
        <p:nvSpPr>
          <p:cNvPr id="29" name="Result card 1"/>
          <p:cNvSpPr/>
          <p:nvPr/>
        </p:nvSpPr>
        <p:spPr>
          <a:xfrm>
            <a:off x="457200" y="4206240"/>
            <a:ext cx="3474720" cy="2042725"/>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30" name="Text 27"/>
          <p:cNvSpPr txBox="1"/>
          <p:nvPr/>
        </p:nvSpPr>
        <p:spPr>
          <a:xfrm>
            <a:off x="685800" y="4389120"/>
            <a:ext cx="3017520" cy="731520"/>
          </a:xfrm>
          <a:prstGeom prst="rect">
            <a:avLst/>
          </a:prstGeom>
          <a:noFill/>
          <a:ln/>
        </p:spPr>
        <p:txBody>
          <a:bodyPr wrap="square" lIns="0" tIns="0" rIns="0" bIns="0" rtlCol="0" anchor="ctr"/>
          <a:lstStyle/>
          <a:p>
            <a:pPr marL="0" indent="0">
              <a:buNone/>
            </a:pPr>
            <a:r>
              <a:rPr lang="en-US" sz="3600" b="1">
                <a:solidFill>
                  <a:srgbClr val="0E2A47"/>
                </a:solidFill>
                <a:latin typeface="Arial" pitchFamily="34" charset="0"/>
                <a:ea typeface="Arial" pitchFamily="34" charset="-122"/>
                <a:cs typeface="Arial" pitchFamily="34" charset="-120"/>
              </a:rPr>
              <a:t>10</a:t>
            </a:r>
            <a:endParaRPr lang="en-US" sz="3600"/>
          </a:p>
        </p:txBody>
      </p:sp>
      <p:sp>
        <p:nvSpPr>
          <p:cNvPr id="31" name="Text 28"/>
          <p:cNvSpPr txBox="1"/>
          <p:nvPr/>
        </p:nvSpPr>
        <p:spPr>
          <a:xfrm>
            <a:off x="1236133" y="4697307"/>
            <a:ext cx="301752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seasons scored</a:t>
            </a:r>
            <a:endParaRPr lang="en-US" sz="1400"/>
          </a:p>
        </p:txBody>
      </p:sp>
      <p:sp>
        <p:nvSpPr>
          <p:cNvPr id="32" name="Text 29"/>
          <p:cNvSpPr txBox="1"/>
          <p:nvPr/>
        </p:nvSpPr>
        <p:spPr>
          <a:xfrm>
            <a:off x="699911" y="5020733"/>
            <a:ext cx="3017520" cy="868680"/>
          </a:xfrm>
          <a:prstGeom prst="rect">
            <a:avLst/>
          </a:prstGeom>
          <a:noFill/>
          <a:ln/>
        </p:spPr>
        <p:txBody>
          <a:bodyPr wrap="square" lIns="0" tIns="0" rIns="0" bIns="0" rtlCol="0" anchor="t"/>
          <a:lstStyle/>
          <a:p>
            <a:pPr marL="0" indent="0">
              <a:buNone/>
            </a:pPr>
            <a:r>
              <a:rPr lang="en-US" sz="1400">
                <a:solidFill>
                  <a:srgbClr val="4A5563"/>
                </a:solidFill>
                <a:latin typeface="Calibri" pitchFamily="34" charset="0"/>
                <a:ea typeface="Calibri" pitchFamily="34" charset="-122"/>
                <a:cs typeface="Calibri" pitchFamily="34" charset="-120"/>
              </a:rPr>
              <a:t>Each had a real, known champion to compare against.</a:t>
            </a:r>
            <a:endParaRPr lang="en-US" sz="1400"/>
          </a:p>
        </p:txBody>
      </p:sp>
      <p:sp>
        <p:nvSpPr>
          <p:cNvPr id="33" name="Result card 2"/>
          <p:cNvSpPr/>
          <p:nvPr/>
        </p:nvSpPr>
        <p:spPr>
          <a:xfrm>
            <a:off x="4357116" y="4206240"/>
            <a:ext cx="3474720" cy="2042725"/>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34" name="Text 31"/>
          <p:cNvSpPr txBox="1"/>
          <p:nvPr/>
        </p:nvSpPr>
        <p:spPr>
          <a:xfrm>
            <a:off x="4585716" y="4389120"/>
            <a:ext cx="3017520" cy="731520"/>
          </a:xfrm>
          <a:prstGeom prst="rect">
            <a:avLst/>
          </a:prstGeom>
          <a:noFill/>
          <a:ln/>
        </p:spPr>
        <p:txBody>
          <a:bodyPr wrap="square" lIns="0" tIns="0" rIns="0" bIns="0" rtlCol="0" anchor="ctr"/>
          <a:lstStyle/>
          <a:p>
            <a:pPr marL="0" indent="0">
              <a:buNone/>
            </a:pPr>
            <a:r>
              <a:rPr lang="en-US" sz="3600" b="1">
                <a:solidFill>
                  <a:srgbClr val="0E2A47"/>
                </a:solidFill>
                <a:latin typeface="Arial" pitchFamily="34" charset="0"/>
                <a:ea typeface="Arial" pitchFamily="34" charset="-122"/>
                <a:cs typeface="Arial" pitchFamily="34" charset="-120"/>
              </a:rPr>
              <a:t>5.90</a:t>
            </a:r>
            <a:endParaRPr lang="en-US" sz="3600"/>
          </a:p>
        </p:txBody>
      </p:sp>
      <p:sp>
        <p:nvSpPr>
          <p:cNvPr id="35" name="Text 32"/>
          <p:cNvSpPr txBox="1"/>
          <p:nvPr/>
        </p:nvSpPr>
        <p:spPr>
          <a:xfrm>
            <a:off x="5517049" y="4753751"/>
            <a:ext cx="3017520" cy="320040"/>
          </a:xfrm>
          <a:prstGeom prst="rect">
            <a:avLst/>
          </a:prstGeom>
          <a:noFill/>
          <a:ln/>
        </p:spPr>
        <p:txBody>
          <a:bodyPr wrap="square" lIns="0" tIns="0" rIns="0" bIns="0" rtlCol="0" anchor="t"/>
          <a:lstStyle/>
          <a:p>
            <a:pPr marL="0" indent="0">
              <a:buNone/>
            </a:pPr>
            <a:r>
              <a:rPr lang="en-US" sz="1400" i="1">
                <a:solidFill>
                  <a:srgbClr val="1F8FE5"/>
                </a:solidFill>
                <a:latin typeface="Calibri" pitchFamily="34" charset="0"/>
                <a:ea typeface="Calibri" pitchFamily="34" charset="-122"/>
                <a:cs typeface="Calibri" pitchFamily="34" charset="-120"/>
              </a:rPr>
              <a:t>avg rank of the real champion</a:t>
            </a:r>
            <a:endParaRPr lang="en-US" sz="1400"/>
          </a:p>
        </p:txBody>
      </p:sp>
      <p:sp>
        <p:nvSpPr>
          <p:cNvPr id="36" name="Text 33"/>
          <p:cNvSpPr txBox="1"/>
          <p:nvPr/>
        </p:nvSpPr>
        <p:spPr>
          <a:xfrm>
            <a:off x="4585716" y="5063067"/>
            <a:ext cx="3017520" cy="868680"/>
          </a:xfrm>
          <a:prstGeom prst="rect">
            <a:avLst/>
          </a:prstGeom>
          <a:noFill/>
          <a:ln/>
        </p:spPr>
        <p:txBody>
          <a:bodyPr wrap="square" lIns="0" tIns="0" rIns="0" bIns="0" rtlCol="0" anchor="t"/>
          <a:lstStyle/>
          <a:p>
            <a:pPr marL="0" indent="0">
              <a:buNone/>
            </a:pPr>
            <a:r>
              <a:rPr lang="en-US" sz="1400">
                <a:solidFill>
                  <a:srgbClr val="4A5563"/>
                </a:solidFill>
                <a:latin typeface="Calibri" pitchFamily="34" charset="0"/>
                <a:ea typeface="Calibri" pitchFamily="34" charset="-122"/>
                <a:cs typeface="Calibri" pitchFamily="34" charset="-120"/>
              </a:rPr>
              <a:t>1 means our #1 pick won. A random guess among ~30 teams averages about 15–16.</a:t>
            </a:r>
            <a:endParaRPr lang="en-US" sz="1400"/>
          </a:p>
        </p:txBody>
      </p:sp>
      <p:sp>
        <p:nvSpPr>
          <p:cNvPr id="37" name="Result card 3"/>
          <p:cNvSpPr/>
          <p:nvPr/>
        </p:nvSpPr>
        <p:spPr>
          <a:xfrm>
            <a:off x="8257032" y="4206240"/>
            <a:ext cx="3474720" cy="2042725"/>
          </a:xfrm>
          <a:prstGeom prst="rect">
            <a:avLst/>
          </a:prstGeom>
          <a:solidFill>
            <a:srgbClr val="FFFFFF"/>
          </a:solidFill>
          <a:ln w="9525">
            <a:solidFill>
              <a:srgbClr val="DCE5EC"/>
            </a:solidFill>
            <a:prstDash val="solid"/>
          </a:ln>
          <a:effectLst>
            <a:outerShdw blurRad="76200" dist="25400" dir="5400000" algn="bl" rotWithShape="0">
              <a:srgbClr val="000000">
                <a:alpha val="15000"/>
              </a:srgbClr>
            </a:outerShdw>
          </a:effectLst>
        </p:spPr>
        <p:txBody>
          <a:bodyPr/>
          <a:lstStyle/>
          <a:p>
            <a:endParaRPr lang="en-SG"/>
          </a:p>
        </p:txBody>
      </p:sp>
      <p:sp>
        <p:nvSpPr>
          <p:cNvPr id="38" name="Text 35"/>
          <p:cNvSpPr txBox="1"/>
          <p:nvPr/>
        </p:nvSpPr>
        <p:spPr>
          <a:xfrm>
            <a:off x="8485632" y="4389120"/>
            <a:ext cx="3017520" cy="731520"/>
          </a:xfrm>
          <a:prstGeom prst="rect">
            <a:avLst/>
          </a:prstGeom>
          <a:noFill/>
          <a:ln/>
        </p:spPr>
        <p:txBody>
          <a:bodyPr wrap="square" lIns="0" tIns="0" rIns="0" bIns="0" rtlCol="0" anchor="ctr"/>
          <a:lstStyle/>
          <a:p>
            <a:pPr marL="0" indent="0">
              <a:buNone/>
            </a:pPr>
            <a:r>
              <a:rPr lang="en-US" sz="3600" b="1">
                <a:solidFill>
                  <a:srgbClr val="0E2A47"/>
                </a:solidFill>
                <a:latin typeface="Arial" pitchFamily="34" charset="0"/>
                <a:ea typeface="Arial" pitchFamily="34" charset="-122"/>
                <a:cs typeface="Arial" pitchFamily="34" charset="-120"/>
              </a:rPr>
              <a:t>2010–11</a:t>
            </a:r>
            <a:endParaRPr lang="en-US" sz="3600"/>
          </a:p>
        </p:txBody>
      </p:sp>
      <p:sp>
        <p:nvSpPr>
          <p:cNvPr id="39" name="Text 36"/>
          <p:cNvSpPr txBox="1"/>
          <p:nvPr/>
        </p:nvSpPr>
        <p:spPr>
          <a:xfrm>
            <a:off x="10291855" y="4697307"/>
            <a:ext cx="3017520" cy="320040"/>
          </a:xfrm>
          <a:prstGeom prst="rect">
            <a:avLst/>
          </a:prstGeom>
          <a:noFill/>
          <a:ln/>
        </p:spPr>
        <p:txBody>
          <a:bodyPr wrap="square" lIns="0" tIns="0" rIns="0" bIns="0" rtlCol="0" anchor="t"/>
          <a:lstStyle/>
          <a:p>
            <a:r>
              <a:rPr lang="en-US" sz="1400" i="1">
                <a:solidFill>
                  <a:srgbClr val="1F8FE5"/>
                </a:solidFill>
                <a:latin typeface="Calibri"/>
                <a:ea typeface="Calibri"/>
                <a:cs typeface="Calibri"/>
              </a:rPr>
              <a:t>earliest season we</a:t>
            </a:r>
            <a:endParaRPr lang="en-US" sz="1400">
              <a:solidFill>
                <a:srgbClr val="000000"/>
              </a:solidFill>
              <a:latin typeface="Calibri"/>
              <a:ea typeface="Calibri"/>
              <a:cs typeface="Calibri"/>
            </a:endParaRPr>
          </a:p>
          <a:p>
            <a:r>
              <a:rPr lang="en-US" sz="1400" i="1">
                <a:solidFill>
                  <a:srgbClr val="1F8FE5"/>
                </a:solidFill>
                <a:latin typeface="Calibri"/>
                <a:ea typeface="Calibri"/>
                <a:cs typeface="Calibri"/>
              </a:rPr>
              <a:t> could score</a:t>
            </a:r>
            <a:endParaRPr lang="en-US" sz="1400">
              <a:latin typeface="Calibri"/>
              <a:ea typeface="Calibri"/>
              <a:cs typeface="Calibri"/>
            </a:endParaRPr>
          </a:p>
        </p:txBody>
      </p:sp>
      <p:sp>
        <p:nvSpPr>
          <p:cNvPr id="40" name="Text 37"/>
          <p:cNvSpPr txBox="1"/>
          <p:nvPr/>
        </p:nvSpPr>
        <p:spPr>
          <a:xfrm>
            <a:off x="8485632" y="5232400"/>
            <a:ext cx="3017520" cy="868680"/>
          </a:xfrm>
          <a:prstGeom prst="rect">
            <a:avLst/>
          </a:prstGeom>
          <a:noFill/>
          <a:ln/>
        </p:spPr>
        <p:txBody>
          <a:bodyPr wrap="square" lIns="0" tIns="0" rIns="0" bIns="0" rtlCol="0" anchor="t"/>
          <a:lstStyle/>
          <a:p>
            <a:pPr marL="0" indent="0">
              <a:buNone/>
            </a:pPr>
            <a:r>
              <a:rPr lang="en-US" sz="1400">
                <a:solidFill>
                  <a:srgbClr val="4A5563"/>
                </a:solidFill>
                <a:latin typeface="Calibri" pitchFamily="34" charset="0"/>
                <a:ea typeface="Calibri" pitchFamily="34" charset="-122"/>
                <a:cs typeface="Calibri" pitchFamily="34" charset="-120"/>
              </a:rPr>
              <a:t>The source data has no playoff games before then, so we stopped there rather than guess.</a:t>
            </a:r>
            <a:endParaRPr lang="en-US"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68AA-7695-47F6-1284-A85A1E229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31634-B73A-E634-DC3F-3D27051A45B7}"/>
              </a:ext>
            </a:extLst>
          </p:cNvPr>
          <p:cNvSpPr>
            <a:spLocks noGrp="1"/>
          </p:cNvSpPr>
          <p:nvPr>
            <p:ph type="title"/>
          </p:nvPr>
        </p:nvSpPr>
        <p:spPr>
          <a:xfrm>
            <a:off x="-3911" y="127079"/>
            <a:ext cx="6451932" cy="772056"/>
          </a:xfrm>
        </p:spPr>
        <p:txBody>
          <a:bodyPr>
            <a:normAutofit/>
          </a:bodyPr>
          <a:lstStyle/>
          <a:p>
            <a:r>
              <a:rPr lang="en-US" sz="3600" b="1">
                <a:solidFill>
                  <a:srgbClr val="0B1F3A"/>
                </a:solidFill>
                <a:latin typeface="Arial"/>
                <a:cs typeface="Arial"/>
              </a:rPr>
              <a:t>How Good Is the Model?</a:t>
            </a:r>
            <a:endParaRPr lang="en-US" sz="3600">
              <a:latin typeface="Arial"/>
              <a:cs typeface="Arial"/>
            </a:endParaRPr>
          </a:p>
          <a:p>
            <a:endParaRPr lang="en-US" sz="4000"/>
          </a:p>
        </p:txBody>
      </p:sp>
      <p:pic>
        <p:nvPicPr>
          <p:cNvPr id="4" name="Content Placeholder 3" descr="A graph with blue lines&#10;&#10;AI-generated content may be incorrect.">
            <a:extLst>
              <a:ext uri="{FF2B5EF4-FFF2-40B4-BE49-F238E27FC236}">
                <a16:creationId xmlns:a16="http://schemas.microsoft.com/office/drawing/2014/main" id="{7E687975-845B-F623-70F6-1CC34E10FD16}"/>
              </a:ext>
            </a:extLst>
          </p:cNvPr>
          <p:cNvPicPr>
            <a:picLocks noGrp="1" noChangeAspect="1"/>
          </p:cNvPicPr>
          <p:nvPr>
            <p:ph idx="1"/>
          </p:nvPr>
        </p:nvPicPr>
        <p:blipFill>
          <a:blip r:embed="rId3"/>
          <a:stretch>
            <a:fillRect/>
          </a:stretch>
        </p:blipFill>
        <p:spPr>
          <a:xfrm>
            <a:off x="115019" y="778107"/>
            <a:ext cx="5014196" cy="5920000"/>
          </a:xfrm>
          <a:prstGeom prst="rect">
            <a:avLst/>
          </a:prstGeom>
        </p:spPr>
      </p:pic>
      <p:pic>
        <p:nvPicPr>
          <p:cNvPr id="3" name="Picture 2" descr="A white rectangular object with blue text&#10;&#10;AI-generated content may be incorrect.">
            <a:extLst>
              <a:ext uri="{FF2B5EF4-FFF2-40B4-BE49-F238E27FC236}">
                <a16:creationId xmlns:a16="http://schemas.microsoft.com/office/drawing/2014/main" id="{05832A49-BDBF-265F-4471-FC05537D0CE5}"/>
              </a:ext>
            </a:extLst>
          </p:cNvPr>
          <p:cNvPicPr>
            <a:picLocks noChangeAspect="1"/>
          </p:cNvPicPr>
          <p:nvPr/>
        </p:nvPicPr>
        <p:blipFill>
          <a:blip r:embed="rId4"/>
          <a:stretch>
            <a:fillRect/>
          </a:stretch>
        </p:blipFill>
        <p:spPr>
          <a:xfrm>
            <a:off x="6101122" y="902988"/>
            <a:ext cx="4834926" cy="1313911"/>
          </a:xfrm>
          <a:prstGeom prst="rect">
            <a:avLst/>
          </a:prstGeom>
        </p:spPr>
      </p:pic>
      <p:sp>
        <p:nvSpPr>
          <p:cNvPr id="5" name="TextBox 4">
            <a:extLst>
              <a:ext uri="{FF2B5EF4-FFF2-40B4-BE49-F238E27FC236}">
                <a16:creationId xmlns:a16="http://schemas.microsoft.com/office/drawing/2014/main" id="{7576D019-87AF-0558-1CCF-26E487ADC473}"/>
              </a:ext>
            </a:extLst>
          </p:cNvPr>
          <p:cNvSpPr txBox="1"/>
          <p:nvPr/>
        </p:nvSpPr>
        <p:spPr>
          <a:xfrm>
            <a:off x="6331527" y="2743199"/>
            <a:ext cx="5334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What we tested</a:t>
            </a:r>
            <a:endParaRPr lang="en-US">
              <a:latin typeface="Arial"/>
              <a:cs typeface="Arial"/>
            </a:endParaRPr>
          </a:p>
          <a:p>
            <a:r>
              <a:rPr lang="en-US" sz="1600">
                <a:latin typeface="Arial"/>
                <a:cs typeface="Arial"/>
              </a:rPr>
              <a:t>•</a:t>
            </a:r>
            <a:r>
              <a:rPr lang="en-US" sz="1600">
                <a:solidFill>
                  <a:srgbClr val="5D614B"/>
                </a:solidFill>
                <a:latin typeface="Arial"/>
                <a:ea typeface="Calibri"/>
                <a:cs typeface="Arial"/>
              </a:rPr>
              <a:t>Before trusting this on a real season, we made the model predict champions for 10 past seasons it hadn't seen, using only data from before each one.</a:t>
            </a:r>
            <a:endParaRPr lang="en-US" sz="1600">
              <a:latin typeface="Arial"/>
              <a:cs typeface="Arial"/>
            </a:endParaRPr>
          </a:p>
          <a:p>
            <a:r>
              <a:rPr lang="en-US" sz="1600">
                <a:latin typeface="Arial"/>
                <a:cs typeface="Arial"/>
              </a:rPr>
              <a:t>•</a:t>
            </a:r>
            <a:r>
              <a:rPr lang="en-US" sz="1600">
                <a:solidFill>
                  <a:srgbClr val="5D614B"/>
                </a:solidFill>
                <a:latin typeface="Arial"/>
                <a:ea typeface="Calibri"/>
                <a:cs typeface="Arial"/>
              </a:rPr>
              <a:t>Each point on the chart is one tested season — the lower it sits, the closer our top pick was to the real champion (1 = nailed it exactly).</a:t>
            </a:r>
            <a:endParaRPr lang="en-US" sz="1600">
              <a:latin typeface="Arial"/>
              <a:cs typeface="Arial"/>
            </a:endParaRPr>
          </a:p>
          <a:p>
            <a:r>
              <a:rPr lang="en-US" sz="1600">
                <a:latin typeface="Arial"/>
                <a:cs typeface="Arial"/>
              </a:rPr>
              <a:t>•</a:t>
            </a:r>
            <a:r>
              <a:rPr lang="en-US" sz="1600">
                <a:solidFill>
                  <a:srgbClr val="5D614B"/>
                </a:solidFill>
                <a:latin typeface="Arial"/>
                <a:ea typeface="Calibri"/>
                <a:cs typeface="Arial"/>
              </a:rPr>
              <a:t>Some seasons we called almost exactly; others missed by a wide margin — averaging out to a projected rank of 5.90 across the decade.</a:t>
            </a:r>
            <a:endParaRPr lang="en-US" sz="1600">
              <a:latin typeface="Arial"/>
              <a:cs typeface="Arial"/>
            </a:endParaRPr>
          </a:p>
          <a:p>
            <a:pPr algn="l"/>
            <a:endParaRPr lang="en-US"/>
          </a:p>
        </p:txBody>
      </p:sp>
    </p:spTree>
    <p:extLst>
      <p:ext uri="{BB962C8B-B14F-4D97-AF65-F5344CB8AC3E}">
        <p14:creationId xmlns:p14="http://schemas.microsoft.com/office/powerpoint/2010/main" val="734016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90E02-82E2-A1C4-81D7-E1F4F1FE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3D40D-95B0-4D12-E38F-D7A04742C471}"/>
              </a:ext>
            </a:extLst>
          </p:cNvPr>
          <p:cNvSpPr>
            <a:spLocks noGrp="1"/>
          </p:cNvSpPr>
          <p:nvPr>
            <p:ph type="title"/>
          </p:nvPr>
        </p:nvSpPr>
        <p:spPr>
          <a:xfrm>
            <a:off x="-4433" y="242881"/>
            <a:ext cx="12001592" cy="645013"/>
          </a:xfrm>
        </p:spPr>
        <p:txBody>
          <a:bodyPr/>
          <a:lstStyle/>
          <a:p>
            <a:r>
              <a:rPr lang="en-US" sz="3600" b="1">
                <a:solidFill>
                  <a:srgbClr val="0B1F3A"/>
                </a:solidFill>
                <a:latin typeface="Arial"/>
                <a:cs typeface="Arial"/>
              </a:rPr>
              <a:t>The Reveal</a:t>
            </a:r>
            <a:endParaRPr lang="en-US"/>
          </a:p>
          <a:p>
            <a:endParaRPr lang="en-US"/>
          </a:p>
        </p:txBody>
      </p:sp>
      <p:sp>
        <p:nvSpPr>
          <p:cNvPr id="9" name="TextBox 8">
            <a:extLst>
              <a:ext uri="{FF2B5EF4-FFF2-40B4-BE49-F238E27FC236}">
                <a16:creationId xmlns:a16="http://schemas.microsoft.com/office/drawing/2014/main" id="{095A2BE0-1DD6-9539-4920-7420C8B84745}"/>
              </a:ext>
            </a:extLst>
          </p:cNvPr>
          <p:cNvSpPr txBox="1"/>
          <p:nvPr/>
        </p:nvSpPr>
        <p:spPr>
          <a:xfrm>
            <a:off x="0" y="886690"/>
            <a:ext cx="8437417"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solidFill>
                  <a:srgbClr val="5D614B"/>
                </a:solidFill>
                <a:latin typeface="Calibri"/>
                <a:ea typeface="Calibri"/>
                <a:cs typeface="Calibri"/>
              </a:rPr>
              <a:t>Trained only on data through 2020 — then pointed at a season that had already happened</a:t>
            </a:r>
            <a:endParaRPr lang="en-US" sz="1600">
              <a:latin typeface="Calibri"/>
              <a:ea typeface="Calibri"/>
              <a:cs typeface="Calibri"/>
            </a:endParaRPr>
          </a:p>
          <a:p>
            <a:pPr algn="l"/>
            <a:endParaRPr lang="en-US"/>
          </a:p>
        </p:txBody>
      </p:sp>
      <p:sp>
        <p:nvSpPr>
          <p:cNvPr id="11" name="TextBox 10">
            <a:extLst>
              <a:ext uri="{FF2B5EF4-FFF2-40B4-BE49-F238E27FC236}">
                <a16:creationId xmlns:a16="http://schemas.microsoft.com/office/drawing/2014/main" id="{8DDA8B54-0B01-3171-384B-24F80DEE47E5}"/>
              </a:ext>
            </a:extLst>
          </p:cNvPr>
          <p:cNvSpPr txBox="1"/>
          <p:nvPr/>
        </p:nvSpPr>
        <p:spPr>
          <a:xfrm>
            <a:off x="1583150" y="4693814"/>
            <a:ext cx="9390046"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solidFill>
                  <a:srgbClr val="071A2F"/>
                </a:solidFill>
                <a:latin typeface="Arial"/>
                <a:ea typeface="Calibri"/>
                <a:cs typeface="Arial"/>
              </a:rPr>
              <a:t>Both calls landed: the model's top pick for Best Player (McDavid)</a:t>
            </a:r>
            <a:endParaRPr lang="en-US" sz="1600">
              <a:solidFill>
                <a:srgbClr val="071A2F"/>
              </a:solidFill>
              <a:latin typeface="Arial"/>
              <a:cs typeface="Arial"/>
            </a:endParaRPr>
          </a:p>
          <a:p>
            <a:pPr algn="ctr"/>
            <a:r>
              <a:rPr lang="en-US" sz="1600">
                <a:solidFill>
                  <a:srgbClr val="071A2F"/>
                </a:solidFill>
                <a:latin typeface="Arial"/>
                <a:ea typeface="Calibri"/>
                <a:cs typeface="Arial"/>
              </a:rPr>
              <a:t>and Stanley Cup Champion (Lightning) matched reality exactly.</a:t>
            </a:r>
            <a:endParaRPr lang="en-US" sz="1600">
              <a:solidFill>
                <a:srgbClr val="071A2F"/>
              </a:solidFill>
              <a:latin typeface="Arial"/>
              <a:cs typeface="Arial"/>
            </a:endParaRPr>
          </a:p>
          <a:p>
            <a:pPr algn="l"/>
            <a:endParaRPr lang="en-US"/>
          </a:p>
        </p:txBody>
      </p:sp>
      <p:graphicFrame>
        <p:nvGraphicFramePr>
          <p:cNvPr id="4" name="Table 3">
            <a:extLst>
              <a:ext uri="{FF2B5EF4-FFF2-40B4-BE49-F238E27FC236}">
                <a16:creationId xmlns:a16="http://schemas.microsoft.com/office/drawing/2014/main" id="{7B5F7F45-9BCC-2FF4-F35E-EE5239F232F7}"/>
              </a:ext>
            </a:extLst>
          </p:cNvPr>
          <p:cNvGraphicFramePr>
            <a:graphicFrameLocks noGrp="1"/>
          </p:cNvGraphicFramePr>
          <p:nvPr>
            <p:extLst>
              <p:ext uri="{D42A27DB-BD31-4B8C-83A1-F6EECF244321}">
                <p14:modId xmlns:p14="http://schemas.microsoft.com/office/powerpoint/2010/main" val="18414093"/>
              </p:ext>
            </p:extLst>
          </p:nvPr>
        </p:nvGraphicFramePr>
        <p:xfrm>
          <a:off x="1782792" y="2041584"/>
          <a:ext cx="8999919" cy="2073086"/>
        </p:xfrm>
        <a:graphic>
          <a:graphicData uri="http://schemas.openxmlformats.org/drawingml/2006/table">
            <a:tbl>
              <a:tblPr firstRow="1" bandRow="1">
                <a:tableStyleId>{5C22544A-7EE6-4342-B048-85BDC9FD1C3A}</a:tableStyleId>
              </a:tblPr>
              <a:tblGrid>
                <a:gridCol w="2999973">
                  <a:extLst>
                    <a:ext uri="{9D8B030D-6E8A-4147-A177-3AD203B41FA5}">
                      <a16:colId xmlns:a16="http://schemas.microsoft.com/office/drawing/2014/main" val="4287584550"/>
                    </a:ext>
                  </a:extLst>
                </a:gridCol>
                <a:gridCol w="2999973">
                  <a:extLst>
                    <a:ext uri="{9D8B030D-6E8A-4147-A177-3AD203B41FA5}">
                      <a16:colId xmlns:a16="http://schemas.microsoft.com/office/drawing/2014/main" val="3078862518"/>
                    </a:ext>
                  </a:extLst>
                </a:gridCol>
                <a:gridCol w="2999973">
                  <a:extLst>
                    <a:ext uri="{9D8B030D-6E8A-4147-A177-3AD203B41FA5}">
                      <a16:colId xmlns:a16="http://schemas.microsoft.com/office/drawing/2014/main" val="727757957"/>
                    </a:ext>
                  </a:extLst>
                </a:gridCol>
              </a:tblGrid>
              <a:tr h="476042">
                <a:tc>
                  <a:txBody>
                    <a:bodyPr/>
                    <a:lstStyle/>
                    <a:p>
                      <a:pPr lvl="0" algn="ctr">
                        <a:buNone/>
                      </a:pPr>
                      <a:r>
                        <a:rPr lang="en-US"/>
                        <a:t>2020-2021 Season</a:t>
                      </a:r>
                    </a:p>
                  </a:txBody>
                  <a:tcPr anchor="ctr"/>
                </a:tc>
                <a:tc>
                  <a:txBody>
                    <a:bodyPr/>
                    <a:lstStyle/>
                    <a:p>
                      <a:pPr algn="ctr"/>
                      <a:r>
                        <a:rPr lang="en-US"/>
                        <a:t>Our Prediction</a:t>
                      </a:r>
                    </a:p>
                  </a:txBody>
                  <a:tcPr anchor="ctr"/>
                </a:tc>
                <a:tc>
                  <a:txBody>
                    <a:bodyPr/>
                    <a:lstStyle/>
                    <a:p>
                      <a:pPr algn="ctr"/>
                      <a:r>
                        <a:rPr lang="en-US"/>
                        <a:t>Reality</a:t>
                      </a:r>
                    </a:p>
                  </a:txBody>
                  <a:tcPr anchor="ctr"/>
                </a:tc>
                <a:extLst>
                  <a:ext uri="{0D108BD9-81ED-4DB2-BD59-A6C34878D82A}">
                    <a16:rowId xmlns:a16="http://schemas.microsoft.com/office/drawing/2014/main" val="1966550557"/>
                  </a:ext>
                </a:extLst>
              </a:tr>
              <a:tr h="537466">
                <a:tc>
                  <a:txBody>
                    <a:bodyPr/>
                    <a:lstStyle/>
                    <a:p>
                      <a:pPr algn="ctr"/>
                      <a:r>
                        <a:rPr lang="en-US"/>
                        <a:t>Best Player</a:t>
                      </a:r>
                    </a:p>
                  </a:txBody>
                  <a:tcPr anchor="ctr"/>
                </a:tc>
                <a:tc>
                  <a:txBody>
                    <a:bodyPr/>
                    <a:lstStyle/>
                    <a:p>
                      <a:pPr algn="ctr"/>
                      <a:r>
                        <a:rPr lang="en-US"/>
                        <a:t>McDavid</a:t>
                      </a:r>
                    </a:p>
                  </a:txBody>
                  <a:tcPr anchor="ctr"/>
                </a:tc>
                <a:tc>
                  <a:txBody>
                    <a:bodyPr/>
                    <a:lstStyle/>
                    <a:p>
                      <a:pPr algn="ctr"/>
                      <a:r>
                        <a:rPr lang="en-US"/>
                        <a:t>Connor McDavid</a:t>
                      </a:r>
                    </a:p>
                  </a:txBody>
                  <a:tcPr anchor="ctr"/>
                </a:tc>
                <a:extLst>
                  <a:ext uri="{0D108BD9-81ED-4DB2-BD59-A6C34878D82A}">
                    <a16:rowId xmlns:a16="http://schemas.microsoft.com/office/drawing/2014/main" val="1990277105"/>
                  </a:ext>
                </a:extLst>
              </a:tr>
              <a:tr h="1059578">
                <a:tc>
                  <a:txBody>
                    <a:bodyPr/>
                    <a:lstStyle/>
                    <a:p>
                      <a:pPr algn="ctr"/>
                      <a:r>
                        <a:rPr lang="en-US"/>
                        <a:t>Stanley Cup Champion</a:t>
                      </a:r>
                    </a:p>
                  </a:txBody>
                  <a:tcPr anchor="ctr"/>
                </a:tc>
                <a:tc>
                  <a:txBody>
                    <a:bodyPr/>
                    <a:lstStyle/>
                    <a:p>
                      <a:pPr algn="ctr"/>
                      <a:r>
                        <a:rPr lang="en-US"/>
                        <a:t>Lightning</a:t>
                      </a:r>
                    </a:p>
                  </a:txBody>
                  <a:tcPr anchor="ctr"/>
                </a:tc>
                <a:tc>
                  <a:txBody>
                    <a:bodyPr/>
                    <a:lstStyle/>
                    <a:p>
                      <a:pPr algn="ctr"/>
                      <a:r>
                        <a:rPr lang="en-US"/>
                        <a:t>Tampa Bay Lightning</a:t>
                      </a:r>
                    </a:p>
                  </a:txBody>
                  <a:tcPr anchor="ctr"/>
                </a:tc>
                <a:extLst>
                  <a:ext uri="{0D108BD9-81ED-4DB2-BD59-A6C34878D82A}">
                    <a16:rowId xmlns:a16="http://schemas.microsoft.com/office/drawing/2014/main" val="2674218153"/>
                  </a:ext>
                </a:extLst>
              </a:tr>
            </a:tbl>
          </a:graphicData>
        </a:graphic>
      </p:graphicFrame>
    </p:spTree>
    <p:extLst>
      <p:ext uri="{BB962C8B-B14F-4D97-AF65-F5344CB8AC3E}">
        <p14:creationId xmlns:p14="http://schemas.microsoft.com/office/powerpoint/2010/main" val="1924029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A716-D42B-D01A-6C41-32E172FA98D3}"/>
              </a:ext>
            </a:extLst>
          </p:cNvPr>
          <p:cNvSpPr>
            <a:spLocks noGrp="1"/>
          </p:cNvSpPr>
          <p:nvPr>
            <p:ph type="title"/>
          </p:nvPr>
        </p:nvSpPr>
        <p:spPr>
          <a:xfrm>
            <a:off x="457200" y="274320"/>
            <a:ext cx="11247120" cy="731520"/>
          </a:xfrm>
        </p:spPr>
        <p:txBody>
          <a:bodyPr wrap="square" lIns="0" tIns="0" rIns="0" bIns="0" anchor="ctr"/>
          <a:lstStyle/>
          <a:p>
            <a:pPr algn="l"/>
            <a:r>
              <a:rPr sz="3600" b="1" i="0">
                <a:solidFill>
                  <a:srgbClr val="FFFFFF"/>
                </a:solidFill>
                <a:latin typeface="Arial"/>
              </a:rPr>
              <a:t>Last Call: Two Formulas, Perked Up</a:t>
            </a:r>
          </a:p>
        </p:txBody>
      </p:sp>
      <p:sp>
        <p:nvSpPr>
          <p:cNvPr id="3" name="Subtitle"/>
          <p:cNvSpPr txBox="1"/>
          <p:nvPr/>
        </p:nvSpPr>
        <p:spPr>
          <a:xfrm>
            <a:off x="457200" y="1057691"/>
            <a:ext cx="11247120" cy="307777"/>
          </a:xfrm>
          <a:prstGeom prst="rect">
            <a:avLst/>
          </a:prstGeom>
          <a:noFill/>
        </p:spPr>
        <p:txBody>
          <a:bodyPr wrap="square" lIns="0" tIns="0" rIns="0" bIns="0" anchor="ctr">
            <a:spAutoFit/>
          </a:bodyPr>
          <a:lstStyle/>
          <a:p>
            <a:pPr algn="l"/>
            <a:r>
              <a:rPr sz="2000" b="1" i="1">
                <a:solidFill>
                  <a:srgbClr val="F5C542"/>
                </a:solidFill>
                <a:latin typeface="Calibri"/>
              </a:rPr>
              <a:t>From coffee towkays to pro max ice hockey bankers: your order is ready.</a:t>
            </a:r>
            <a:endParaRPr lang="en-US" sz="2000" b="1" i="1">
              <a:solidFill>
                <a:srgbClr val="F5C542"/>
              </a:solidFill>
              <a:latin typeface="Calibri"/>
              <a:ea typeface="Calibri"/>
              <a:cs typeface="Calibri"/>
            </a:endParaRPr>
          </a:p>
        </p:txBody>
      </p:sp>
      <p:sp>
        <p:nvSpPr>
          <p:cNvPr id="4" name="The Bouncer card"/>
          <p:cNvSpPr/>
          <p:nvPr/>
        </p:nvSpPr>
        <p:spPr>
          <a:xfrm>
            <a:off x="457200" y="1691640"/>
            <a:ext cx="544068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he Bouncer accent"/>
          <p:cNvSpPr/>
          <p:nvPr/>
        </p:nvSpPr>
        <p:spPr>
          <a:xfrm>
            <a:off x="457200" y="1691640"/>
            <a:ext cx="5440680" cy="82296"/>
          </a:xfrm>
          <a:prstGeom prst="rect">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up body"/>
          <p:cNvSpPr/>
          <p:nvPr/>
        </p:nvSpPr>
        <p:spPr>
          <a:xfrm>
            <a:off x="795528" y="2185416"/>
            <a:ext cx="420624" cy="347472"/>
          </a:xfrm>
          <a:prstGeom prst="roundRect">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up handle"/>
          <p:cNvSpPr/>
          <p:nvPr/>
        </p:nvSpPr>
        <p:spPr>
          <a:xfrm>
            <a:off x="1161288" y="2249424"/>
            <a:ext cx="182880" cy="201168"/>
          </a:xfrm>
          <a:prstGeom prst="ellipse">
            <a:avLst/>
          </a:prstGeom>
          <a:noFill/>
          <a:ln w="38100">
            <a:solidFill>
              <a:srgbClr val="F5C5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aucer"/>
          <p:cNvSpPr/>
          <p:nvPr/>
        </p:nvSpPr>
        <p:spPr>
          <a:xfrm>
            <a:off x="722376" y="2551176"/>
            <a:ext cx="566928" cy="45720"/>
          </a:xfrm>
          <a:prstGeom prst="roundRect">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eam"/>
          <p:cNvSpPr/>
          <p:nvPr/>
        </p:nvSpPr>
        <p:spPr>
          <a:xfrm>
            <a:off x="868680" y="2039112"/>
            <a:ext cx="36576" cy="128016"/>
          </a:xfrm>
          <a:prstGeom prst="roundRect">
            <a:avLst/>
          </a:prstGeom>
          <a:solidFill>
            <a:srgbClr val="A9B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eam"/>
          <p:cNvSpPr/>
          <p:nvPr/>
        </p:nvSpPr>
        <p:spPr>
          <a:xfrm>
            <a:off x="987552" y="2039112"/>
            <a:ext cx="36576" cy="128016"/>
          </a:xfrm>
          <a:prstGeom prst="roundRect">
            <a:avLst/>
          </a:prstGeom>
          <a:solidFill>
            <a:srgbClr val="A9B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eam"/>
          <p:cNvSpPr/>
          <p:nvPr/>
        </p:nvSpPr>
        <p:spPr>
          <a:xfrm>
            <a:off x="1106424" y="2039112"/>
            <a:ext cx="36576" cy="128016"/>
          </a:xfrm>
          <a:prstGeom prst="roundRect">
            <a:avLst/>
          </a:prstGeom>
          <a:solidFill>
            <a:srgbClr val="A9B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he Bouncer tag"/>
          <p:cNvSpPr txBox="1"/>
          <p:nvPr/>
        </p:nvSpPr>
        <p:spPr>
          <a:xfrm>
            <a:off x="1645920" y="1947672"/>
            <a:ext cx="4069080" cy="274320"/>
          </a:xfrm>
          <a:prstGeom prst="rect">
            <a:avLst/>
          </a:prstGeom>
          <a:noFill/>
        </p:spPr>
        <p:txBody>
          <a:bodyPr wrap="square" lIns="0" tIns="0" rIns="0" bIns="0" anchor="ctr">
            <a:spAutoFit/>
          </a:bodyPr>
          <a:lstStyle/>
          <a:p>
            <a:pPr algn="l"/>
            <a:r>
              <a:rPr sz="1300" b="1" i="0">
                <a:solidFill>
                  <a:srgbClr val="1F8FE5"/>
                </a:solidFill>
                <a:latin typeface="Arial"/>
              </a:rPr>
              <a:t>FORMULA 1</a:t>
            </a:r>
          </a:p>
        </p:txBody>
      </p:sp>
      <p:sp>
        <p:nvSpPr>
          <p:cNvPr id="13" name="The Bouncer name"/>
          <p:cNvSpPr txBox="1"/>
          <p:nvPr/>
        </p:nvSpPr>
        <p:spPr>
          <a:xfrm>
            <a:off x="1645920" y="2203704"/>
            <a:ext cx="4069080" cy="457200"/>
          </a:xfrm>
          <a:prstGeom prst="rect">
            <a:avLst/>
          </a:prstGeom>
          <a:noFill/>
        </p:spPr>
        <p:txBody>
          <a:bodyPr wrap="square" lIns="0" tIns="0" rIns="0" bIns="0" anchor="ctr">
            <a:spAutoFit/>
          </a:bodyPr>
          <a:lstStyle/>
          <a:p>
            <a:pPr algn="l"/>
            <a:r>
              <a:rPr sz="2800" b="1" i="0">
                <a:solidFill>
                  <a:srgbClr val="0E2A47"/>
                </a:solidFill>
                <a:latin typeface="Arial"/>
              </a:rPr>
              <a:t>The Bouncer</a:t>
            </a:r>
          </a:p>
        </p:txBody>
      </p:sp>
      <p:sp>
        <p:nvSpPr>
          <p:cNvPr id="14" name="The Bouncer subtitle"/>
          <p:cNvSpPr txBox="1"/>
          <p:nvPr/>
        </p:nvSpPr>
        <p:spPr>
          <a:xfrm>
            <a:off x="777240" y="2841218"/>
            <a:ext cx="4800600" cy="215444"/>
          </a:xfrm>
          <a:prstGeom prst="rect">
            <a:avLst/>
          </a:prstGeom>
          <a:noFill/>
        </p:spPr>
        <p:txBody>
          <a:bodyPr wrap="square" lIns="0" tIns="0" rIns="0" bIns="0" anchor="ctr">
            <a:spAutoFit/>
          </a:bodyPr>
          <a:lstStyle/>
          <a:p>
            <a:pPr algn="l"/>
            <a:r>
              <a:rPr sz="1400" b="1" i="1">
                <a:solidFill>
                  <a:srgbClr val="1F8FE5"/>
                </a:solidFill>
                <a:latin typeface="Calibri"/>
              </a:rPr>
              <a:t>Game-by-game betting model (logistic regression)</a:t>
            </a:r>
            <a:endParaRPr lang="en-US" sz="1400" b="1" i="1">
              <a:solidFill>
                <a:srgbClr val="1F8FE5"/>
              </a:solidFill>
              <a:latin typeface="Calibri"/>
              <a:ea typeface="Calibri"/>
              <a:cs typeface="Calibri"/>
            </a:endParaRPr>
          </a:p>
        </p:txBody>
      </p:sp>
      <p:sp>
        <p:nvSpPr>
          <p:cNvPr id="15" name="The Bouncer big number"/>
          <p:cNvSpPr txBox="1"/>
          <p:nvPr/>
        </p:nvSpPr>
        <p:spPr>
          <a:xfrm>
            <a:off x="777240" y="3200400"/>
            <a:ext cx="2194560" cy="777240"/>
          </a:xfrm>
          <a:prstGeom prst="rect">
            <a:avLst/>
          </a:prstGeom>
          <a:noFill/>
        </p:spPr>
        <p:txBody>
          <a:bodyPr wrap="square" lIns="0" tIns="0" rIns="0" bIns="0" anchor="ctr">
            <a:spAutoFit/>
          </a:bodyPr>
          <a:lstStyle/>
          <a:p>
            <a:pPr algn="l"/>
            <a:r>
              <a:rPr sz="5400" b="1" i="0">
                <a:solidFill>
                  <a:srgbClr val="0E2A47"/>
                </a:solidFill>
                <a:latin typeface="Arial"/>
              </a:rPr>
              <a:t>+16%</a:t>
            </a:r>
          </a:p>
        </p:txBody>
      </p:sp>
      <p:sp>
        <p:nvSpPr>
          <p:cNvPr id="16" name="The Bouncer unit"/>
          <p:cNvSpPr txBox="1"/>
          <p:nvPr/>
        </p:nvSpPr>
        <p:spPr>
          <a:xfrm>
            <a:off x="777240" y="3977639"/>
            <a:ext cx="2240280" cy="548640"/>
          </a:xfrm>
          <a:prstGeom prst="rect">
            <a:avLst/>
          </a:prstGeom>
          <a:noFill/>
        </p:spPr>
        <p:txBody>
          <a:bodyPr wrap="square" lIns="0" tIns="0" rIns="0" bIns="0" anchor="t">
            <a:spAutoFit/>
          </a:bodyPr>
          <a:lstStyle/>
          <a:p>
            <a:pPr algn="l"/>
            <a:r>
              <a:rPr sz="1300" b="0" i="0">
                <a:solidFill>
                  <a:srgbClr val="4A5563"/>
                </a:solidFill>
                <a:latin typeface="Calibri"/>
              </a:rPr>
              <a:t>ROI on a flat $10 per bet</a:t>
            </a:r>
          </a:p>
        </p:txBody>
      </p:sp>
      <p:sp>
        <p:nvSpPr>
          <p:cNvPr id="17" name="The Bouncer mini stats"/>
          <p:cNvSpPr txBox="1"/>
          <p:nvPr/>
        </p:nvSpPr>
        <p:spPr>
          <a:xfrm>
            <a:off x="3200400" y="3246120"/>
            <a:ext cx="2514600" cy="1371600"/>
          </a:xfrm>
          <a:prstGeom prst="rect">
            <a:avLst/>
          </a:prstGeom>
          <a:noFill/>
        </p:spPr>
        <p:txBody>
          <a:bodyPr wrap="square" lIns="0" tIns="0" rIns="0" bIns="0" anchor="t">
            <a:spAutoFit/>
          </a:bodyPr>
          <a:lstStyle/>
          <a:p>
            <a:pPr algn="l">
              <a:spcAft>
                <a:spcPts val="500"/>
              </a:spcAft>
            </a:pPr>
            <a:r>
              <a:rPr sz="1800" b="1" i="0">
                <a:solidFill>
                  <a:srgbClr val="0E2A47"/>
                </a:solidFill>
                <a:latin typeface="Arial"/>
              </a:rPr>
              <a:t>70%  </a:t>
            </a:r>
            <a:r>
              <a:rPr sz="1300" b="0" i="0">
                <a:solidFill>
                  <a:srgbClr val="4A5563"/>
                </a:solidFill>
                <a:latin typeface="Calibri"/>
              </a:rPr>
              <a:t>win rate</a:t>
            </a:r>
          </a:p>
          <a:p>
            <a:pPr>
              <a:spcAft>
                <a:spcPts val="500"/>
              </a:spcAft>
            </a:pPr>
            <a:r>
              <a:rPr sz="1800" b="1" i="0">
                <a:solidFill>
                  <a:srgbClr val="0E2A47"/>
                </a:solidFill>
                <a:latin typeface="Arial"/>
              </a:rPr>
              <a:t>51.6%  </a:t>
            </a:r>
            <a:r>
              <a:rPr sz="1300" b="0" i="0">
                <a:solidFill>
                  <a:srgbClr val="4A5563"/>
                </a:solidFill>
                <a:latin typeface="Calibri"/>
              </a:rPr>
              <a:t>of games skipped</a:t>
            </a:r>
          </a:p>
          <a:p>
            <a:pPr>
              <a:spcAft>
                <a:spcPts val="500"/>
              </a:spcAft>
            </a:pPr>
            <a:r>
              <a:rPr sz="1800" b="1" i="0">
                <a:solidFill>
                  <a:srgbClr val="0E2A47"/>
                </a:solidFill>
                <a:latin typeface="Arial"/>
              </a:rPr>
              <a:t>$2,523  </a:t>
            </a:r>
            <a:r>
              <a:rPr sz="1300" b="0" i="0">
                <a:solidFill>
                  <a:srgbClr val="4A5563"/>
                </a:solidFill>
                <a:latin typeface="Calibri"/>
              </a:rPr>
              <a:t>net profit on $15,720</a:t>
            </a:r>
          </a:p>
        </p:txBody>
      </p:sp>
      <p:sp>
        <p:nvSpPr>
          <p:cNvPr id="18" name="The Bouncer divider"/>
          <p:cNvSpPr/>
          <p:nvPr/>
        </p:nvSpPr>
        <p:spPr>
          <a:xfrm>
            <a:off x="777240" y="4480560"/>
            <a:ext cx="4800600" cy="9144"/>
          </a:xfrm>
          <a:prstGeom prst="rect">
            <a:avLst/>
          </a:prstGeom>
          <a:solidFill>
            <a:srgbClr val="DCE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he Bouncer tagline"/>
          <p:cNvSpPr txBox="1"/>
          <p:nvPr/>
        </p:nvSpPr>
        <p:spPr>
          <a:xfrm>
            <a:off x="777240" y="4526280"/>
            <a:ext cx="4800600" cy="365760"/>
          </a:xfrm>
          <a:prstGeom prst="rect">
            <a:avLst/>
          </a:prstGeom>
          <a:noFill/>
        </p:spPr>
        <p:txBody>
          <a:bodyPr wrap="square" lIns="0" tIns="0" rIns="0" bIns="0" anchor="ctr">
            <a:spAutoFit/>
          </a:bodyPr>
          <a:lstStyle/>
          <a:p>
            <a:pPr algn="l"/>
            <a:r>
              <a:rPr sz="1400" b="1" i="0">
                <a:solidFill>
                  <a:srgbClr val="0E2A47"/>
                </a:solidFill>
                <a:latin typeface="Calibri"/>
              </a:rPr>
              <a:t>Picky beats busy: it only bets when the edge is real.</a:t>
            </a:r>
          </a:p>
        </p:txBody>
      </p:sp>
      <p:sp>
        <p:nvSpPr>
          <p:cNvPr id="20" name="The Historian card"/>
          <p:cNvSpPr/>
          <p:nvPr/>
        </p:nvSpPr>
        <p:spPr>
          <a:xfrm>
            <a:off x="6291072" y="1691640"/>
            <a:ext cx="544068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he Historian accent"/>
          <p:cNvSpPr/>
          <p:nvPr/>
        </p:nvSpPr>
        <p:spPr>
          <a:xfrm>
            <a:off x="6291072" y="1691640"/>
            <a:ext cx="5440680" cy="82296"/>
          </a:xfrm>
          <a:prstGeom prst="rect">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up body"/>
          <p:cNvSpPr/>
          <p:nvPr/>
        </p:nvSpPr>
        <p:spPr>
          <a:xfrm>
            <a:off x="6629399" y="2185416"/>
            <a:ext cx="420624" cy="347472"/>
          </a:xfrm>
          <a:prstGeom prst="roundRect">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up handle"/>
          <p:cNvSpPr/>
          <p:nvPr/>
        </p:nvSpPr>
        <p:spPr>
          <a:xfrm>
            <a:off x="6995159" y="2249424"/>
            <a:ext cx="182880" cy="201168"/>
          </a:xfrm>
          <a:prstGeom prst="ellipse">
            <a:avLst/>
          </a:prstGeom>
          <a:noFill/>
          <a:ln w="38100">
            <a:solidFill>
              <a:srgbClr val="F5C5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aucer"/>
          <p:cNvSpPr/>
          <p:nvPr/>
        </p:nvSpPr>
        <p:spPr>
          <a:xfrm>
            <a:off x="6556248" y="2551176"/>
            <a:ext cx="566928" cy="45720"/>
          </a:xfrm>
          <a:prstGeom prst="roundRect">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team"/>
          <p:cNvSpPr/>
          <p:nvPr/>
        </p:nvSpPr>
        <p:spPr>
          <a:xfrm>
            <a:off x="6702551" y="2039112"/>
            <a:ext cx="36576" cy="128016"/>
          </a:xfrm>
          <a:prstGeom prst="roundRect">
            <a:avLst/>
          </a:prstGeom>
          <a:solidFill>
            <a:srgbClr val="A9B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team"/>
          <p:cNvSpPr/>
          <p:nvPr/>
        </p:nvSpPr>
        <p:spPr>
          <a:xfrm>
            <a:off x="6821423" y="2039112"/>
            <a:ext cx="36576" cy="128016"/>
          </a:xfrm>
          <a:prstGeom prst="roundRect">
            <a:avLst/>
          </a:prstGeom>
          <a:solidFill>
            <a:srgbClr val="A9B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team"/>
          <p:cNvSpPr/>
          <p:nvPr/>
        </p:nvSpPr>
        <p:spPr>
          <a:xfrm>
            <a:off x="6940295" y="2039112"/>
            <a:ext cx="36576" cy="128016"/>
          </a:xfrm>
          <a:prstGeom prst="roundRect">
            <a:avLst/>
          </a:prstGeom>
          <a:solidFill>
            <a:srgbClr val="A9B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he Historian tag"/>
          <p:cNvSpPr txBox="1"/>
          <p:nvPr/>
        </p:nvSpPr>
        <p:spPr>
          <a:xfrm>
            <a:off x="7479792" y="1947672"/>
            <a:ext cx="4069080" cy="274320"/>
          </a:xfrm>
          <a:prstGeom prst="rect">
            <a:avLst/>
          </a:prstGeom>
          <a:noFill/>
        </p:spPr>
        <p:txBody>
          <a:bodyPr wrap="square" lIns="0" tIns="0" rIns="0" bIns="0" anchor="ctr">
            <a:spAutoFit/>
          </a:bodyPr>
          <a:lstStyle/>
          <a:p>
            <a:pPr algn="l"/>
            <a:r>
              <a:rPr sz="1300" b="1" i="0">
                <a:solidFill>
                  <a:srgbClr val="1F8FE5"/>
                </a:solidFill>
                <a:latin typeface="Arial"/>
              </a:rPr>
              <a:t>FORMULA 2</a:t>
            </a:r>
          </a:p>
        </p:txBody>
      </p:sp>
      <p:sp>
        <p:nvSpPr>
          <p:cNvPr id="29" name="The Historian name"/>
          <p:cNvSpPr txBox="1"/>
          <p:nvPr/>
        </p:nvSpPr>
        <p:spPr>
          <a:xfrm>
            <a:off x="7479792" y="2203704"/>
            <a:ext cx="4069080" cy="457200"/>
          </a:xfrm>
          <a:prstGeom prst="rect">
            <a:avLst/>
          </a:prstGeom>
          <a:noFill/>
        </p:spPr>
        <p:txBody>
          <a:bodyPr wrap="square" lIns="0" tIns="0" rIns="0" bIns="0" anchor="ctr">
            <a:spAutoFit/>
          </a:bodyPr>
          <a:lstStyle/>
          <a:p>
            <a:pPr algn="l"/>
            <a:r>
              <a:rPr sz="2800" b="1" i="0">
                <a:solidFill>
                  <a:srgbClr val="0E2A47"/>
                </a:solidFill>
                <a:latin typeface="Arial"/>
              </a:rPr>
              <a:t>The Historian</a:t>
            </a:r>
          </a:p>
        </p:txBody>
      </p:sp>
      <p:sp>
        <p:nvSpPr>
          <p:cNvPr id="30" name="The Historian subtitle"/>
          <p:cNvSpPr txBox="1"/>
          <p:nvPr/>
        </p:nvSpPr>
        <p:spPr>
          <a:xfrm>
            <a:off x="6611112" y="2841218"/>
            <a:ext cx="4800600" cy="215444"/>
          </a:xfrm>
          <a:prstGeom prst="rect">
            <a:avLst/>
          </a:prstGeom>
          <a:noFill/>
        </p:spPr>
        <p:txBody>
          <a:bodyPr wrap="square" lIns="0" tIns="0" rIns="0" bIns="0" anchor="ctr">
            <a:spAutoFit/>
          </a:bodyPr>
          <a:lstStyle/>
          <a:p>
            <a:pPr algn="l"/>
            <a:r>
              <a:rPr sz="1400" b="1" i="1">
                <a:solidFill>
                  <a:srgbClr val="1F8FE5"/>
                </a:solidFill>
                <a:latin typeface="Calibri"/>
              </a:rPr>
              <a:t>Stanley Cup and top-scorer forecast (19 seasons of history)</a:t>
            </a:r>
            <a:endParaRPr lang="en-US" sz="1400" b="1" i="1">
              <a:solidFill>
                <a:srgbClr val="1F8FE5"/>
              </a:solidFill>
              <a:latin typeface="Calibri"/>
              <a:ea typeface="Calibri"/>
              <a:cs typeface="Calibri"/>
            </a:endParaRPr>
          </a:p>
        </p:txBody>
      </p:sp>
      <p:sp>
        <p:nvSpPr>
          <p:cNvPr id="31" name="The Historian big number"/>
          <p:cNvSpPr txBox="1"/>
          <p:nvPr/>
        </p:nvSpPr>
        <p:spPr>
          <a:xfrm>
            <a:off x="6611112" y="3200400"/>
            <a:ext cx="2194560" cy="777240"/>
          </a:xfrm>
          <a:prstGeom prst="rect">
            <a:avLst/>
          </a:prstGeom>
          <a:noFill/>
        </p:spPr>
        <p:txBody>
          <a:bodyPr wrap="square" lIns="0" tIns="0" rIns="0" bIns="0" anchor="ctr">
            <a:spAutoFit/>
          </a:bodyPr>
          <a:lstStyle/>
          <a:p>
            <a:pPr algn="l"/>
            <a:r>
              <a:rPr sz="5400" b="1" i="0">
                <a:solidFill>
                  <a:srgbClr val="0E2A47"/>
                </a:solidFill>
                <a:latin typeface="Arial"/>
              </a:rPr>
              <a:t>5.90</a:t>
            </a:r>
          </a:p>
        </p:txBody>
      </p:sp>
      <p:sp>
        <p:nvSpPr>
          <p:cNvPr id="32" name="The Historian unit"/>
          <p:cNvSpPr txBox="1"/>
          <p:nvPr/>
        </p:nvSpPr>
        <p:spPr>
          <a:xfrm>
            <a:off x="6611112" y="3977639"/>
            <a:ext cx="2240280" cy="548640"/>
          </a:xfrm>
          <a:prstGeom prst="rect">
            <a:avLst/>
          </a:prstGeom>
          <a:noFill/>
        </p:spPr>
        <p:txBody>
          <a:bodyPr wrap="square" lIns="0" tIns="0" rIns="0" bIns="0" anchor="t">
            <a:spAutoFit/>
          </a:bodyPr>
          <a:lstStyle/>
          <a:p>
            <a:pPr algn="l"/>
            <a:r>
              <a:rPr sz="1300" b="0" i="0">
                <a:solidFill>
                  <a:srgbClr val="4A5563"/>
                </a:solidFill>
                <a:latin typeface="Calibri"/>
              </a:rPr>
              <a:t>avg rank of the real champion (random guess ≈ 15–16)</a:t>
            </a:r>
          </a:p>
        </p:txBody>
      </p:sp>
      <p:sp>
        <p:nvSpPr>
          <p:cNvPr id="33" name="The Historian mini stats"/>
          <p:cNvSpPr txBox="1"/>
          <p:nvPr/>
        </p:nvSpPr>
        <p:spPr>
          <a:xfrm>
            <a:off x="9034272" y="3246120"/>
            <a:ext cx="2514600" cy="1371600"/>
          </a:xfrm>
          <a:prstGeom prst="rect">
            <a:avLst/>
          </a:prstGeom>
          <a:noFill/>
        </p:spPr>
        <p:txBody>
          <a:bodyPr wrap="square" lIns="0" tIns="0" rIns="0" bIns="0" anchor="t">
            <a:spAutoFit/>
          </a:bodyPr>
          <a:lstStyle/>
          <a:p>
            <a:pPr algn="l">
              <a:spcAft>
                <a:spcPts val="500"/>
              </a:spcAft>
            </a:pPr>
            <a:r>
              <a:rPr sz="1800" b="1" i="0">
                <a:solidFill>
                  <a:srgbClr val="0E2A47"/>
                </a:solidFill>
                <a:latin typeface="Arial"/>
              </a:rPr>
              <a:t>2 of 2  </a:t>
            </a:r>
            <a:r>
              <a:rPr sz="1300" b="0" i="0">
                <a:solidFill>
                  <a:srgbClr val="4A5563"/>
                </a:solidFill>
                <a:latin typeface="Calibri"/>
              </a:rPr>
              <a:t>calls landed in 2020–21</a:t>
            </a:r>
          </a:p>
          <a:p>
            <a:pPr>
              <a:spcAft>
                <a:spcPts val="500"/>
              </a:spcAft>
            </a:pPr>
            <a:r>
              <a:rPr sz="1800" b="1" i="0">
                <a:solidFill>
                  <a:srgbClr val="0E2A47"/>
                </a:solidFill>
                <a:latin typeface="Arial"/>
              </a:rPr>
              <a:t>10  </a:t>
            </a:r>
            <a:r>
              <a:rPr sz="1300" b="0" i="0">
                <a:solidFill>
                  <a:srgbClr val="4A5563"/>
                </a:solidFill>
                <a:latin typeface="Calibri"/>
              </a:rPr>
              <a:t>seasons blind-tested</a:t>
            </a:r>
          </a:p>
          <a:p>
            <a:pPr>
              <a:spcAft>
                <a:spcPts val="500"/>
              </a:spcAft>
            </a:pPr>
            <a:r>
              <a:rPr sz="1800" b="1" i="0">
                <a:solidFill>
                  <a:srgbClr val="0E2A47"/>
                </a:solidFill>
                <a:latin typeface="Arial"/>
              </a:rPr>
              <a:t>31  </a:t>
            </a:r>
            <a:r>
              <a:rPr sz="1300" b="0" i="0">
                <a:solidFill>
                  <a:srgbClr val="4A5563"/>
                </a:solidFill>
                <a:latin typeface="Calibri"/>
              </a:rPr>
              <a:t>teams ranked</a:t>
            </a:r>
          </a:p>
        </p:txBody>
      </p:sp>
      <p:sp>
        <p:nvSpPr>
          <p:cNvPr id="34" name="The Historian divider"/>
          <p:cNvSpPr/>
          <p:nvPr/>
        </p:nvSpPr>
        <p:spPr>
          <a:xfrm>
            <a:off x="6611112" y="4480560"/>
            <a:ext cx="4800600" cy="9144"/>
          </a:xfrm>
          <a:prstGeom prst="rect">
            <a:avLst/>
          </a:prstGeom>
          <a:solidFill>
            <a:srgbClr val="DCE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he Historian tagline"/>
          <p:cNvSpPr txBox="1"/>
          <p:nvPr/>
        </p:nvSpPr>
        <p:spPr>
          <a:xfrm>
            <a:off x="6611112" y="4526280"/>
            <a:ext cx="4800600" cy="365760"/>
          </a:xfrm>
          <a:prstGeom prst="rect">
            <a:avLst/>
          </a:prstGeom>
          <a:noFill/>
        </p:spPr>
        <p:txBody>
          <a:bodyPr wrap="square" lIns="0" tIns="0" rIns="0" bIns="0" anchor="ctr">
            <a:spAutoFit/>
          </a:bodyPr>
          <a:lstStyle/>
          <a:p>
            <a:pPr algn="l"/>
            <a:r>
              <a:rPr sz="1400" b="1" i="0">
                <a:solidFill>
                  <a:srgbClr val="0E2A47"/>
                </a:solidFill>
                <a:latin typeface="Calibri"/>
              </a:rPr>
              <a:t>Using only pre-2020 data, it called McDavid and the Lightning.</a:t>
            </a:r>
          </a:p>
        </p:txBody>
      </p:sp>
      <p:sp>
        <p:nvSpPr>
          <p:cNvPr id="36" name="Plus badge"/>
          <p:cNvSpPr/>
          <p:nvPr/>
        </p:nvSpPr>
        <p:spPr>
          <a:xfrm>
            <a:off x="5820156" y="3040380"/>
            <a:ext cx="548640" cy="548640"/>
          </a:xfrm>
          <a:prstGeom prst="ellipse">
            <a:avLst/>
          </a:prstGeom>
          <a:solidFill>
            <a:srgbClr val="F5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lus sign"/>
          <p:cNvSpPr txBox="1"/>
          <p:nvPr/>
        </p:nvSpPr>
        <p:spPr>
          <a:xfrm>
            <a:off x="5820156" y="3040380"/>
            <a:ext cx="548640" cy="548640"/>
          </a:xfrm>
          <a:prstGeom prst="rect">
            <a:avLst/>
          </a:prstGeom>
          <a:noFill/>
        </p:spPr>
        <p:txBody>
          <a:bodyPr wrap="square" lIns="0" tIns="0" rIns="0" bIns="0" anchor="ctr">
            <a:spAutoFit/>
          </a:bodyPr>
          <a:lstStyle/>
          <a:p>
            <a:pPr algn="ctr"/>
            <a:r>
              <a:rPr sz="3000" b="1" i="0">
                <a:solidFill>
                  <a:srgbClr val="0B1F3A"/>
                </a:solidFill>
                <a:latin typeface="Arial"/>
              </a:rPr>
              <a:t>+</a:t>
            </a:r>
          </a:p>
        </p:txBody>
      </p:sp>
      <p:sp>
        <p:nvSpPr>
          <p:cNvPr id="38" name="Pipeline band"/>
          <p:cNvSpPr/>
          <p:nvPr/>
        </p:nvSpPr>
        <p:spPr>
          <a:xfrm>
            <a:off x="457200" y="5166360"/>
            <a:ext cx="11274552" cy="566928"/>
          </a:xfrm>
          <a:prstGeom prst="rect">
            <a:avLst/>
          </a:prstGeom>
          <a:solidFill>
            <a:srgbClr val="F5C542"/>
          </a:solidFill>
          <a:ln w="15875">
            <a:solidFill>
              <a:srgbClr val="F5C5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Pipeline text"/>
          <p:cNvSpPr txBox="1"/>
          <p:nvPr/>
        </p:nvSpPr>
        <p:spPr>
          <a:xfrm>
            <a:off x="685800" y="5295935"/>
            <a:ext cx="10789920" cy="307777"/>
          </a:xfrm>
          <a:prstGeom prst="rect">
            <a:avLst/>
          </a:prstGeom>
          <a:noFill/>
        </p:spPr>
        <p:txBody>
          <a:bodyPr wrap="square" lIns="0" tIns="0" rIns="0" bIns="0" anchor="ctr">
            <a:spAutoFit/>
          </a:bodyPr>
          <a:lstStyle/>
          <a:p>
            <a:pPr algn="ctr"/>
            <a:r>
              <a:rPr lang="en-US" sz="2000" b="1">
                <a:solidFill>
                  <a:schemeClr val="accent2">
                    <a:lumMod val="49000"/>
                  </a:schemeClr>
                </a:solidFill>
                <a:latin typeface="Calibri"/>
              </a:rPr>
              <a:t>One</a:t>
            </a:r>
            <a:r>
              <a:rPr sz="2000" b="1" i="0">
                <a:solidFill>
                  <a:schemeClr val="accent2">
                    <a:lumMod val="49000"/>
                  </a:schemeClr>
                </a:solidFill>
                <a:latin typeface="Calibri"/>
              </a:rPr>
              <a:t> shared ingredient:  one Fabric pipeline (Bronze → Silver → Gold) fed both models</a:t>
            </a:r>
            <a:endParaRPr lang="en-US" sz="2000" b="1" i="0">
              <a:solidFill>
                <a:schemeClr val="accent2">
                  <a:lumMod val="49000"/>
                </a:schemeClr>
              </a:solidFill>
              <a:latin typeface="Calibri"/>
              <a:ea typeface="Calibri"/>
              <a:cs typeface="Calibri"/>
            </a:endParaRPr>
          </a:p>
        </p:txBody>
      </p:sp>
      <p:sp>
        <p:nvSpPr>
          <p:cNvPr id="40" name="Closing line"/>
          <p:cNvSpPr txBox="1"/>
          <p:nvPr/>
        </p:nvSpPr>
        <p:spPr>
          <a:xfrm>
            <a:off x="457200" y="5937688"/>
            <a:ext cx="11274552" cy="276999"/>
          </a:xfrm>
          <a:prstGeom prst="rect">
            <a:avLst/>
          </a:prstGeom>
          <a:noFill/>
        </p:spPr>
        <p:txBody>
          <a:bodyPr wrap="square" lIns="0" tIns="0" rIns="0" bIns="0" anchor="ctr">
            <a:spAutoFit/>
          </a:bodyPr>
          <a:lstStyle/>
          <a:p>
            <a:pPr algn="ctr"/>
            <a:r>
              <a:rPr b="1" i="0">
                <a:solidFill>
                  <a:srgbClr val="FFFFFF"/>
                </a:solidFill>
                <a:latin typeface="Arial"/>
              </a:rPr>
              <a:t>Data over gut feel. See you at the Singapore Pools counter in 2027.</a:t>
            </a:r>
            <a:endParaRPr lang="en-US" b="1" i="0">
              <a:solidFill>
                <a:srgbClr val="FFFFFF"/>
              </a:solidFill>
              <a:latin typeface="Arial"/>
              <a:cs typeface="Arial"/>
            </a:endParaRPr>
          </a:p>
        </p:txBody>
      </p:sp>
      <p:sp>
        <p:nvSpPr>
          <p:cNvPr id="41" name="Disclaimer"/>
          <p:cNvSpPr txBox="1"/>
          <p:nvPr/>
        </p:nvSpPr>
        <p:spPr>
          <a:xfrm>
            <a:off x="457200" y="6355080"/>
            <a:ext cx="11274552" cy="274320"/>
          </a:xfrm>
          <a:prstGeom prst="rect">
            <a:avLst/>
          </a:prstGeom>
          <a:noFill/>
        </p:spPr>
        <p:txBody>
          <a:bodyPr wrap="square" lIns="0" tIns="0" rIns="0" bIns="0" anchor="ctr">
            <a:spAutoFit/>
          </a:bodyPr>
          <a:lstStyle/>
          <a:p>
            <a:pPr algn="ctr"/>
            <a:r>
              <a:rPr sz="1100" b="0" i="1">
                <a:solidFill>
                  <a:srgbClr val="A9BCD0"/>
                </a:solidFill>
                <a:latin typeface="Calibri"/>
              </a:rPr>
              <a:t>Back-tested simulation at a flat $10 per bet. Not a guarantee of future results. Please bet responsibly.</a:t>
            </a:r>
          </a:p>
        </p:txBody>
      </p:sp>
    </p:spTree>
    <p:extLst>
      <p:ext uri="{BB962C8B-B14F-4D97-AF65-F5344CB8AC3E}">
        <p14:creationId xmlns:p14="http://schemas.microsoft.com/office/powerpoint/2010/main" val="3559734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9D6C5-AFBD-47DA-FB83-FCDACB9481C1}"/>
              </a:ext>
            </a:extLst>
          </p:cNvPr>
          <p:cNvSpPr>
            <a:spLocks noGrp="1"/>
          </p:cNvSpPr>
          <p:nvPr>
            <p:ph type="title"/>
          </p:nvPr>
        </p:nvSpPr>
        <p:spPr>
          <a:xfrm>
            <a:off x="3522771" y="3100992"/>
            <a:ext cx="3431333" cy="1088358"/>
          </a:xfrm>
        </p:spPr>
        <p:txBody>
          <a:bodyPr>
            <a:normAutofit/>
          </a:bodyPr>
          <a:lstStyle/>
          <a:p>
            <a:r>
              <a:rPr lang="en-US"/>
              <a:t>The End</a:t>
            </a:r>
          </a:p>
        </p:txBody>
      </p:sp>
    </p:spTree>
    <p:extLst>
      <p:ext uri="{BB962C8B-B14F-4D97-AF65-F5344CB8AC3E}">
        <p14:creationId xmlns:p14="http://schemas.microsoft.com/office/powerpoint/2010/main" val="3415464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A2D6D2-BEBA-479C-8C3D-52E73D238636}"/>
            </a:ext>
          </a:extLst>
        </p:cNvPr>
        <p:cNvGrpSpPr/>
        <p:nvPr/>
      </p:nvGrpSpPr>
      <p:grpSpPr>
        <a:xfrm>
          <a:off x="0" y="0"/>
          <a:ext cx="0" cy="0"/>
          <a:chOff x="0" y="0"/>
          <a:chExt cx="0" cy="0"/>
        </a:xfrm>
      </p:grpSpPr>
      <p:pic>
        <p:nvPicPr>
          <p:cNvPr id="59" name="Picture 58" descr="A close-up of a trophy&#10;&#10;AI-generated content may be incorrect.">
            <a:extLst>
              <a:ext uri="{FF2B5EF4-FFF2-40B4-BE49-F238E27FC236}">
                <a16:creationId xmlns:a16="http://schemas.microsoft.com/office/drawing/2014/main" id="{0A359A73-F28E-D600-CB8D-F31E3504674C}"/>
              </a:ext>
            </a:extLst>
          </p:cNvPr>
          <p:cNvPicPr>
            <a:picLocks noChangeAspect="1"/>
          </p:cNvPicPr>
          <p:nvPr/>
        </p:nvPicPr>
        <p:blipFill>
          <a:blip r:embed="rId2"/>
          <a:stretch>
            <a:fillRect/>
          </a:stretch>
        </p:blipFill>
        <p:spPr>
          <a:xfrm rot="600000">
            <a:off x="8972251" y="1345407"/>
            <a:ext cx="736404" cy="1654970"/>
          </a:xfrm>
          <a:prstGeom prst="rect">
            <a:avLst/>
          </a:prstGeom>
        </p:spPr>
      </p:pic>
      <p:sp>
        <p:nvSpPr>
          <p:cNvPr id="9" name="Shape 4">
            <a:extLst>
              <a:ext uri="{FF2B5EF4-FFF2-40B4-BE49-F238E27FC236}">
                <a16:creationId xmlns:a16="http://schemas.microsoft.com/office/drawing/2014/main" id="{2844A1C5-6309-1682-6117-F7C384CCEBC2}"/>
              </a:ext>
            </a:extLst>
          </p:cNvPr>
          <p:cNvSpPr/>
          <p:nvPr/>
        </p:nvSpPr>
        <p:spPr>
          <a:xfrm>
            <a:off x="360181" y="3585650"/>
            <a:ext cx="10881360" cy="1828800"/>
          </a:xfrm>
          <a:prstGeom prst="roundRect">
            <a:avLst>
              <a:gd name="adj" fmla="val 25000"/>
            </a:avLst>
          </a:prstGeom>
          <a:solidFill>
            <a:srgbClr val="EAF6FC"/>
          </a:solidFill>
          <a:ln w="25400">
            <a:solidFill>
              <a:srgbClr val="9FB8C8"/>
            </a:solidFill>
            <a:prstDash val="solid"/>
          </a:ln>
        </p:spPr>
        <p:txBody>
          <a:bodyPr/>
          <a:lstStyle/>
          <a:p>
            <a:endParaRPr lang="en-US"/>
          </a:p>
        </p:txBody>
      </p:sp>
      <p:sp>
        <p:nvSpPr>
          <p:cNvPr id="10" name="Shape 5">
            <a:extLst>
              <a:ext uri="{FF2B5EF4-FFF2-40B4-BE49-F238E27FC236}">
                <a16:creationId xmlns:a16="http://schemas.microsoft.com/office/drawing/2014/main" id="{0E68AB5B-D4CA-AC1E-F412-465ACE364FC2}"/>
              </a:ext>
            </a:extLst>
          </p:cNvPr>
          <p:cNvSpPr/>
          <p:nvPr/>
        </p:nvSpPr>
        <p:spPr>
          <a:xfrm>
            <a:off x="5773429" y="3631370"/>
            <a:ext cx="54864" cy="1737360"/>
          </a:xfrm>
          <a:prstGeom prst="rect">
            <a:avLst/>
          </a:prstGeom>
          <a:solidFill>
            <a:srgbClr val="C8102E"/>
          </a:solidFill>
          <a:ln w="12700">
            <a:solidFill>
              <a:srgbClr val="C8102E"/>
            </a:solidFill>
            <a:prstDash val="solid"/>
          </a:ln>
        </p:spPr>
        <p:txBody>
          <a:bodyPr/>
          <a:lstStyle/>
          <a:p>
            <a:endParaRPr lang="en-US"/>
          </a:p>
        </p:txBody>
      </p:sp>
      <p:sp>
        <p:nvSpPr>
          <p:cNvPr id="11" name="Shape 6">
            <a:extLst>
              <a:ext uri="{FF2B5EF4-FFF2-40B4-BE49-F238E27FC236}">
                <a16:creationId xmlns:a16="http://schemas.microsoft.com/office/drawing/2014/main" id="{7F37881D-5B4A-DB9B-81E6-CEA94D614967}"/>
              </a:ext>
            </a:extLst>
          </p:cNvPr>
          <p:cNvSpPr/>
          <p:nvPr/>
        </p:nvSpPr>
        <p:spPr>
          <a:xfrm>
            <a:off x="4240895" y="3631370"/>
            <a:ext cx="73152" cy="1737360"/>
          </a:xfrm>
          <a:prstGeom prst="rect">
            <a:avLst/>
          </a:prstGeom>
          <a:solidFill>
            <a:srgbClr val="1F6FB5"/>
          </a:solidFill>
          <a:ln w="12700">
            <a:solidFill>
              <a:srgbClr val="1F6FB5"/>
            </a:solidFill>
            <a:prstDash val="solid"/>
          </a:ln>
        </p:spPr>
        <p:txBody>
          <a:bodyPr/>
          <a:lstStyle/>
          <a:p>
            <a:endParaRPr lang="en-US"/>
          </a:p>
        </p:txBody>
      </p:sp>
      <p:sp>
        <p:nvSpPr>
          <p:cNvPr id="12" name="Shape 7">
            <a:extLst>
              <a:ext uri="{FF2B5EF4-FFF2-40B4-BE49-F238E27FC236}">
                <a16:creationId xmlns:a16="http://schemas.microsoft.com/office/drawing/2014/main" id="{3F791CE2-A3E4-332F-5990-A11C0837D5A9}"/>
              </a:ext>
            </a:extLst>
          </p:cNvPr>
          <p:cNvSpPr/>
          <p:nvPr/>
        </p:nvSpPr>
        <p:spPr>
          <a:xfrm>
            <a:off x="7287675" y="3631370"/>
            <a:ext cx="73152" cy="1737360"/>
          </a:xfrm>
          <a:prstGeom prst="rect">
            <a:avLst/>
          </a:prstGeom>
          <a:solidFill>
            <a:srgbClr val="1F6FB5"/>
          </a:solidFill>
          <a:ln w="12700">
            <a:solidFill>
              <a:srgbClr val="1F6FB5"/>
            </a:solidFill>
            <a:prstDash val="solid"/>
          </a:ln>
        </p:spPr>
        <p:txBody>
          <a:bodyPr/>
          <a:lstStyle/>
          <a:p>
            <a:endParaRPr lang="en-US"/>
          </a:p>
        </p:txBody>
      </p:sp>
      <p:sp>
        <p:nvSpPr>
          <p:cNvPr id="13" name="Shape 8">
            <a:extLst>
              <a:ext uri="{FF2B5EF4-FFF2-40B4-BE49-F238E27FC236}">
                <a16:creationId xmlns:a16="http://schemas.microsoft.com/office/drawing/2014/main" id="{0CFAFAAC-5AD1-DB8B-9E55-39148889D08E}"/>
              </a:ext>
            </a:extLst>
          </p:cNvPr>
          <p:cNvSpPr/>
          <p:nvPr/>
        </p:nvSpPr>
        <p:spPr>
          <a:xfrm>
            <a:off x="1216974" y="3905690"/>
            <a:ext cx="27432" cy="1188720"/>
          </a:xfrm>
          <a:prstGeom prst="rect">
            <a:avLst/>
          </a:prstGeom>
          <a:solidFill>
            <a:srgbClr val="C8102E"/>
          </a:solidFill>
          <a:ln w="12700">
            <a:solidFill>
              <a:srgbClr val="C8102E"/>
            </a:solidFill>
            <a:prstDash val="solid"/>
          </a:ln>
        </p:spPr>
        <p:txBody>
          <a:bodyPr/>
          <a:lstStyle/>
          <a:p>
            <a:endParaRPr lang="en-US"/>
          </a:p>
        </p:txBody>
      </p:sp>
      <p:sp>
        <p:nvSpPr>
          <p:cNvPr id="14" name="Shape 9">
            <a:extLst>
              <a:ext uri="{FF2B5EF4-FFF2-40B4-BE49-F238E27FC236}">
                <a16:creationId xmlns:a16="http://schemas.microsoft.com/office/drawing/2014/main" id="{B39FFBBD-FDEE-3A57-8C8C-B1D089B4B3AF}"/>
              </a:ext>
            </a:extLst>
          </p:cNvPr>
          <p:cNvSpPr/>
          <p:nvPr/>
        </p:nvSpPr>
        <p:spPr>
          <a:xfrm>
            <a:off x="10357316" y="3905690"/>
            <a:ext cx="27432" cy="1188720"/>
          </a:xfrm>
          <a:prstGeom prst="rect">
            <a:avLst/>
          </a:prstGeom>
          <a:solidFill>
            <a:srgbClr val="C8102E"/>
          </a:solidFill>
          <a:ln w="12700">
            <a:solidFill>
              <a:srgbClr val="C8102E"/>
            </a:solidFill>
            <a:prstDash val="solid"/>
          </a:ln>
        </p:spPr>
        <p:txBody>
          <a:bodyPr/>
          <a:lstStyle/>
          <a:p>
            <a:endParaRPr lang="en-US"/>
          </a:p>
        </p:txBody>
      </p:sp>
      <p:sp>
        <p:nvSpPr>
          <p:cNvPr id="15" name="Shape 10">
            <a:extLst>
              <a:ext uri="{FF2B5EF4-FFF2-40B4-BE49-F238E27FC236}">
                <a16:creationId xmlns:a16="http://schemas.microsoft.com/office/drawing/2014/main" id="{12DDDD77-1F99-6FB9-2FCF-1803D2417E02}"/>
              </a:ext>
            </a:extLst>
          </p:cNvPr>
          <p:cNvSpPr/>
          <p:nvPr/>
        </p:nvSpPr>
        <p:spPr>
          <a:xfrm>
            <a:off x="5416813" y="4116002"/>
            <a:ext cx="768096" cy="768096"/>
          </a:xfrm>
          <a:prstGeom prst="ellipse">
            <a:avLst/>
          </a:prstGeom>
          <a:solidFill>
            <a:srgbClr val="EAF6FC"/>
          </a:solidFill>
          <a:ln w="25400">
            <a:solidFill>
              <a:srgbClr val="1F6FB5"/>
            </a:solidFill>
            <a:prstDash val="solid"/>
          </a:ln>
        </p:spPr>
        <p:txBody>
          <a:bodyPr/>
          <a:lstStyle/>
          <a:p>
            <a:endParaRPr lang="en-US"/>
          </a:p>
        </p:txBody>
      </p:sp>
      <p:sp>
        <p:nvSpPr>
          <p:cNvPr id="17" name="Shape 13">
            <a:extLst>
              <a:ext uri="{FF2B5EF4-FFF2-40B4-BE49-F238E27FC236}">
                <a16:creationId xmlns:a16="http://schemas.microsoft.com/office/drawing/2014/main" id="{508250A5-A94D-1557-BFC8-B2C1DF6B1F8C}"/>
              </a:ext>
            </a:extLst>
          </p:cNvPr>
          <p:cNvSpPr/>
          <p:nvPr/>
        </p:nvSpPr>
        <p:spPr>
          <a:xfrm>
            <a:off x="2296538" y="3884623"/>
            <a:ext cx="475488" cy="475488"/>
          </a:xfrm>
          <a:prstGeom prst="ellipse">
            <a:avLst/>
          </a:prstGeom>
          <a:solidFill>
            <a:srgbClr val="EAF6FC"/>
          </a:solidFill>
          <a:ln w="19050">
            <a:solidFill>
              <a:srgbClr val="C8102E"/>
            </a:solidFill>
            <a:prstDash val="solid"/>
          </a:ln>
        </p:spPr>
        <p:txBody>
          <a:bodyPr/>
          <a:lstStyle/>
          <a:p>
            <a:endParaRPr lang="en-US"/>
          </a:p>
        </p:txBody>
      </p:sp>
      <p:sp>
        <p:nvSpPr>
          <p:cNvPr id="16" name="Shape 12">
            <a:extLst>
              <a:ext uri="{FF2B5EF4-FFF2-40B4-BE49-F238E27FC236}">
                <a16:creationId xmlns:a16="http://schemas.microsoft.com/office/drawing/2014/main" id="{8DC6C6FA-FBED-26AD-D4F8-7843F91C347A}"/>
              </a:ext>
            </a:extLst>
          </p:cNvPr>
          <p:cNvSpPr/>
          <p:nvPr/>
        </p:nvSpPr>
        <p:spPr>
          <a:xfrm>
            <a:off x="2490733" y="4051994"/>
            <a:ext cx="91440" cy="91440"/>
          </a:xfrm>
          <a:prstGeom prst="ellipse">
            <a:avLst/>
          </a:prstGeom>
          <a:solidFill>
            <a:srgbClr val="C8102E"/>
          </a:solidFill>
          <a:ln w="12700">
            <a:solidFill>
              <a:srgbClr val="C8102E"/>
            </a:solidFill>
            <a:prstDash val="solid"/>
          </a:ln>
        </p:spPr>
        <p:txBody>
          <a:bodyPr/>
          <a:lstStyle/>
          <a:p>
            <a:endParaRPr lang="en-US"/>
          </a:p>
        </p:txBody>
      </p:sp>
      <p:sp>
        <p:nvSpPr>
          <p:cNvPr id="18" name="Shape 16">
            <a:extLst>
              <a:ext uri="{FF2B5EF4-FFF2-40B4-BE49-F238E27FC236}">
                <a16:creationId xmlns:a16="http://schemas.microsoft.com/office/drawing/2014/main" id="{D0101404-30C2-15A3-B7B0-16B48204C889}"/>
              </a:ext>
            </a:extLst>
          </p:cNvPr>
          <p:cNvSpPr/>
          <p:nvPr/>
        </p:nvSpPr>
        <p:spPr>
          <a:xfrm>
            <a:off x="9019549" y="4051994"/>
            <a:ext cx="91440" cy="91440"/>
          </a:xfrm>
          <a:prstGeom prst="ellipse">
            <a:avLst/>
          </a:prstGeom>
          <a:solidFill>
            <a:srgbClr val="C8102E"/>
          </a:solidFill>
          <a:ln w="12700">
            <a:solidFill>
              <a:srgbClr val="C8102E"/>
            </a:solidFill>
            <a:prstDash val="solid"/>
          </a:ln>
        </p:spPr>
        <p:txBody>
          <a:bodyPr/>
          <a:lstStyle/>
          <a:p>
            <a:endParaRPr lang="en-US"/>
          </a:p>
        </p:txBody>
      </p:sp>
      <p:sp>
        <p:nvSpPr>
          <p:cNvPr id="19" name="Shape 18">
            <a:extLst>
              <a:ext uri="{FF2B5EF4-FFF2-40B4-BE49-F238E27FC236}">
                <a16:creationId xmlns:a16="http://schemas.microsoft.com/office/drawing/2014/main" id="{82CF358A-58DC-AD07-86D3-BA022BBE3A92}"/>
              </a:ext>
            </a:extLst>
          </p:cNvPr>
          <p:cNvSpPr/>
          <p:nvPr/>
        </p:nvSpPr>
        <p:spPr>
          <a:xfrm>
            <a:off x="9019549" y="4856666"/>
            <a:ext cx="91440" cy="91440"/>
          </a:xfrm>
          <a:prstGeom prst="ellipse">
            <a:avLst/>
          </a:prstGeom>
          <a:solidFill>
            <a:srgbClr val="C8102E"/>
          </a:solidFill>
          <a:ln w="12700">
            <a:solidFill>
              <a:srgbClr val="C8102E"/>
            </a:solidFill>
            <a:prstDash val="solid"/>
          </a:ln>
        </p:spPr>
        <p:txBody>
          <a:bodyPr/>
          <a:lstStyle/>
          <a:p>
            <a:endParaRPr lang="en-US"/>
          </a:p>
        </p:txBody>
      </p:sp>
      <p:sp>
        <p:nvSpPr>
          <p:cNvPr id="20" name="Shape 19">
            <a:extLst>
              <a:ext uri="{FF2B5EF4-FFF2-40B4-BE49-F238E27FC236}">
                <a16:creationId xmlns:a16="http://schemas.microsoft.com/office/drawing/2014/main" id="{9A9E443B-7545-44BA-B517-B14A4C93B69E}"/>
              </a:ext>
            </a:extLst>
          </p:cNvPr>
          <p:cNvSpPr/>
          <p:nvPr/>
        </p:nvSpPr>
        <p:spPr>
          <a:xfrm>
            <a:off x="1047810" y="4244018"/>
            <a:ext cx="182880" cy="512064"/>
          </a:xfrm>
          <a:prstGeom prst="rect">
            <a:avLst/>
          </a:prstGeom>
          <a:solidFill>
            <a:srgbClr val="FFFFFF"/>
          </a:solidFill>
          <a:ln w="19050">
            <a:solidFill>
              <a:srgbClr val="C8102E"/>
            </a:solidFill>
            <a:prstDash val="solid"/>
          </a:ln>
        </p:spPr>
        <p:txBody>
          <a:bodyPr/>
          <a:lstStyle/>
          <a:p>
            <a:endParaRPr lang="en-US"/>
          </a:p>
        </p:txBody>
      </p:sp>
      <p:sp>
        <p:nvSpPr>
          <p:cNvPr id="21" name="Shape 20">
            <a:extLst>
              <a:ext uri="{FF2B5EF4-FFF2-40B4-BE49-F238E27FC236}">
                <a16:creationId xmlns:a16="http://schemas.microsoft.com/office/drawing/2014/main" id="{928AC66E-127A-86F5-B0A0-95E814257D75}"/>
              </a:ext>
            </a:extLst>
          </p:cNvPr>
          <p:cNvSpPr/>
          <p:nvPr/>
        </p:nvSpPr>
        <p:spPr>
          <a:xfrm>
            <a:off x="10371032" y="4244018"/>
            <a:ext cx="182880" cy="512064"/>
          </a:xfrm>
          <a:prstGeom prst="rect">
            <a:avLst/>
          </a:prstGeom>
          <a:solidFill>
            <a:srgbClr val="FFFFFF"/>
          </a:solidFill>
          <a:ln w="19050">
            <a:solidFill>
              <a:srgbClr val="C8102E"/>
            </a:solidFill>
            <a:prstDash val="solid"/>
          </a:ln>
        </p:spPr>
        <p:txBody>
          <a:bodyPr/>
          <a:lstStyle/>
          <a:p>
            <a:endParaRPr lang="en-US"/>
          </a:p>
        </p:txBody>
      </p:sp>
      <p:sp>
        <p:nvSpPr>
          <p:cNvPr id="23" name="Shape 13">
            <a:extLst>
              <a:ext uri="{FF2B5EF4-FFF2-40B4-BE49-F238E27FC236}">
                <a16:creationId xmlns:a16="http://schemas.microsoft.com/office/drawing/2014/main" id="{BB878E1D-1B1D-8100-4224-8FC91EFDD3B2}"/>
              </a:ext>
            </a:extLst>
          </p:cNvPr>
          <p:cNvSpPr/>
          <p:nvPr/>
        </p:nvSpPr>
        <p:spPr>
          <a:xfrm>
            <a:off x="8826291" y="3814284"/>
            <a:ext cx="475488" cy="475488"/>
          </a:xfrm>
          <a:prstGeom prst="ellipse">
            <a:avLst/>
          </a:prstGeom>
          <a:solidFill>
            <a:srgbClr val="EAF6FC"/>
          </a:solidFill>
          <a:ln w="19050">
            <a:solidFill>
              <a:srgbClr val="C8102E"/>
            </a:solidFill>
            <a:prstDash val="solid"/>
          </a:ln>
        </p:spPr>
        <p:txBody>
          <a:bodyPr/>
          <a:lstStyle/>
          <a:p>
            <a:endParaRPr lang="en-US"/>
          </a:p>
        </p:txBody>
      </p:sp>
      <p:sp>
        <p:nvSpPr>
          <p:cNvPr id="24" name="Shape 13">
            <a:extLst>
              <a:ext uri="{FF2B5EF4-FFF2-40B4-BE49-F238E27FC236}">
                <a16:creationId xmlns:a16="http://schemas.microsoft.com/office/drawing/2014/main" id="{6628F72C-03AF-E6A6-5299-048762F0AD93}"/>
              </a:ext>
            </a:extLst>
          </p:cNvPr>
          <p:cNvSpPr/>
          <p:nvPr/>
        </p:nvSpPr>
        <p:spPr>
          <a:xfrm>
            <a:off x="8826291" y="4623176"/>
            <a:ext cx="475488" cy="475488"/>
          </a:xfrm>
          <a:prstGeom prst="ellipse">
            <a:avLst/>
          </a:prstGeom>
          <a:solidFill>
            <a:srgbClr val="EAF6FC"/>
          </a:solidFill>
          <a:ln w="19050">
            <a:solidFill>
              <a:srgbClr val="C8102E"/>
            </a:solidFill>
            <a:prstDash val="solid"/>
          </a:ln>
        </p:spPr>
        <p:txBody>
          <a:bodyPr/>
          <a:lstStyle/>
          <a:p>
            <a:endParaRPr lang="en-US"/>
          </a:p>
        </p:txBody>
      </p:sp>
      <p:sp>
        <p:nvSpPr>
          <p:cNvPr id="25" name="Shape 12">
            <a:extLst>
              <a:ext uri="{FF2B5EF4-FFF2-40B4-BE49-F238E27FC236}">
                <a16:creationId xmlns:a16="http://schemas.microsoft.com/office/drawing/2014/main" id="{4FDB3B1D-6C00-AEDF-FF16-FD0256128E37}"/>
              </a:ext>
            </a:extLst>
          </p:cNvPr>
          <p:cNvSpPr/>
          <p:nvPr/>
        </p:nvSpPr>
        <p:spPr>
          <a:xfrm>
            <a:off x="9008763" y="4028547"/>
            <a:ext cx="91440" cy="91440"/>
          </a:xfrm>
          <a:prstGeom prst="ellipse">
            <a:avLst/>
          </a:prstGeom>
          <a:solidFill>
            <a:srgbClr val="C8102E"/>
          </a:solidFill>
          <a:ln w="12700">
            <a:solidFill>
              <a:srgbClr val="C8102E"/>
            </a:solidFill>
            <a:prstDash val="solid"/>
          </a:ln>
        </p:spPr>
        <p:txBody>
          <a:bodyPr/>
          <a:lstStyle/>
          <a:p>
            <a:endParaRPr lang="en-US"/>
          </a:p>
        </p:txBody>
      </p:sp>
      <p:sp>
        <p:nvSpPr>
          <p:cNvPr id="26" name="Shape 12">
            <a:extLst>
              <a:ext uri="{FF2B5EF4-FFF2-40B4-BE49-F238E27FC236}">
                <a16:creationId xmlns:a16="http://schemas.microsoft.com/office/drawing/2014/main" id="{47625D96-366E-F810-E78D-2849CEA2FF33}"/>
              </a:ext>
            </a:extLst>
          </p:cNvPr>
          <p:cNvSpPr/>
          <p:nvPr/>
        </p:nvSpPr>
        <p:spPr>
          <a:xfrm>
            <a:off x="9008762" y="4813992"/>
            <a:ext cx="91440" cy="91440"/>
          </a:xfrm>
          <a:prstGeom prst="ellipse">
            <a:avLst/>
          </a:prstGeom>
          <a:solidFill>
            <a:srgbClr val="C8102E"/>
          </a:solidFill>
          <a:ln w="12700">
            <a:solidFill>
              <a:srgbClr val="C8102E"/>
            </a:solidFill>
            <a:prstDash val="solid"/>
          </a:ln>
        </p:spPr>
        <p:txBody>
          <a:bodyPr/>
          <a:lstStyle/>
          <a:p>
            <a:endParaRPr lang="en-US"/>
          </a:p>
        </p:txBody>
      </p:sp>
      <p:sp>
        <p:nvSpPr>
          <p:cNvPr id="27" name="Shape 13">
            <a:extLst>
              <a:ext uri="{FF2B5EF4-FFF2-40B4-BE49-F238E27FC236}">
                <a16:creationId xmlns:a16="http://schemas.microsoft.com/office/drawing/2014/main" id="{40F75EE1-800D-B539-825B-F5AB0B3FF829}"/>
              </a:ext>
            </a:extLst>
          </p:cNvPr>
          <p:cNvSpPr/>
          <p:nvPr/>
        </p:nvSpPr>
        <p:spPr>
          <a:xfrm>
            <a:off x="2296537" y="4623176"/>
            <a:ext cx="475488" cy="475488"/>
          </a:xfrm>
          <a:prstGeom prst="ellipse">
            <a:avLst/>
          </a:prstGeom>
          <a:solidFill>
            <a:srgbClr val="EAF6FC"/>
          </a:solidFill>
          <a:ln w="19050">
            <a:solidFill>
              <a:srgbClr val="C8102E"/>
            </a:solidFill>
            <a:prstDash val="solid"/>
          </a:ln>
        </p:spPr>
        <p:txBody>
          <a:bodyPr/>
          <a:lstStyle/>
          <a:p>
            <a:endParaRPr lang="en-US"/>
          </a:p>
        </p:txBody>
      </p:sp>
      <p:sp>
        <p:nvSpPr>
          <p:cNvPr id="28" name="Shape 12">
            <a:extLst>
              <a:ext uri="{FF2B5EF4-FFF2-40B4-BE49-F238E27FC236}">
                <a16:creationId xmlns:a16="http://schemas.microsoft.com/office/drawing/2014/main" id="{F81D0A2D-0FA2-ED8A-19F9-D88D87C920AF}"/>
              </a:ext>
            </a:extLst>
          </p:cNvPr>
          <p:cNvSpPr/>
          <p:nvPr/>
        </p:nvSpPr>
        <p:spPr>
          <a:xfrm>
            <a:off x="2502455" y="4802270"/>
            <a:ext cx="91440" cy="91440"/>
          </a:xfrm>
          <a:prstGeom prst="ellipse">
            <a:avLst/>
          </a:prstGeom>
          <a:solidFill>
            <a:srgbClr val="C8102E"/>
          </a:solidFill>
          <a:ln w="12700">
            <a:solidFill>
              <a:srgbClr val="C8102E"/>
            </a:solidFill>
            <a:prstDash val="solid"/>
          </a:ln>
        </p:spPr>
        <p:txBody>
          <a:bodyPr/>
          <a:lstStyle/>
          <a:p>
            <a:endParaRPr lang="en-US"/>
          </a:p>
        </p:txBody>
      </p:sp>
      <p:sp>
        <p:nvSpPr>
          <p:cNvPr id="2" name="TextBox 1">
            <a:extLst>
              <a:ext uri="{FF2B5EF4-FFF2-40B4-BE49-F238E27FC236}">
                <a16:creationId xmlns:a16="http://schemas.microsoft.com/office/drawing/2014/main" id="{376536D5-EFAB-0314-0862-A2A4E58AA172}"/>
              </a:ext>
            </a:extLst>
          </p:cNvPr>
          <p:cNvSpPr txBox="1"/>
          <p:nvPr/>
        </p:nvSpPr>
        <p:spPr>
          <a:xfrm>
            <a:off x="1230202" y="4313186"/>
            <a:ext cx="858285" cy="338554"/>
          </a:xfrm>
          <a:prstGeom prst="rect">
            <a:avLst/>
          </a:prstGeom>
          <a:solidFill>
            <a:srgbClr val="0E2A47"/>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solidFill>
                  <a:schemeClr val="bg1"/>
                </a:solidFill>
                <a:latin typeface="Calibri"/>
                <a:ea typeface="Calibri"/>
                <a:cs typeface="Calibri"/>
              </a:rPr>
              <a:t>Goalie</a:t>
            </a:r>
          </a:p>
        </p:txBody>
      </p:sp>
      <p:sp>
        <p:nvSpPr>
          <p:cNvPr id="5" name="TextBox 4">
            <a:extLst>
              <a:ext uri="{FF2B5EF4-FFF2-40B4-BE49-F238E27FC236}">
                <a16:creationId xmlns:a16="http://schemas.microsoft.com/office/drawing/2014/main" id="{04A3CE94-2F23-C596-ED20-DBF2C0A13B28}"/>
              </a:ext>
            </a:extLst>
          </p:cNvPr>
          <p:cNvSpPr txBox="1"/>
          <p:nvPr/>
        </p:nvSpPr>
        <p:spPr>
          <a:xfrm>
            <a:off x="1718358" y="3634529"/>
            <a:ext cx="1656004" cy="338554"/>
          </a:xfrm>
          <a:prstGeom prst="rect">
            <a:avLst/>
          </a:prstGeom>
          <a:solidFill>
            <a:srgbClr val="0E2A47"/>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Calibri"/>
                <a:ea typeface="Calibri"/>
                <a:cs typeface="Calibri"/>
              </a:rPr>
              <a:t>Defenseman 1</a:t>
            </a:r>
          </a:p>
        </p:txBody>
      </p:sp>
      <p:sp>
        <p:nvSpPr>
          <p:cNvPr id="7" name="TextBox 6">
            <a:extLst>
              <a:ext uri="{FF2B5EF4-FFF2-40B4-BE49-F238E27FC236}">
                <a16:creationId xmlns:a16="http://schemas.microsoft.com/office/drawing/2014/main" id="{2FADADF2-575D-A4E7-7AB1-F500CB61BD64}"/>
              </a:ext>
            </a:extLst>
          </p:cNvPr>
          <p:cNvSpPr txBox="1"/>
          <p:nvPr/>
        </p:nvSpPr>
        <p:spPr>
          <a:xfrm>
            <a:off x="1706452" y="5039467"/>
            <a:ext cx="1656004" cy="338554"/>
          </a:xfrm>
          <a:prstGeom prst="rect">
            <a:avLst/>
          </a:prstGeom>
          <a:solidFill>
            <a:srgbClr val="0E2A47"/>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Calibri"/>
                <a:ea typeface="Calibri"/>
                <a:cs typeface="Calibri"/>
              </a:rPr>
              <a:t>Defenseman 2</a:t>
            </a:r>
          </a:p>
        </p:txBody>
      </p:sp>
      <p:sp>
        <p:nvSpPr>
          <p:cNvPr id="8" name="TextBox 7">
            <a:extLst>
              <a:ext uri="{FF2B5EF4-FFF2-40B4-BE49-F238E27FC236}">
                <a16:creationId xmlns:a16="http://schemas.microsoft.com/office/drawing/2014/main" id="{AF21D5DA-F553-C88C-9C45-4BE6B124726C}"/>
              </a:ext>
            </a:extLst>
          </p:cNvPr>
          <p:cNvSpPr txBox="1"/>
          <p:nvPr/>
        </p:nvSpPr>
        <p:spPr>
          <a:xfrm rot="20040000">
            <a:off x="3611452" y="3852325"/>
            <a:ext cx="1251191" cy="338554"/>
          </a:xfrm>
          <a:prstGeom prst="rect">
            <a:avLst/>
          </a:prstGeom>
          <a:solidFill>
            <a:srgbClr val="0E2A47"/>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Calibri"/>
                <a:ea typeface="Calibri"/>
                <a:cs typeface="Calibri"/>
              </a:rPr>
              <a:t>Forward 1</a:t>
            </a:r>
          </a:p>
        </p:txBody>
      </p:sp>
      <p:sp>
        <p:nvSpPr>
          <p:cNvPr id="32" name="TextBox 31">
            <a:extLst>
              <a:ext uri="{FF2B5EF4-FFF2-40B4-BE49-F238E27FC236}">
                <a16:creationId xmlns:a16="http://schemas.microsoft.com/office/drawing/2014/main" id="{337A87B0-A82F-15E7-295F-B23A9283D64D}"/>
              </a:ext>
            </a:extLst>
          </p:cNvPr>
          <p:cNvSpPr txBox="1"/>
          <p:nvPr/>
        </p:nvSpPr>
        <p:spPr>
          <a:xfrm rot="20040000">
            <a:off x="3849577" y="4257137"/>
            <a:ext cx="1251191" cy="338554"/>
          </a:xfrm>
          <a:prstGeom prst="rect">
            <a:avLst/>
          </a:prstGeom>
          <a:solidFill>
            <a:srgbClr val="071A2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Calibri"/>
                <a:ea typeface="Calibri"/>
                <a:cs typeface="Calibri"/>
              </a:rPr>
              <a:t>Forward 2</a:t>
            </a:r>
          </a:p>
        </p:txBody>
      </p:sp>
      <p:sp>
        <p:nvSpPr>
          <p:cNvPr id="33" name="TextBox 32">
            <a:extLst>
              <a:ext uri="{FF2B5EF4-FFF2-40B4-BE49-F238E27FC236}">
                <a16:creationId xmlns:a16="http://schemas.microsoft.com/office/drawing/2014/main" id="{3AFD5408-CA74-4328-5D70-3609FB2309EB}"/>
              </a:ext>
            </a:extLst>
          </p:cNvPr>
          <p:cNvSpPr txBox="1"/>
          <p:nvPr/>
        </p:nvSpPr>
        <p:spPr>
          <a:xfrm rot="20040000">
            <a:off x="3992452" y="4685762"/>
            <a:ext cx="1251191" cy="338554"/>
          </a:xfrm>
          <a:prstGeom prst="rect">
            <a:avLst/>
          </a:prstGeom>
          <a:solidFill>
            <a:srgbClr val="0E2A47"/>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Calibri"/>
                <a:ea typeface="Calibri"/>
                <a:cs typeface="Calibri"/>
              </a:rPr>
              <a:t>Forward 3</a:t>
            </a:r>
          </a:p>
        </p:txBody>
      </p:sp>
      <p:sp>
        <p:nvSpPr>
          <p:cNvPr id="61" name="Text 0">
            <a:extLst>
              <a:ext uri="{FF2B5EF4-FFF2-40B4-BE49-F238E27FC236}">
                <a16:creationId xmlns:a16="http://schemas.microsoft.com/office/drawing/2014/main" id="{E9068280-D31A-9844-C9A8-6662050D79D3}"/>
              </a:ext>
            </a:extLst>
          </p:cNvPr>
          <p:cNvSpPr txBox="1"/>
          <p:nvPr/>
        </p:nvSpPr>
        <p:spPr>
          <a:xfrm>
            <a:off x="501015" y="461010"/>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solidFill>
                  <a:srgbClr val="0B1F3A"/>
                </a:solidFill>
                <a:latin typeface="Arial"/>
                <a:cs typeface="Arial"/>
              </a:rPr>
              <a:t>An intro to Ice Hockey</a:t>
            </a:r>
            <a:endParaRPr lang="en-US"/>
          </a:p>
        </p:txBody>
      </p:sp>
      <p:sp>
        <p:nvSpPr>
          <p:cNvPr id="6" name="TextBox 35">
            <a:extLst>
              <a:ext uri="{FF2B5EF4-FFF2-40B4-BE49-F238E27FC236}">
                <a16:creationId xmlns:a16="http://schemas.microsoft.com/office/drawing/2014/main" id="{38A849AF-E7D1-5F4E-F987-E6792FF7FB31}"/>
              </a:ext>
            </a:extLst>
          </p:cNvPr>
          <p:cNvSpPr txBox="1"/>
          <p:nvPr/>
        </p:nvSpPr>
        <p:spPr>
          <a:xfrm>
            <a:off x="507619" y="1288933"/>
            <a:ext cx="8224319" cy="1754326"/>
          </a:xfrm>
          <a:prstGeom prst="rect">
            <a:avLst/>
          </a:prstGeom>
          <a:solidFill>
            <a:srgbClr val="0E2A47"/>
          </a:solidFill>
          <a:effectLst>
            <a:outerShdw blurRad="63500" dist="38100" dir="5160000">
              <a:srgbClr val="000000">
                <a:alpha val="40000"/>
              </a:srgb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a:solidFill>
                  <a:schemeClr val="bg1"/>
                </a:solidFill>
                <a:latin typeface="Calibri"/>
                <a:ea typeface="Calibri"/>
                <a:cs typeface="Calibri"/>
              </a:rPr>
              <a:t>The National Hockey League (NHL) comprises 32 teams across US and Canada, playing 82 games per season.</a:t>
            </a:r>
          </a:p>
          <a:p>
            <a:pPr marL="285750" indent="-285750">
              <a:buFont typeface="Arial"/>
              <a:buChar char="•"/>
            </a:pPr>
            <a:r>
              <a:rPr lang="en-US">
                <a:solidFill>
                  <a:schemeClr val="bg1"/>
                </a:solidFill>
                <a:latin typeface="Calibri"/>
                <a:ea typeface="Calibri"/>
                <a:cs typeface="Calibri"/>
              </a:rPr>
              <a:t>A season runs about 9 months: preseason, regular season, and the playoffs.</a:t>
            </a:r>
          </a:p>
          <a:p>
            <a:pPr marL="285750" indent="-285750">
              <a:buFont typeface="Arial"/>
              <a:buChar char="•"/>
            </a:pPr>
            <a:r>
              <a:rPr lang="en-US">
                <a:solidFill>
                  <a:schemeClr val="bg1"/>
                </a:solidFill>
                <a:latin typeface="Calibri"/>
                <a:ea typeface="Calibri"/>
                <a:cs typeface="Calibri"/>
              </a:rPr>
              <a:t>It is a dynamic game with frequent player substitutions which create complex team performance  variables.</a:t>
            </a:r>
          </a:p>
          <a:p>
            <a:pPr marL="285750" indent="-285750">
              <a:buFont typeface="Arial"/>
              <a:buChar char="•"/>
            </a:pPr>
            <a:r>
              <a:rPr lang="en-US">
                <a:solidFill>
                  <a:schemeClr val="bg1"/>
                </a:solidFill>
                <a:latin typeface="Calibri"/>
                <a:ea typeface="Calibri"/>
                <a:cs typeface="Calibri"/>
              </a:rPr>
              <a:t> Teams score by putting the puck in the net</a:t>
            </a:r>
            <a:endParaRPr lang="en-US">
              <a:solidFill>
                <a:schemeClr val="bg1"/>
              </a:solidFill>
            </a:endParaRPr>
          </a:p>
        </p:txBody>
      </p:sp>
    </p:spTree>
    <p:extLst>
      <p:ext uri="{BB962C8B-B14F-4D97-AF65-F5344CB8AC3E}">
        <p14:creationId xmlns:p14="http://schemas.microsoft.com/office/powerpoint/2010/main" val="199576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E26464-4E39-1D6A-2232-FDFE7B83298B}"/>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A406ADE7-6A7E-76F4-2812-CB7D42E1667A}"/>
              </a:ext>
            </a:extLst>
          </p:cNvPr>
          <p:cNvSpPr txBox="1"/>
          <p:nvPr/>
        </p:nvSpPr>
        <p:spPr>
          <a:xfrm>
            <a:off x="486893" y="3266694"/>
            <a:ext cx="3378476" cy="2031325"/>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a:p>
            <a:endParaRPr lang="en-US"/>
          </a:p>
          <a:p>
            <a:endParaRPr lang="en-US"/>
          </a:p>
          <a:p>
            <a:endParaRPr lang="en-US"/>
          </a:p>
          <a:p>
            <a:endParaRPr lang="en-US"/>
          </a:p>
          <a:p>
            <a:endParaRPr lang="en-US"/>
          </a:p>
          <a:p>
            <a:endParaRPr lang="en-US"/>
          </a:p>
        </p:txBody>
      </p:sp>
      <p:sp>
        <p:nvSpPr>
          <p:cNvPr id="44" name="TextBox 43">
            <a:extLst>
              <a:ext uri="{FF2B5EF4-FFF2-40B4-BE49-F238E27FC236}">
                <a16:creationId xmlns:a16="http://schemas.microsoft.com/office/drawing/2014/main" id="{5C4D2BA9-3C21-226A-90BF-1B053A3B64F6}"/>
              </a:ext>
            </a:extLst>
          </p:cNvPr>
          <p:cNvSpPr txBox="1"/>
          <p:nvPr/>
        </p:nvSpPr>
        <p:spPr>
          <a:xfrm>
            <a:off x="1067923" y="3575175"/>
            <a:ext cx="3461096"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Moneyline "who will win?'</a:t>
            </a:r>
          </a:p>
          <a:p>
            <a:pPr marL="285750" indent="-285750">
              <a:buFont typeface="Arial"/>
              <a:buChar char="•"/>
            </a:pPr>
            <a:r>
              <a:rPr lang="en-US" sz="1400">
                <a:solidFill>
                  <a:schemeClr val="accent5">
                    <a:lumMod val="49000"/>
                  </a:schemeClr>
                </a:solidFill>
                <a:latin typeface="Calibri"/>
                <a:ea typeface="Calibri"/>
                <a:cs typeface="Calibri"/>
              </a:rPr>
              <a:t>Out of 2 teams, pick the winner to win the match including extra time. </a:t>
            </a:r>
            <a:br>
              <a:rPr lang="en-US" sz="1400">
                <a:solidFill>
                  <a:schemeClr val="accent5">
                    <a:lumMod val="49000"/>
                  </a:schemeClr>
                </a:solidFill>
                <a:latin typeface="Calibri"/>
                <a:ea typeface="Calibri"/>
                <a:cs typeface="Calibri"/>
              </a:rPr>
            </a:br>
            <a:endParaRPr lang="en-US" sz="1400">
              <a:solidFill>
                <a:schemeClr val="accent5">
                  <a:lumMod val="49000"/>
                </a:schemeClr>
              </a:solidFill>
              <a:latin typeface="Calibri"/>
              <a:ea typeface="Calibri"/>
              <a:cs typeface="Calibri"/>
            </a:endParaRPr>
          </a:p>
          <a:p>
            <a:pPr marL="285750" indent="-285750">
              <a:buFont typeface="Arial"/>
              <a:buChar char="•"/>
            </a:pPr>
            <a:r>
              <a:rPr lang="en-US" sz="1400" err="1">
                <a:solidFill>
                  <a:schemeClr val="accent5">
                    <a:lumMod val="49000"/>
                  </a:schemeClr>
                </a:solidFill>
                <a:latin typeface="Calibri"/>
                <a:ea typeface="Calibri"/>
                <a:cs typeface="Calibri"/>
              </a:rPr>
              <a:t>Favourite</a:t>
            </a:r>
            <a:r>
              <a:rPr lang="en-US" sz="1400">
                <a:solidFill>
                  <a:schemeClr val="accent5">
                    <a:lumMod val="49000"/>
                  </a:schemeClr>
                </a:solidFill>
                <a:latin typeface="Calibri"/>
                <a:ea typeface="Calibri"/>
                <a:cs typeface="Calibri"/>
              </a:rPr>
              <a:t> (+) = stronger team = higher % to win = lower payout</a:t>
            </a:r>
            <a:br>
              <a:rPr lang="en-US" sz="1400">
                <a:solidFill>
                  <a:schemeClr val="accent5">
                    <a:lumMod val="49000"/>
                  </a:schemeClr>
                </a:solidFill>
                <a:latin typeface="Calibri"/>
                <a:ea typeface="Calibri"/>
                <a:cs typeface="Calibri"/>
              </a:rPr>
            </a:br>
            <a:endParaRPr lang="en-US" sz="1400">
              <a:solidFill>
                <a:schemeClr val="accent5">
                  <a:lumMod val="49000"/>
                </a:schemeClr>
              </a:solidFill>
              <a:latin typeface="Calibri"/>
              <a:ea typeface="Calibri"/>
              <a:cs typeface="Calibri"/>
            </a:endParaRPr>
          </a:p>
          <a:p>
            <a:pPr marL="285750" indent="-285750">
              <a:buFont typeface="Arial"/>
              <a:buChar char="•"/>
            </a:pPr>
            <a:r>
              <a:rPr lang="en-US" sz="1400">
                <a:solidFill>
                  <a:schemeClr val="accent5">
                    <a:lumMod val="49000"/>
                  </a:schemeClr>
                </a:solidFill>
                <a:latin typeface="Calibri"/>
                <a:ea typeface="Calibri"/>
                <a:cs typeface="Calibri"/>
              </a:rPr>
              <a:t>Underdog (-) = weaker team = high risk to lose = but </a:t>
            </a:r>
            <a:r>
              <a:rPr lang="en-US" sz="1400" err="1">
                <a:solidFill>
                  <a:schemeClr val="accent5">
                    <a:lumMod val="49000"/>
                  </a:schemeClr>
                </a:solidFill>
                <a:latin typeface="Calibri"/>
                <a:ea typeface="Calibri"/>
                <a:cs typeface="Calibri"/>
              </a:rPr>
              <a:t>huat</a:t>
            </a:r>
            <a:r>
              <a:rPr lang="en-US" sz="1400">
                <a:solidFill>
                  <a:schemeClr val="accent5">
                    <a:lumMod val="49000"/>
                  </a:schemeClr>
                </a:solidFill>
                <a:latin typeface="Calibri"/>
                <a:ea typeface="Calibri"/>
                <a:cs typeface="Calibri"/>
              </a:rPr>
              <a:t> ah, bigger payout!</a:t>
            </a:r>
          </a:p>
          <a:p>
            <a:endParaRPr lang="en-US" b="1">
              <a:solidFill>
                <a:srgbClr val="071A2F"/>
              </a:solidFill>
              <a:latin typeface="Arial"/>
              <a:cs typeface="Arial"/>
            </a:endParaRPr>
          </a:p>
        </p:txBody>
      </p:sp>
      <p:sp>
        <p:nvSpPr>
          <p:cNvPr id="54" name="TextBox 53">
            <a:extLst>
              <a:ext uri="{FF2B5EF4-FFF2-40B4-BE49-F238E27FC236}">
                <a16:creationId xmlns:a16="http://schemas.microsoft.com/office/drawing/2014/main" id="{D1ABC6F7-17B3-5F52-6282-9C861A8879A1}"/>
              </a:ext>
            </a:extLst>
          </p:cNvPr>
          <p:cNvSpPr txBox="1"/>
          <p:nvPr/>
        </p:nvSpPr>
        <p:spPr>
          <a:xfrm>
            <a:off x="4273083" y="3266694"/>
            <a:ext cx="3378476" cy="2031325"/>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a:p>
            <a:endParaRPr lang="en-US"/>
          </a:p>
          <a:p>
            <a:endParaRPr lang="en-US"/>
          </a:p>
          <a:p>
            <a:endParaRPr lang="en-US"/>
          </a:p>
          <a:p>
            <a:endParaRPr lang="en-US"/>
          </a:p>
          <a:p>
            <a:endParaRPr lang="en-US"/>
          </a:p>
          <a:p>
            <a:endParaRPr lang="en-US"/>
          </a:p>
        </p:txBody>
      </p:sp>
      <p:sp>
        <p:nvSpPr>
          <p:cNvPr id="45" name="TextBox 44">
            <a:extLst>
              <a:ext uri="{FF2B5EF4-FFF2-40B4-BE49-F238E27FC236}">
                <a16:creationId xmlns:a16="http://schemas.microsoft.com/office/drawing/2014/main" id="{4CA96A55-1BDD-3034-679F-C95B949530C8}"/>
              </a:ext>
            </a:extLst>
          </p:cNvPr>
          <p:cNvSpPr txBox="1"/>
          <p:nvPr/>
        </p:nvSpPr>
        <p:spPr>
          <a:xfrm>
            <a:off x="4487221" y="3568560"/>
            <a:ext cx="3508720"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solidFill>
                  <a:srgbClr val="071A2F"/>
                </a:solidFill>
                <a:latin typeface="Arial"/>
                <a:cs typeface="Arial"/>
              </a:rPr>
              <a:t>Puckline</a:t>
            </a:r>
            <a:r>
              <a:rPr lang="en-US" b="1">
                <a:solidFill>
                  <a:srgbClr val="071A2F"/>
                </a:solidFill>
                <a:latin typeface="Arial"/>
                <a:cs typeface="Arial"/>
              </a:rPr>
              <a:t> "like EPL goal handicap"</a:t>
            </a:r>
          </a:p>
          <a:p>
            <a:pPr marL="285750" indent="-285750">
              <a:buFont typeface="Arial"/>
              <a:buChar char="•"/>
            </a:pPr>
            <a:r>
              <a:rPr lang="en-US" sz="1400">
                <a:solidFill>
                  <a:schemeClr val="accent5">
                    <a:lumMod val="49000"/>
                  </a:schemeClr>
                </a:solidFill>
                <a:latin typeface="Calibri"/>
                <a:ea typeface="Calibri"/>
                <a:cs typeface="Calibri"/>
              </a:rPr>
              <a:t>Favorite (-1.5 goals) e.g. Liverpool who will win by 2 or more goals</a:t>
            </a:r>
            <a:br>
              <a:rPr lang="en-US" sz="1400">
                <a:solidFill>
                  <a:schemeClr val="accent5">
                    <a:lumMod val="49000"/>
                  </a:schemeClr>
                </a:solidFill>
                <a:latin typeface="Calibri"/>
                <a:ea typeface="Calibri"/>
                <a:cs typeface="Calibri"/>
              </a:rPr>
            </a:br>
            <a:endParaRPr lang="en-US" sz="1400">
              <a:solidFill>
                <a:schemeClr val="accent5">
                  <a:lumMod val="49000"/>
                </a:schemeClr>
              </a:solidFill>
              <a:latin typeface="Calibri"/>
              <a:ea typeface="Calibri"/>
              <a:cs typeface="Calibri"/>
            </a:endParaRPr>
          </a:p>
          <a:p>
            <a:pPr marL="285750" indent="-285750">
              <a:buFont typeface="Arial"/>
              <a:buChar char="•"/>
            </a:pPr>
            <a:r>
              <a:rPr lang="en-US" sz="1400">
                <a:solidFill>
                  <a:schemeClr val="accent5">
                    <a:lumMod val="49000"/>
                  </a:schemeClr>
                </a:solidFill>
                <a:latin typeface="Calibri"/>
                <a:ea typeface="Calibri"/>
                <a:cs typeface="Calibri"/>
              </a:rPr>
              <a:t>Underdog (+1.5 goals headstart) e.g. Southhampton who will win if they draw or lose by only 1 go</a:t>
            </a:r>
          </a:p>
          <a:p>
            <a:br>
              <a:rPr lang="en-US" sz="1400">
                <a:solidFill>
                  <a:schemeClr val="accent5">
                    <a:lumMod val="49000"/>
                  </a:schemeClr>
                </a:solidFill>
                <a:latin typeface="Calibri"/>
                <a:ea typeface="Calibri"/>
                <a:cs typeface="Calibri"/>
              </a:rPr>
            </a:br>
            <a:endParaRPr lang="en-US" sz="1400">
              <a:solidFill>
                <a:schemeClr val="accent5">
                  <a:lumMod val="49000"/>
                </a:schemeClr>
              </a:solidFill>
              <a:latin typeface="Calibri"/>
              <a:ea typeface="Calibri"/>
              <a:cs typeface="Calibri"/>
            </a:endParaRPr>
          </a:p>
          <a:p>
            <a:endParaRPr lang="en-US" b="1">
              <a:solidFill>
                <a:srgbClr val="071A2F"/>
              </a:solidFill>
              <a:latin typeface="Arial"/>
              <a:ea typeface="Calibri"/>
              <a:cs typeface="Arial"/>
            </a:endParaRPr>
          </a:p>
        </p:txBody>
      </p:sp>
      <p:sp>
        <p:nvSpPr>
          <p:cNvPr id="55" name="TextBox 54">
            <a:extLst>
              <a:ext uri="{FF2B5EF4-FFF2-40B4-BE49-F238E27FC236}">
                <a16:creationId xmlns:a16="http://schemas.microsoft.com/office/drawing/2014/main" id="{7222C5AA-1FFD-8C5A-1263-8B375B700331}"/>
              </a:ext>
            </a:extLst>
          </p:cNvPr>
          <p:cNvSpPr txBox="1"/>
          <p:nvPr/>
        </p:nvSpPr>
        <p:spPr>
          <a:xfrm>
            <a:off x="7999739" y="3302413"/>
            <a:ext cx="3378476" cy="2031325"/>
          </a:xfrm>
          <a:prstGeom prst="rect">
            <a:avLst/>
          </a:prstGeom>
          <a:solidFill>
            <a:schemeClr val="bg1"/>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a:p>
            <a:endParaRPr lang="en-US"/>
          </a:p>
          <a:p>
            <a:endParaRPr lang="en-US"/>
          </a:p>
          <a:p>
            <a:endParaRPr lang="en-US"/>
          </a:p>
          <a:p>
            <a:endParaRPr lang="en-US"/>
          </a:p>
          <a:p>
            <a:endParaRPr lang="en-US"/>
          </a:p>
          <a:p>
            <a:endParaRPr lang="en-US"/>
          </a:p>
        </p:txBody>
      </p:sp>
      <p:sp>
        <p:nvSpPr>
          <p:cNvPr id="48" name="TextBox 47">
            <a:extLst>
              <a:ext uri="{FF2B5EF4-FFF2-40B4-BE49-F238E27FC236}">
                <a16:creationId xmlns:a16="http://schemas.microsoft.com/office/drawing/2014/main" id="{69AF4C3B-D719-BE89-822D-9A43C71082F4}"/>
              </a:ext>
            </a:extLst>
          </p:cNvPr>
          <p:cNvSpPr txBox="1"/>
          <p:nvPr/>
        </p:nvSpPr>
        <p:spPr>
          <a:xfrm>
            <a:off x="8002211" y="3300450"/>
            <a:ext cx="3461096"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71A2F"/>
                </a:solidFill>
                <a:latin typeface="Arial"/>
                <a:cs typeface="Arial"/>
              </a:rPr>
              <a:t>Total goals "all in"</a:t>
            </a:r>
          </a:p>
          <a:p>
            <a:pPr marL="285750" indent="-285750">
              <a:buFont typeface="Arial,Sans-Serif"/>
              <a:buChar char="•"/>
            </a:pPr>
            <a:r>
              <a:rPr lang="en-US" sz="1400">
                <a:solidFill>
                  <a:schemeClr val="accent5">
                    <a:lumMod val="49000"/>
                  </a:schemeClr>
                </a:solidFill>
                <a:latin typeface="Calibri"/>
                <a:ea typeface="Calibri"/>
                <a:cs typeface="Calibri"/>
              </a:rPr>
              <a:t>We bet on the total score of both teams, add up everything.</a:t>
            </a:r>
            <a:br>
              <a:rPr lang="en-US" sz="1400">
                <a:solidFill>
                  <a:schemeClr val="accent5">
                    <a:lumMod val="49000"/>
                  </a:schemeClr>
                </a:solidFill>
                <a:latin typeface="Calibri"/>
                <a:ea typeface="Calibri"/>
                <a:cs typeface="Calibri"/>
              </a:rPr>
            </a:br>
            <a:endParaRPr lang="en-US" sz="1400">
              <a:solidFill>
                <a:schemeClr val="accent5">
                  <a:lumMod val="49000"/>
                </a:schemeClr>
              </a:solidFill>
              <a:latin typeface="Calibri"/>
              <a:ea typeface="Calibri"/>
              <a:cs typeface="Calibri"/>
            </a:endParaRPr>
          </a:p>
          <a:p>
            <a:pPr marL="285750" indent="-285750">
              <a:buFont typeface="Arial,Sans-Serif"/>
              <a:buChar char="•"/>
            </a:pPr>
            <a:r>
              <a:rPr lang="en-US" sz="1400">
                <a:solidFill>
                  <a:schemeClr val="accent5">
                    <a:lumMod val="49000"/>
                  </a:schemeClr>
                </a:solidFill>
                <a:latin typeface="Calibri"/>
                <a:ea typeface="Calibri"/>
                <a:cs typeface="Calibri"/>
              </a:rPr>
              <a:t>Over if total goals &gt;the set number for exciting game</a:t>
            </a:r>
            <a:br>
              <a:rPr lang="en-US" sz="1400">
                <a:solidFill>
                  <a:schemeClr val="accent5">
                    <a:lumMod val="49000"/>
                  </a:schemeClr>
                </a:solidFill>
                <a:latin typeface="Calibri"/>
                <a:ea typeface="Calibri"/>
                <a:cs typeface="Calibri"/>
              </a:rPr>
            </a:br>
            <a:endParaRPr lang="en-US" sz="1400">
              <a:solidFill>
                <a:schemeClr val="accent5">
                  <a:lumMod val="49000"/>
                </a:schemeClr>
              </a:solidFill>
              <a:latin typeface="Calibri"/>
              <a:ea typeface="Calibri"/>
              <a:cs typeface="Calibri"/>
            </a:endParaRPr>
          </a:p>
          <a:p>
            <a:pPr marL="285750" indent="-285750">
              <a:buFont typeface="Arial,Sans-Serif"/>
              <a:buChar char="•"/>
            </a:pPr>
            <a:r>
              <a:rPr lang="en-US" sz="1400">
                <a:solidFill>
                  <a:schemeClr val="accent5">
                    <a:lumMod val="49000"/>
                  </a:schemeClr>
                </a:solidFill>
                <a:latin typeface="Calibri"/>
                <a:ea typeface="Calibri"/>
                <a:cs typeface="Calibri"/>
              </a:rPr>
              <a:t>Under if total goals &lt; set number, usually for boring, defense-heavy game</a:t>
            </a:r>
          </a:p>
        </p:txBody>
      </p:sp>
      <p:sp>
        <p:nvSpPr>
          <p:cNvPr id="61" name="Text 0">
            <a:extLst>
              <a:ext uri="{FF2B5EF4-FFF2-40B4-BE49-F238E27FC236}">
                <a16:creationId xmlns:a16="http://schemas.microsoft.com/office/drawing/2014/main" id="{C5ED23B4-B319-69E1-788C-D3E985A1E905}"/>
              </a:ext>
            </a:extLst>
          </p:cNvPr>
          <p:cNvSpPr txBox="1"/>
          <p:nvPr/>
        </p:nvSpPr>
        <p:spPr>
          <a:xfrm>
            <a:off x="417671" y="318135"/>
            <a:ext cx="822960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solidFill>
                  <a:srgbClr val="0B1F3A"/>
                </a:solidFill>
                <a:latin typeface="Arial"/>
                <a:cs typeface="Arial"/>
              </a:rPr>
              <a:t>Singapore Dreaming: </a:t>
            </a:r>
            <a:endParaRPr lang="en-US">
              <a:solidFill>
                <a:srgbClr val="000000"/>
              </a:solidFill>
              <a:latin typeface="Neue Haas Grotesk Text Pro"/>
              <a:cs typeface="Arial"/>
            </a:endParaRPr>
          </a:p>
          <a:p>
            <a:r>
              <a:rPr lang="en-US" sz="3600" b="1">
                <a:solidFill>
                  <a:srgbClr val="0B1F3A"/>
                </a:solidFill>
                <a:latin typeface="Arial"/>
                <a:cs typeface="Arial"/>
              </a:rPr>
              <a:t>Driving data in NHL betting</a:t>
            </a:r>
            <a:endParaRPr lang="en-US">
              <a:cs typeface="Arial"/>
            </a:endParaRPr>
          </a:p>
        </p:txBody>
      </p:sp>
      <p:sp>
        <p:nvSpPr>
          <p:cNvPr id="4" name="TextBox 3">
            <a:extLst>
              <a:ext uri="{FF2B5EF4-FFF2-40B4-BE49-F238E27FC236}">
                <a16:creationId xmlns:a16="http://schemas.microsoft.com/office/drawing/2014/main" id="{35A534C1-58A2-7479-2DAF-A86C8D3E0BD1}"/>
              </a:ext>
            </a:extLst>
          </p:cNvPr>
          <p:cNvSpPr txBox="1"/>
          <p:nvPr/>
        </p:nvSpPr>
        <p:spPr>
          <a:xfrm>
            <a:off x="-1264" y="1540287"/>
            <a:ext cx="12189099" cy="1200329"/>
          </a:xfrm>
          <a:prstGeom prst="rect">
            <a:avLst/>
          </a:prstGeom>
          <a:solidFill>
            <a:srgbClr val="0E2A47"/>
          </a:solidFill>
          <a:effectLst>
            <a:outerShdw blurRad="63500" dist="38100" dir="516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br>
              <a:rPr lang="en-US">
                <a:solidFill>
                  <a:schemeClr val="bg1"/>
                </a:solidFill>
                <a:latin typeface="Calibri"/>
                <a:ea typeface="Calibri"/>
                <a:cs typeface="Calibri"/>
              </a:rPr>
            </a:br>
            <a:r>
              <a:rPr lang="en-US">
                <a:solidFill>
                  <a:schemeClr val="bg1"/>
                </a:solidFill>
                <a:latin typeface="Calibri"/>
                <a:ea typeface="Calibri"/>
                <a:cs typeface="Calibri"/>
              </a:rPr>
              <a:t>Singapore Pools will be taking bets on NHL ice hockey in 2027.</a:t>
            </a:r>
            <a:endParaRPr lang="en-US" b="1">
              <a:solidFill>
                <a:schemeClr val="bg1"/>
              </a:solidFill>
              <a:latin typeface="Calibri"/>
              <a:ea typeface="Calibri"/>
              <a:cs typeface="Calibri"/>
            </a:endParaRPr>
          </a:p>
          <a:p>
            <a:pPr algn="ctr"/>
            <a:r>
              <a:rPr lang="en-US">
                <a:solidFill>
                  <a:schemeClr val="bg1"/>
                </a:solidFill>
                <a:latin typeface="Calibri"/>
                <a:ea typeface="Calibri"/>
                <a:cs typeface="Calibri"/>
              </a:rPr>
              <a:t>We asked whether data could give better winning insights than gut feel!</a:t>
            </a:r>
            <a:endParaRPr lang="en-US" b="1">
              <a:solidFill>
                <a:schemeClr val="bg1"/>
              </a:solidFill>
              <a:latin typeface="Calibri"/>
              <a:ea typeface="Calibri"/>
              <a:cs typeface="Calibri"/>
            </a:endParaRPr>
          </a:p>
          <a:p>
            <a:endParaRPr lang="en-US" b="1">
              <a:solidFill>
                <a:schemeClr val="bg1"/>
              </a:solidFill>
              <a:latin typeface="Calibri"/>
              <a:ea typeface="Calibri"/>
              <a:cs typeface="Calibri"/>
            </a:endParaRPr>
          </a:p>
        </p:txBody>
      </p:sp>
      <p:pic>
        <p:nvPicPr>
          <p:cNvPr id="6" name="Graphic 5">
            <a:extLst>
              <a:ext uri="{FF2B5EF4-FFF2-40B4-BE49-F238E27FC236}">
                <a16:creationId xmlns:a16="http://schemas.microsoft.com/office/drawing/2014/main" id="{20BAE2B1-726F-F6E3-1353-4454103285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380000">
            <a:off x="10103645" y="2221706"/>
            <a:ext cx="569119" cy="497682"/>
          </a:xfrm>
          <a:prstGeom prst="rect">
            <a:avLst/>
          </a:prstGeom>
        </p:spPr>
      </p:pic>
      <p:pic>
        <p:nvPicPr>
          <p:cNvPr id="22" name="Graphic 21">
            <a:extLst>
              <a:ext uri="{FF2B5EF4-FFF2-40B4-BE49-F238E27FC236}">
                <a16:creationId xmlns:a16="http://schemas.microsoft.com/office/drawing/2014/main" id="{A5C369B6-7048-2153-BD5A-3376826EDA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380000">
            <a:off x="10818019" y="1614487"/>
            <a:ext cx="569119" cy="497682"/>
          </a:xfrm>
          <a:prstGeom prst="rect">
            <a:avLst/>
          </a:prstGeom>
        </p:spPr>
      </p:pic>
      <p:pic>
        <p:nvPicPr>
          <p:cNvPr id="29" name="Graphic 28">
            <a:extLst>
              <a:ext uri="{FF2B5EF4-FFF2-40B4-BE49-F238E27FC236}">
                <a16:creationId xmlns:a16="http://schemas.microsoft.com/office/drawing/2014/main" id="{A0EF8940-BAAC-6AB5-0BA7-F76B3355B4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380000">
            <a:off x="11318082" y="2269331"/>
            <a:ext cx="569119" cy="497682"/>
          </a:xfrm>
          <a:prstGeom prst="rect">
            <a:avLst/>
          </a:prstGeom>
        </p:spPr>
      </p:pic>
      <p:pic>
        <p:nvPicPr>
          <p:cNvPr id="30" name="Graphic 29">
            <a:extLst>
              <a:ext uri="{FF2B5EF4-FFF2-40B4-BE49-F238E27FC236}">
                <a16:creationId xmlns:a16="http://schemas.microsoft.com/office/drawing/2014/main" id="{AF90C727-2577-0353-8C6D-6768789147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380000">
            <a:off x="9663112" y="1590675"/>
            <a:ext cx="569119" cy="497682"/>
          </a:xfrm>
          <a:prstGeom prst="rect">
            <a:avLst/>
          </a:prstGeom>
        </p:spPr>
      </p:pic>
      <p:pic>
        <p:nvPicPr>
          <p:cNvPr id="31" name="Graphic 30">
            <a:extLst>
              <a:ext uri="{FF2B5EF4-FFF2-40B4-BE49-F238E27FC236}">
                <a16:creationId xmlns:a16="http://schemas.microsoft.com/office/drawing/2014/main" id="{97E9CE59-BD0C-52B0-BBDB-5C0C00A6D3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9380000">
            <a:off x="1935956" y="1614487"/>
            <a:ext cx="569119" cy="497682"/>
          </a:xfrm>
          <a:prstGeom prst="rect">
            <a:avLst/>
          </a:prstGeom>
        </p:spPr>
      </p:pic>
      <p:pic>
        <p:nvPicPr>
          <p:cNvPr id="34" name="Graphic 33">
            <a:extLst>
              <a:ext uri="{FF2B5EF4-FFF2-40B4-BE49-F238E27FC236}">
                <a16:creationId xmlns:a16="http://schemas.microsoft.com/office/drawing/2014/main" id="{17257140-C14E-CAE7-6505-60E9EB92B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9380000">
            <a:off x="757237" y="1590674"/>
            <a:ext cx="569119" cy="497682"/>
          </a:xfrm>
          <a:prstGeom prst="rect">
            <a:avLst/>
          </a:prstGeom>
        </p:spPr>
      </p:pic>
      <p:pic>
        <p:nvPicPr>
          <p:cNvPr id="35" name="Graphic 34">
            <a:extLst>
              <a:ext uri="{FF2B5EF4-FFF2-40B4-BE49-F238E27FC236}">
                <a16:creationId xmlns:a16="http://schemas.microsoft.com/office/drawing/2014/main" id="{0877AAF9-6620-E37F-8970-F892FE840AB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9380000">
            <a:off x="1507331" y="2245518"/>
            <a:ext cx="569119" cy="497682"/>
          </a:xfrm>
          <a:prstGeom prst="rect">
            <a:avLst/>
          </a:prstGeom>
        </p:spPr>
      </p:pic>
      <p:pic>
        <p:nvPicPr>
          <p:cNvPr id="37" name="Graphic 36">
            <a:extLst>
              <a:ext uri="{FF2B5EF4-FFF2-40B4-BE49-F238E27FC236}">
                <a16:creationId xmlns:a16="http://schemas.microsoft.com/office/drawing/2014/main" id="{A3EC8B8E-1562-EF79-3150-8227144E80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9380000">
            <a:off x="197644" y="2269331"/>
            <a:ext cx="569119" cy="497682"/>
          </a:xfrm>
          <a:prstGeom prst="rect">
            <a:avLst/>
          </a:prstGeom>
        </p:spPr>
      </p:pic>
    </p:spTree>
    <p:extLst>
      <p:ext uri="{BB962C8B-B14F-4D97-AF65-F5344CB8AC3E}">
        <p14:creationId xmlns:p14="http://schemas.microsoft.com/office/powerpoint/2010/main" val="102999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7B468-CBF2-AC2C-B472-F9D7FB5F70D6}"/>
              </a:ext>
            </a:extLst>
          </p:cNvPr>
          <p:cNvSpPr>
            <a:spLocks noGrp="1"/>
          </p:cNvSpPr>
          <p:nvPr>
            <p:ph idx="1"/>
          </p:nvPr>
        </p:nvSpPr>
        <p:spPr>
          <a:xfrm>
            <a:off x="-22087" y="1410564"/>
            <a:ext cx="12001592" cy="1464372"/>
          </a:xfrm>
        </p:spPr>
        <p:txBody>
          <a:bodyPr vert="horz" lIns="91440" tIns="45720" rIns="91440" bIns="45720" rtlCol="0" anchor="t">
            <a:normAutofit/>
          </a:bodyPr>
          <a:lstStyle/>
          <a:p>
            <a:pPr marL="285750" indent="-285750">
              <a:buFont typeface="Calibri"/>
              <a:buChar char="-"/>
            </a:pPr>
            <a:r>
              <a:rPr lang="en-US" sz="1600">
                <a:solidFill>
                  <a:srgbClr val="0E2A47"/>
                </a:solidFill>
                <a:latin typeface="Calibri"/>
                <a:ea typeface="Calibri"/>
                <a:cs typeface="Calibri"/>
              </a:rPr>
              <a:t>Uses </a:t>
            </a:r>
            <a:r>
              <a:rPr lang="en-US" sz="1600" err="1">
                <a:solidFill>
                  <a:srgbClr val="0E2A47"/>
                </a:solidFill>
                <a:latin typeface="Calibri"/>
                <a:ea typeface="Calibri"/>
                <a:cs typeface="Calibri"/>
              </a:rPr>
              <a:t>unittest</a:t>
            </a:r>
            <a:r>
              <a:rPr lang="en-US" sz="1600">
                <a:solidFill>
                  <a:srgbClr val="0E2A47"/>
                </a:solidFill>
                <a:latin typeface="Calibri"/>
                <a:ea typeface="Calibri"/>
                <a:cs typeface="Calibri"/>
              </a:rPr>
              <a:t>, </a:t>
            </a:r>
            <a:r>
              <a:rPr lang="en-US" sz="1600" err="1">
                <a:solidFill>
                  <a:srgbClr val="0E2A47"/>
                </a:solidFill>
                <a:latin typeface="Calibri"/>
                <a:ea typeface="Calibri"/>
                <a:cs typeface="Calibri"/>
              </a:rPr>
              <a:t>MagicMock</a:t>
            </a:r>
            <a:r>
              <a:rPr lang="en-US" sz="1600">
                <a:solidFill>
                  <a:srgbClr val="0E2A47"/>
                </a:solidFill>
                <a:latin typeface="Calibri"/>
                <a:ea typeface="Calibri"/>
                <a:cs typeface="Calibri"/>
              </a:rPr>
              <a:t> (mock </a:t>
            </a:r>
            <a:r>
              <a:rPr lang="en-US" sz="1600" err="1">
                <a:solidFill>
                  <a:srgbClr val="0E2A47"/>
                </a:solidFill>
                <a:latin typeface="Calibri"/>
                <a:ea typeface="Calibri"/>
                <a:cs typeface="Calibri"/>
              </a:rPr>
              <a:t>pyspark</a:t>
            </a:r>
            <a:r>
              <a:rPr lang="en-US" sz="1600">
                <a:solidFill>
                  <a:srgbClr val="0E2A47"/>
                </a:solidFill>
                <a:latin typeface="Calibri"/>
                <a:ea typeface="Calibri"/>
                <a:cs typeface="Calibri"/>
              </a:rPr>
              <a:t> functions) to perform white box test</a:t>
            </a:r>
          </a:p>
          <a:p>
            <a:pPr marL="285750" indent="-285750">
              <a:buFont typeface="Calibri"/>
              <a:buChar char="-"/>
            </a:pPr>
            <a:r>
              <a:rPr lang="en-US" sz="1600">
                <a:solidFill>
                  <a:srgbClr val="0E2A47"/>
                </a:solidFill>
                <a:latin typeface="Calibri"/>
                <a:ea typeface="Calibri"/>
                <a:cs typeface="Calibri"/>
              </a:rPr>
              <a:t>Built-into Azure Fabric, no additional install necessary</a:t>
            </a:r>
          </a:p>
          <a:p>
            <a:pPr marL="285750" indent="-285750">
              <a:buFont typeface="Calibri"/>
              <a:buChar char="-"/>
            </a:pPr>
            <a:r>
              <a:rPr lang="en-US" sz="1600">
                <a:solidFill>
                  <a:srgbClr val="0E2A47"/>
                </a:solidFill>
                <a:latin typeface="Calibri"/>
                <a:ea typeface="Calibri"/>
                <a:cs typeface="Calibri"/>
              </a:rPr>
              <a:t>Serves as a guard rail due to lack of CI/CD integration</a:t>
            </a:r>
            <a:endParaRPr lang="en-US"/>
          </a:p>
          <a:p>
            <a:pPr marL="285750" indent="-285750">
              <a:buFont typeface="Calibri"/>
              <a:buChar char="-"/>
            </a:pPr>
            <a:r>
              <a:rPr lang="en-US" sz="1600">
                <a:solidFill>
                  <a:srgbClr val="0E2A47"/>
                </a:solidFill>
                <a:latin typeface="Calibri"/>
                <a:ea typeface="Calibri"/>
                <a:cs typeface="Calibri"/>
              </a:rPr>
              <a:t>Ensures cleaning, transformation and validation functions passes before pipeline runs</a:t>
            </a:r>
          </a:p>
          <a:p>
            <a:pPr marL="285750" indent="-285750">
              <a:buFont typeface="Calibri"/>
              <a:buChar char="-"/>
            </a:pPr>
            <a:endParaRPr lang="en-US"/>
          </a:p>
          <a:p>
            <a:pPr marL="285750" indent="-285750">
              <a:buFont typeface="Calibri"/>
              <a:buChar char="-"/>
            </a:pPr>
            <a:endParaRPr lang="en-US"/>
          </a:p>
        </p:txBody>
      </p:sp>
      <p:pic>
        <p:nvPicPr>
          <p:cNvPr id="4" name="Picture 3">
            <a:extLst>
              <a:ext uri="{FF2B5EF4-FFF2-40B4-BE49-F238E27FC236}">
                <a16:creationId xmlns:a16="http://schemas.microsoft.com/office/drawing/2014/main" id="{9538006A-BBB4-D87D-66D6-EB53E9FFACC2}"/>
              </a:ext>
            </a:extLst>
          </p:cNvPr>
          <p:cNvPicPr>
            <a:picLocks noChangeAspect="1"/>
          </p:cNvPicPr>
          <p:nvPr/>
        </p:nvPicPr>
        <p:blipFill>
          <a:blip r:embed="rId2"/>
          <a:stretch>
            <a:fillRect/>
          </a:stretch>
        </p:blipFill>
        <p:spPr>
          <a:xfrm>
            <a:off x="257419" y="2988528"/>
            <a:ext cx="4020185" cy="3533775"/>
          </a:xfrm>
          <a:prstGeom prst="rect">
            <a:avLst/>
          </a:prstGeom>
        </p:spPr>
      </p:pic>
      <p:pic>
        <p:nvPicPr>
          <p:cNvPr id="5" name="Picture 4">
            <a:extLst>
              <a:ext uri="{FF2B5EF4-FFF2-40B4-BE49-F238E27FC236}">
                <a16:creationId xmlns:a16="http://schemas.microsoft.com/office/drawing/2014/main" id="{6A3ED80F-EE90-2837-CDCD-9AF3AA22EE40}"/>
              </a:ext>
            </a:extLst>
          </p:cNvPr>
          <p:cNvPicPr>
            <a:picLocks noChangeAspect="1"/>
          </p:cNvPicPr>
          <p:nvPr/>
        </p:nvPicPr>
        <p:blipFill>
          <a:blip r:embed="rId3"/>
          <a:stretch>
            <a:fillRect/>
          </a:stretch>
        </p:blipFill>
        <p:spPr>
          <a:xfrm>
            <a:off x="4591175" y="3004333"/>
            <a:ext cx="6845300" cy="3514090"/>
          </a:xfrm>
          <a:prstGeom prst="rect">
            <a:avLst/>
          </a:prstGeom>
        </p:spPr>
      </p:pic>
      <p:sp>
        <p:nvSpPr>
          <p:cNvPr id="7" name="Title 6">
            <a:extLst>
              <a:ext uri="{FF2B5EF4-FFF2-40B4-BE49-F238E27FC236}">
                <a16:creationId xmlns:a16="http://schemas.microsoft.com/office/drawing/2014/main" id="{731D8A5C-D1C7-B33E-73C8-E0A94D271670}"/>
              </a:ext>
            </a:extLst>
          </p:cNvPr>
          <p:cNvSpPr>
            <a:spLocks noGrp="1"/>
          </p:cNvSpPr>
          <p:nvPr>
            <p:ph type="title"/>
          </p:nvPr>
        </p:nvSpPr>
        <p:spPr/>
        <p:txBody>
          <a:bodyPr>
            <a:normAutofit/>
          </a:bodyPr>
          <a:lstStyle/>
          <a:p>
            <a:r>
              <a:rPr lang="en-US" sz="3600" b="1">
                <a:latin typeface="Arial"/>
                <a:cs typeface="Arial"/>
              </a:rPr>
              <a:t>Unit testing</a:t>
            </a:r>
          </a:p>
        </p:txBody>
      </p:sp>
    </p:spTree>
    <p:extLst>
      <p:ext uri="{BB962C8B-B14F-4D97-AF65-F5344CB8AC3E}">
        <p14:creationId xmlns:p14="http://schemas.microsoft.com/office/powerpoint/2010/main" val="2381410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A9B6AF-5373-F677-EF80-89592C98E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2FF91-CE4F-773D-9BBB-3FBF485757AD}"/>
              </a:ext>
            </a:extLst>
          </p:cNvPr>
          <p:cNvSpPr>
            <a:spLocks noGrp="1"/>
          </p:cNvSpPr>
          <p:nvPr>
            <p:ph type="title"/>
          </p:nvPr>
        </p:nvSpPr>
        <p:spPr>
          <a:xfrm>
            <a:off x="235712" y="622576"/>
            <a:ext cx="12001592" cy="1088358"/>
          </a:xfrm>
        </p:spPr>
        <p:txBody>
          <a:bodyPr>
            <a:normAutofit/>
          </a:bodyPr>
          <a:lstStyle/>
          <a:p>
            <a:r>
              <a:rPr lang="en-US" sz="3600" b="1">
                <a:solidFill>
                  <a:srgbClr val="FFFFFF"/>
                </a:solidFill>
                <a:latin typeface="Arial"/>
                <a:cs typeface="Arial"/>
              </a:rPr>
              <a:t>The Engine: Logistic regression </a:t>
            </a:r>
          </a:p>
        </p:txBody>
      </p:sp>
      <p:sp>
        <p:nvSpPr>
          <p:cNvPr id="7" name="Rectangle: Rounded Corners 6">
            <a:extLst>
              <a:ext uri="{FF2B5EF4-FFF2-40B4-BE49-F238E27FC236}">
                <a16:creationId xmlns:a16="http://schemas.microsoft.com/office/drawing/2014/main" id="{2E2F1CE3-924A-8E49-9D50-D73F4F1D8B9E}"/>
              </a:ext>
            </a:extLst>
          </p:cNvPr>
          <p:cNvSpPr/>
          <p:nvPr/>
        </p:nvSpPr>
        <p:spPr>
          <a:xfrm>
            <a:off x="247601" y="2301952"/>
            <a:ext cx="3730828" cy="2343596"/>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A47AC8F-EF97-EAEC-5444-E4125E9A4924}"/>
              </a:ext>
            </a:extLst>
          </p:cNvPr>
          <p:cNvSpPr/>
          <p:nvPr/>
        </p:nvSpPr>
        <p:spPr>
          <a:xfrm>
            <a:off x="4333846" y="2298007"/>
            <a:ext cx="3579359" cy="2329484"/>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E031C03-AA39-1A71-1453-EDCD21234B47}"/>
              </a:ext>
            </a:extLst>
          </p:cNvPr>
          <p:cNvSpPr/>
          <p:nvPr/>
        </p:nvSpPr>
        <p:spPr>
          <a:xfrm>
            <a:off x="8395622" y="2298007"/>
            <a:ext cx="3458044" cy="2335434"/>
          </a:xfrm>
          <a:prstGeom prst="round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C00850-A1CE-B7E6-C85E-84233DD53889}"/>
              </a:ext>
            </a:extLst>
          </p:cNvPr>
          <p:cNvSpPr txBox="1"/>
          <p:nvPr/>
        </p:nvSpPr>
        <p:spPr>
          <a:xfrm>
            <a:off x="631961" y="2667506"/>
            <a:ext cx="299357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FFFFFF"/>
                </a:solidFill>
                <a:latin typeface="Calibri"/>
                <a:ea typeface="Calibri"/>
                <a:cs typeface="Calibri"/>
              </a:rPr>
              <a:t>🎯 </a:t>
            </a:r>
            <a:r>
              <a:rPr lang="en-US" sz="1600" b="1">
                <a:solidFill>
                  <a:srgbClr val="FFFFFF"/>
                </a:solidFill>
                <a:latin typeface="Calibri"/>
                <a:ea typeface="Calibri"/>
                <a:cs typeface="Calibri"/>
              </a:rPr>
              <a:t>The smart choice </a:t>
            </a:r>
            <a:endParaRPr lang="en-US">
              <a:solidFill>
                <a:srgbClr val="000000"/>
              </a:solidFill>
              <a:latin typeface="Neue Haas Grotesk Text Pro"/>
              <a:ea typeface="Calibri"/>
              <a:cs typeface="Calibri"/>
            </a:endParaRPr>
          </a:p>
          <a:p>
            <a:r>
              <a:rPr lang="en-US" sz="1600">
                <a:solidFill>
                  <a:srgbClr val="FFFFFF"/>
                </a:solidFill>
                <a:latin typeface="Calibri"/>
                <a:ea typeface="Calibri"/>
                <a:cs typeface="Calibri"/>
              </a:rPr>
              <a:t>Outputs clean probabilities to spot real betting value instead of wild guesses. </a:t>
            </a:r>
            <a:endParaRPr lang="en-US"/>
          </a:p>
        </p:txBody>
      </p:sp>
      <p:sp>
        <p:nvSpPr>
          <p:cNvPr id="13" name="TextBox 12">
            <a:extLst>
              <a:ext uri="{FF2B5EF4-FFF2-40B4-BE49-F238E27FC236}">
                <a16:creationId xmlns:a16="http://schemas.microsoft.com/office/drawing/2014/main" id="{F1641905-5B08-6F2D-9BCA-3EE49918FE60}"/>
              </a:ext>
            </a:extLst>
          </p:cNvPr>
          <p:cNvSpPr txBox="1"/>
          <p:nvPr/>
        </p:nvSpPr>
        <p:spPr>
          <a:xfrm>
            <a:off x="4659539" y="2673032"/>
            <a:ext cx="299357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FFFFFF"/>
                </a:solidFill>
                <a:latin typeface="Calibri"/>
                <a:ea typeface="Calibri"/>
                <a:cs typeface="Calibri"/>
              </a:rPr>
              <a:t>📊 </a:t>
            </a:r>
            <a:r>
              <a:rPr lang="en-US" sz="1600" b="1">
                <a:solidFill>
                  <a:srgbClr val="FFFFFF"/>
                </a:solidFill>
                <a:latin typeface="Calibri"/>
                <a:ea typeface="Calibri"/>
                <a:cs typeface="Calibri"/>
              </a:rPr>
              <a:t>Perfect for our data</a:t>
            </a:r>
            <a:endParaRPr lang="en-US"/>
          </a:p>
          <a:p>
            <a:r>
              <a:rPr lang="en-US" sz="1600">
                <a:solidFill>
                  <a:srgbClr val="FFFFFF"/>
                </a:solidFill>
                <a:latin typeface="Calibri"/>
                <a:ea typeface="Calibri"/>
                <a:cs typeface="Calibri"/>
              </a:rPr>
              <a:t>Thrives on Team A vs  Team B "Gap Stats" without over- fitting to random luck.</a:t>
            </a:r>
          </a:p>
        </p:txBody>
      </p:sp>
      <p:sp>
        <p:nvSpPr>
          <p:cNvPr id="14" name="TextBox 13">
            <a:extLst>
              <a:ext uri="{FF2B5EF4-FFF2-40B4-BE49-F238E27FC236}">
                <a16:creationId xmlns:a16="http://schemas.microsoft.com/office/drawing/2014/main" id="{5D51A611-1CBF-A597-6B74-F81F5DE01F84}"/>
              </a:ext>
            </a:extLst>
          </p:cNvPr>
          <p:cNvSpPr txBox="1"/>
          <p:nvPr/>
        </p:nvSpPr>
        <p:spPr>
          <a:xfrm>
            <a:off x="8430998" y="2685860"/>
            <a:ext cx="321370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FFFFFF"/>
                </a:solidFill>
              </a:rPr>
              <a:t>⚠</a:t>
            </a:r>
            <a:r>
              <a:rPr lang="en-US" sz="1600">
                <a:solidFill>
                  <a:srgbClr val="FFFFFF"/>
                </a:solidFill>
                <a:latin typeface="Calibri"/>
                <a:ea typeface="Calibri"/>
                <a:cs typeface="Calibri"/>
              </a:rPr>
              <a:t>️ Limitation</a:t>
            </a:r>
          </a:p>
          <a:p>
            <a:r>
              <a:rPr lang="en-US" sz="1600">
                <a:solidFill>
                  <a:srgbClr val="FFFFFF"/>
                </a:solidFill>
                <a:latin typeface="Calibri"/>
                <a:ea typeface="Calibri"/>
                <a:cs typeface="Calibri"/>
              </a:rPr>
              <a:t>Sees straight lines, not complex non-linear drama (which we solve with smart feature pre-selections). </a:t>
            </a:r>
          </a:p>
        </p:txBody>
      </p:sp>
    </p:spTree>
    <p:extLst>
      <p:ext uri="{BB962C8B-B14F-4D97-AF65-F5344CB8AC3E}">
        <p14:creationId xmlns:p14="http://schemas.microsoft.com/office/powerpoint/2010/main" val="9422167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836C3-1B05-0CD3-5119-88A57AD7120D}"/>
              </a:ext>
            </a:extLst>
          </p:cNvPr>
          <p:cNvSpPr>
            <a:spLocks noGrp="1"/>
          </p:cNvSpPr>
          <p:nvPr>
            <p:ph type="title"/>
          </p:nvPr>
        </p:nvSpPr>
        <p:spPr/>
        <p:txBody>
          <a:bodyPr/>
          <a:lstStyle/>
          <a:p>
            <a:r>
              <a:rPr lang="en-US" dirty="0">
                <a:solidFill>
                  <a:srgbClr val="FFFFFF"/>
                </a:solidFill>
              </a:rPr>
              <a:t>Azure DevOps setup in Farb</a:t>
            </a:r>
            <a:endParaRPr lang="en-US" dirty="0"/>
          </a:p>
        </p:txBody>
      </p:sp>
      <p:pic>
        <p:nvPicPr>
          <p:cNvPr id="4" name="Content Placeholder 3" descr="A screenshot of a computer&#10;&#10;AI-generated content may be incorrect.">
            <a:extLst>
              <a:ext uri="{FF2B5EF4-FFF2-40B4-BE49-F238E27FC236}">
                <a16:creationId xmlns:a16="http://schemas.microsoft.com/office/drawing/2014/main" id="{0D5A7D1E-5C2C-BAD1-DA9D-FAF82520C612}"/>
              </a:ext>
            </a:extLst>
          </p:cNvPr>
          <p:cNvPicPr>
            <a:picLocks noGrp="1" noChangeAspect="1"/>
          </p:cNvPicPr>
          <p:nvPr>
            <p:ph idx="1"/>
          </p:nvPr>
        </p:nvPicPr>
        <p:blipFill>
          <a:blip r:embed="rId2"/>
          <a:stretch>
            <a:fillRect/>
          </a:stretch>
        </p:blipFill>
        <p:spPr>
          <a:xfrm>
            <a:off x="6859905" y="2394002"/>
            <a:ext cx="4158708" cy="405765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E4307FF-A0CE-1387-7792-259469072B0E}"/>
              </a:ext>
            </a:extLst>
          </p:cNvPr>
          <p:cNvPicPr>
            <a:picLocks noChangeAspect="1"/>
          </p:cNvPicPr>
          <p:nvPr/>
        </p:nvPicPr>
        <p:blipFill>
          <a:blip r:embed="rId3"/>
          <a:stretch>
            <a:fillRect/>
          </a:stretch>
        </p:blipFill>
        <p:spPr>
          <a:xfrm>
            <a:off x="838200" y="2314575"/>
            <a:ext cx="4095750" cy="4133850"/>
          </a:xfrm>
          <a:prstGeom prst="rect">
            <a:avLst/>
          </a:prstGeom>
        </p:spPr>
      </p:pic>
      <p:sp>
        <p:nvSpPr>
          <p:cNvPr id="7" name="TextBox 6">
            <a:extLst>
              <a:ext uri="{FF2B5EF4-FFF2-40B4-BE49-F238E27FC236}">
                <a16:creationId xmlns:a16="http://schemas.microsoft.com/office/drawing/2014/main" id="{D02AD54E-E5C6-5793-1A35-D6B997D33492}"/>
              </a:ext>
            </a:extLst>
          </p:cNvPr>
          <p:cNvSpPr txBox="1"/>
          <p:nvPr/>
        </p:nvSpPr>
        <p:spPr>
          <a:xfrm>
            <a:off x="704850" y="1809750"/>
            <a:ext cx="4352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rPr>
              <a:t>Create different workspace as folders</a:t>
            </a:r>
          </a:p>
        </p:txBody>
      </p:sp>
      <p:sp>
        <p:nvSpPr>
          <p:cNvPr id="8" name="TextBox 7">
            <a:extLst>
              <a:ext uri="{FF2B5EF4-FFF2-40B4-BE49-F238E27FC236}">
                <a16:creationId xmlns:a16="http://schemas.microsoft.com/office/drawing/2014/main" id="{F61C3B92-4925-38F6-78DD-EBA94454A640}"/>
              </a:ext>
            </a:extLst>
          </p:cNvPr>
          <p:cNvSpPr txBox="1"/>
          <p:nvPr/>
        </p:nvSpPr>
        <p:spPr>
          <a:xfrm>
            <a:off x="6762750" y="1809749"/>
            <a:ext cx="4352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rPr>
              <a:t>Same account integration to DevOps</a:t>
            </a:r>
            <a:endParaRPr lang="en-US" dirty="0"/>
          </a:p>
        </p:txBody>
      </p:sp>
    </p:spTree>
    <p:extLst>
      <p:ext uri="{BB962C8B-B14F-4D97-AF65-F5344CB8AC3E}">
        <p14:creationId xmlns:p14="http://schemas.microsoft.com/office/powerpoint/2010/main" val="3983306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3F2B7-B71E-0EEB-9AF2-122905AFDC01}"/>
              </a:ext>
            </a:extLst>
          </p:cNvPr>
          <p:cNvSpPr>
            <a:spLocks noGrp="1"/>
          </p:cNvSpPr>
          <p:nvPr>
            <p:ph type="title"/>
          </p:nvPr>
        </p:nvSpPr>
        <p:spPr/>
        <p:txBody>
          <a:bodyPr/>
          <a:lstStyle/>
          <a:p>
            <a:r>
              <a:rPr lang="en-US" dirty="0">
                <a:solidFill>
                  <a:srgbClr val="FFFFFF"/>
                </a:solidFill>
              </a:rPr>
              <a:t>Azure DevOps project</a:t>
            </a:r>
          </a:p>
        </p:txBody>
      </p:sp>
      <p:sp>
        <p:nvSpPr>
          <p:cNvPr id="6" name="Content Placeholder 5">
            <a:extLst>
              <a:ext uri="{FF2B5EF4-FFF2-40B4-BE49-F238E27FC236}">
                <a16:creationId xmlns:a16="http://schemas.microsoft.com/office/drawing/2014/main" id="{477FC599-3696-506B-AA8E-8BB3BFA1BB5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91174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E6E1-D852-755D-B2A0-D8F2692FA661}"/>
              </a:ext>
            </a:extLst>
          </p:cNvPr>
          <p:cNvSpPr>
            <a:spLocks noGrp="1"/>
          </p:cNvSpPr>
          <p:nvPr>
            <p:ph type="title"/>
          </p:nvPr>
        </p:nvSpPr>
        <p:spPr/>
        <p:txBody>
          <a:bodyPr/>
          <a:lstStyle/>
          <a:p>
            <a:endParaRPr lang="en-US"/>
          </a:p>
        </p:txBody>
      </p:sp>
      <p:pic>
        <p:nvPicPr>
          <p:cNvPr id="4" name="Content Placeholder 3" descr="A screenshot of a computer&#10;&#10;AI-generated content may be incorrect.">
            <a:extLst>
              <a:ext uri="{FF2B5EF4-FFF2-40B4-BE49-F238E27FC236}">
                <a16:creationId xmlns:a16="http://schemas.microsoft.com/office/drawing/2014/main" id="{1F750BA9-5F3A-9F6A-A620-DB5B8B1D872C}"/>
              </a:ext>
            </a:extLst>
          </p:cNvPr>
          <p:cNvPicPr>
            <a:picLocks noGrp="1" noChangeAspect="1"/>
          </p:cNvPicPr>
          <p:nvPr>
            <p:ph idx="1"/>
          </p:nvPr>
        </p:nvPicPr>
        <p:blipFill>
          <a:blip r:embed="rId2"/>
          <a:stretch>
            <a:fillRect/>
          </a:stretch>
        </p:blipFill>
        <p:spPr>
          <a:xfrm>
            <a:off x="541535" y="1823138"/>
            <a:ext cx="3745562" cy="440944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B7CAE92-4D52-FF87-B3DC-83DFF73BE04F}"/>
              </a:ext>
            </a:extLst>
          </p:cNvPr>
          <p:cNvPicPr>
            <a:picLocks noChangeAspect="1"/>
          </p:cNvPicPr>
          <p:nvPr/>
        </p:nvPicPr>
        <p:blipFill>
          <a:blip r:embed="rId3"/>
          <a:stretch>
            <a:fillRect/>
          </a:stretch>
        </p:blipFill>
        <p:spPr>
          <a:xfrm>
            <a:off x="4420870" y="3271520"/>
            <a:ext cx="7353300" cy="2895600"/>
          </a:xfrm>
          <a:prstGeom prst="rect">
            <a:avLst/>
          </a:prstGeom>
        </p:spPr>
      </p:pic>
    </p:spTree>
    <p:extLst>
      <p:ext uri="{BB962C8B-B14F-4D97-AF65-F5344CB8AC3E}">
        <p14:creationId xmlns:p14="http://schemas.microsoft.com/office/powerpoint/2010/main" val="2820812262"/>
      </p:ext>
    </p:extLst>
  </p:cSld>
  <p:clrMapOvr>
    <a:masterClrMapping/>
  </p:clrMapOvr>
</p:sld>
</file>

<file path=ppt/theme/theme1.xml><?xml version="1.0" encoding="utf-8"?>
<a:theme xmlns:a="http://schemas.openxmlformats.org/drawingml/2006/main" name="Axis">
  <a:themeElements>
    <a:clrScheme name="Axis">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Axis">
      <a:majorFont>
        <a:latin typeface="Neue Haas Grotesk Text Pro"/>
        <a:ea typeface=""/>
        <a:cs typeface=""/>
      </a:majorFont>
      <a:minorFont>
        <a:latin typeface="Neue Haas Grotesk Text Pro"/>
        <a:ea typeface=""/>
        <a:cs typeface=""/>
      </a:minorFont>
    </a:fontScheme>
    <a:fmtScheme name="Ax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626E1DE4-363E-4A1A-A3CD-C79E498A714F}" vid="{3530EF86-100D-4C27-9316-4189EFA98A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6ce7474-6d75-46bf-98d5-2e34da89705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9F9A1475B6F354B94ED08E0F2851806" ma:contentTypeVersion="8" ma:contentTypeDescription="Create a new document." ma:contentTypeScope="" ma:versionID="bdb45ab27071ab56b08377d6feb39ec5">
  <xsd:schema xmlns:xsd="http://www.w3.org/2001/XMLSchema" xmlns:xs="http://www.w3.org/2001/XMLSchema" xmlns:p="http://schemas.microsoft.com/office/2006/metadata/properties" xmlns:ns2="b6ce7474-6d75-46bf-98d5-2e34da897051" targetNamespace="http://schemas.microsoft.com/office/2006/metadata/properties" ma:root="true" ma:fieldsID="e18dd33ca8fa991c4c4fd985e06c275a" ns2:_="">
    <xsd:import namespace="b6ce7474-6d75-46bf-98d5-2e34da89705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ce7474-6d75-46bf-98d5-2e34da8970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12e6a1c-c778-403a-bcf3-20fd516974b2"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E49296-39A2-4207-89F3-47380E38AAD5}">
  <ds:schemaRefs>
    <ds:schemaRef ds:uri="b6ce7474-6d75-46bf-98d5-2e34da897051"/>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68C26AF-0D4E-42A0-9E91-B2696281F133}">
  <ds:schemaRefs>
    <ds:schemaRef ds:uri="b6ce7474-6d75-46bf-98d5-2e34da89705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AEF29A8-942E-4E84-9BC1-0E9D6D5589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39</Slides>
  <Notes>21</Notes>
  <HiddenSlides>3</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Axis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Azure Fabric Medallion Architecture</vt:lpstr>
      <vt:lpstr>Exploratory Data Analysis</vt:lpstr>
      <vt:lpstr>Entity-Relationship Diagram (ERD)</vt:lpstr>
      <vt:lpstr>The Actual Pipeline</vt:lpstr>
      <vt:lpstr>The Actual Pipeline [Successful Run]</vt:lpstr>
      <vt:lpstr>Ensure Idempotency: Tracking File Content Changes</vt:lpstr>
      <vt:lpstr>Ensure Idempotency: Bronze [Append Only Merges]</vt:lpstr>
      <vt:lpstr>Ensure Idempotency: Silver [SCD Type 1 Upserts]</vt:lpstr>
      <vt:lpstr>PowerPoint Presentation</vt:lpstr>
      <vt:lpstr>Optimization and Improvements</vt:lpstr>
      <vt:lpstr>Sports Betting – The Probability Approach</vt:lpstr>
      <vt:lpstr>Sports Betting – The Probability Approach</vt:lpstr>
      <vt:lpstr>Prediction Engine: Logistic Regression</vt:lpstr>
      <vt:lpstr>The Bouncer At The Door: How We Filter Out Market Noise</vt:lpstr>
      <vt:lpstr>The Indoor Bouncer: Betting Performance &amp; Hit Rate</vt:lpstr>
      <vt:lpstr>From Model to Money: Portfolio Returns &amp; ROI</vt:lpstr>
      <vt:lpstr>The NHL Predictive Yield Opportunity</vt:lpstr>
      <vt:lpstr>PowerPoint Presentation</vt:lpstr>
      <vt:lpstr>PowerPoint Presentation</vt:lpstr>
      <vt:lpstr>Predicted Winners </vt:lpstr>
      <vt:lpstr>PowerPoint Presentation</vt:lpstr>
      <vt:lpstr>How Good Is the Model? </vt:lpstr>
      <vt:lpstr>The Reveal </vt:lpstr>
      <vt:lpstr>Last Call: Two Formulas, Perked Up</vt:lpstr>
      <vt:lpstr>The End</vt:lpstr>
      <vt:lpstr>PowerPoint Presentation</vt:lpstr>
      <vt:lpstr>PowerPoint Presentation</vt:lpstr>
      <vt:lpstr>Unit testing</vt:lpstr>
      <vt:lpstr>The Engine: Logistic regression </vt:lpstr>
      <vt:lpstr>Azure DevOps setup in Farb</vt:lpstr>
      <vt:lpstr>Azure DevOps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286</cp:revision>
  <dcterms:created xsi:type="dcterms:W3CDTF">2026-09-24T00:48:16Z</dcterms:created>
  <dcterms:modified xsi:type="dcterms:W3CDTF">2026-10-06T02:49:29Z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0x01010049F9A1475B6F354B94ED08E0F2851806</vt:lpwstr>
  </property>
  <property fmtid="{D5CDD505-2E9C-101B-9397-08002B2CF9AE}" pid="3" name="MediaServiceImageTags">
    <vt:lpwstr/>
  </property>
</Properties>
</file>